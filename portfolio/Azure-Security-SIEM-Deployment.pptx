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This report walks through a hands-on Microsoft Sentinel deployment in Azure: building the SIEM foundation, provisioning Windows and Linux virtual machines, onboarding telemetry through the Azure Monitor Agent with Data Collection Rules, and validating ingestion with KQL.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for the build: two virtual machines, three data connectors, two data collection rules and one Log Analytics workspace, all co-located in East US. Every connector reported a Connected status and both the SecurityEvent and Syslog tables returned data on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framed the exercise: build the SIEM foundation, provision hybrid compute, onboard telemetry through the Azure Monitor Agent, and prove ingestion with KQL. Scope was deliberately limited to a single subscription and region so latency and cost stayed 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Microsoft-native. Sentinel sits on the Log Analytics workspace, the Azure Monitor Agent is the single collection agent for both operating systems, Data Collection Rules decide what that agent sends, and KQL is the query layer over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view. Azure subscription 1 is the outer boundary, drawn dashed. Inside it, the rgSIEM resource group holds everything: the two virtual machines on the left, the Data Collection Rules that scope what the Azure Monitor Agent sends in the middle, and on the right the Log Analytics workspace with Microsoft Sentinel enabled on top of it. Networking and access resources support the estate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each dependent on the one before it. Sentinel cannot be enabled before the workspace exists, connectors cannot report data before the agent and Data Collection Rules are in place, and verification is only meaningful once ingestion has had time to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resource group blade confirms every component landed in East US: the workspace, the Sentinel solution, both data collection rules, both virtual machines and their supporting network, disk and access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machines sit in Azure subscription 1, resource group rgSIEM, region East US, and both were running at the point of capture. The Windows machine supplies security event log data and the Ubuntu machine supplies syslog, giving coverage of a realistically mixed 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connectors were installed from the Content Hub. Azure Activity gives the control-plane audit trail, Windows Security Events via AMA covers the Windows host, and Syslog via AMA covers the Linux host. All three must show a Connected status before any detection work is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connector streams all security events from Windows machines connected to the Sentinel workspace. That feed is what makes dashboards, custom alerts and investigations possible, and it is the single biggest source of visibility into activity on the Windows estate. Always confirm the status reads Connected and that a recent log timestamp is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Syslog solution was installed from the Content Hub, which also brings in ready-made detections such as failed logon attempts in authpriv and crypto-currency miner execution. The connector page shows the Connected status and a data-received chart confirming the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SecurityEvent with a take of ten is the quickest sanity check that the Windows pipeline is alive. The returned rows name the source computer, the event provider and the account involved, which is enough to prove that the connector, the agent and the data collection rule are all working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Linux side is verified the same way. Ten syslog records come back from UbuntuVM at host IP 172.16.0.4, with facility syslog and severity info, including rsyslog start-up messages. That confirms the daemon is forwarding and the agent is delivering to the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flagging to any team following this build: the same KQL runs unchanged in both places, so the query skill transfers directly. What changes is navigation, tab handling and the surrounding incident experience, so it is sensible to work in the Defender portal by default from now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check in the build passed. This table is the evidence summary a reviewer would ask for: what was tested, what proved it, and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that generalise beyond this lab. The region point protects latency and cost, the agent point keeps the deployment supportable, the rule-scoping point is the main lever on ingestion spend, and the connector-health point is an operational habit worth building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is the foundation, not the finish line. The natural next moves are turning on and tuning detections, mapping them to ATT&amp;CK for honest coverage reporting, giving analysts visual context through workbooks, and automating the repetitive parts of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Everything up to here proved the pipeline collects logs. This second part proves it detects a real intrusion: a new target VM is stood up deliberately weak, attacked with Hydra over SSH, compromised, and the resulting authentication failures are then hunted down in Sentinel.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intentionally soft: password authentication is left on and an NSG rule opens port 22 to the source. That is what makes the brute force viable and gives Sentinel something to catch. In a real environment these are exactly the misconfigurations you would be hunting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attacking, the analyst confirms the path in: the destination VM, its public IP, port 22 open from the source, and the NSG rule that allows it. Connecting through SSH via Azure CLI opens a browser Cloud Shell that authenticates with managed identity, so no key file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wordlists in place, Hydra is installed and pointed at the target's public IP. Sixteen combinations are tried across four parallel tasks and one succeeds — the christian account with Password@2026. At this point the target is compromised. Every one of those attempts also generated an authentication event, which is what we go looking for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depends entirely on collection. The target is added to the existing Ubuntu DCR under the Resources tab, which pushes the Azure Monitor Agent onto it and starts forwarding syslog. Miss this step and the brute force leaves no trace in Sentinel.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detection query filters Syslog down to the target machine and projects the fields that matter for an intrusion. Both portals return the same story: a flood of failed-password and invalid-user events against TargetUbuntuVM from external IPs — the signature of the brute force, now fully visible in Sentinel.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captured logs tell the whole story: repeated failures against common accounts, coming from external IPs, each tied to sshd on the target. The obvious follow-up is to turn this hunting query into a scheduled analytics rule so the same pattern trips an incident automatically in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things that matter: a clean foundation, deliberate collection design, and verification by query rather than assumption. Invite questions on any part of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5.png"/><Relationship Id="rId7" Type="http://schemas.openxmlformats.org/officeDocument/2006/relationships/image" Target="../media/image-2-5.png"/><Relationship Id="rId8" Type="http://schemas.openxmlformats.org/officeDocument/2006/relationships/image" Target="../media/image-2-5.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5.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2.png"/><Relationship Id="rId4" Type="http://schemas.openxmlformats.org/officeDocument/2006/relationships/image" Target="../media/image-12-2.png"/><Relationship Id="rId5" Type="http://schemas.openxmlformats.org/officeDocument/2006/relationships/image" Target="../media/image-12-2.png"/><Relationship Id="rId6" Type="http://schemas.openxmlformats.org/officeDocument/2006/relationships/image" Target="../media/image-12-2.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image" Target="../media/image-15-1.png"/><Relationship Id="rId4" Type="http://schemas.openxmlformats.org/officeDocument/2006/relationships/image" Target="../media/image-15-1.png"/><Relationship Id="rId5" Type="http://schemas.openxmlformats.org/officeDocument/2006/relationships/image" Target="../media/image-15-1.png"/><Relationship Id="rId6" Type="http://schemas.openxmlformats.org/officeDocument/2006/relationships/image" Target="../media/image-15-1.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2.png"/><Relationship Id="rId4" Type="http://schemas.openxmlformats.org/officeDocument/2006/relationships/image" Target="../media/image-22-2.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90B"/>
        </a:solidFill>
      </p:bgPr>
    </p:bg>
    <p:spTree>
      <p:nvGrpSpPr>
        <p:cNvPr id="1" name=""/>
        <p:cNvGrpSpPr/>
        <p:nvPr/>
      </p:nvGrpSpPr>
      <p:grpSpPr>
        <a:xfrm>
          <a:off x="0" y="0"/>
          <a:ext cx="0" cy="0"/>
          <a:chOff x="0" y="0"/>
          <a:chExt cx="0" cy="0"/>
        </a:xfrm>
      </p:grpSpPr>
      <p:sp>
        <p:nvSpPr>
          <p:cNvPr id="2" name="Shape 0"/>
          <p:cNvSpPr/>
          <p:nvPr/>
        </p:nvSpPr>
        <p:spPr>
          <a:xfrm>
            <a:off x="8732520" y="1417320"/>
            <a:ext cx="4480560" cy="4480560"/>
          </a:xfrm>
          <a:prstGeom prst="ellipse">
            <a:avLst/>
          </a:prstGeom>
          <a:solidFill>
            <a:srgbClr val="16181E">
              <a:alpha val="80000"/>
            </a:srgbClr>
          </a:solidFill>
          <a:ln w="9525">
            <a:solidFill>
              <a:srgbClr val="FFB454">
                <a:alpha val="40000"/>
              </a:srgbClr>
            </a:solidFill>
            <a:prstDash val="solid"/>
          </a:ln>
        </p:spPr>
      </p:sp>
      <p:sp>
        <p:nvSpPr>
          <p:cNvPr id="3" name="Shape 1"/>
          <p:cNvSpPr/>
          <p:nvPr/>
        </p:nvSpPr>
        <p:spPr>
          <a:xfrm>
            <a:off x="9258300" y="1943100"/>
            <a:ext cx="3429000" cy="3429000"/>
          </a:xfrm>
          <a:prstGeom prst="ellipse">
            <a:avLst/>
          </a:prstGeom>
          <a:solidFill>
            <a:srgbClr val="16181E">
              <a:alpha val="80000"/>
            </a:srgbClr>
          </a:solidFill>
          <a:ln w="9525">
            <a:solidFill>
              <a:srgbClr val="FFB454">
                <a:alpha val="40000"/>
              </a:srgbClr>
            </a:solidFill>
            <a:prstDash val="solid"/>
          </a:ln>
        </p:spPr>
      </p:sp>
      <p:sp>
        <p:nvSpPr>
          <p:cNvPr id="4" name="Shape 2"/>
          <p:cNvSpPr/>
          <p:nvPr/>
        </p:nvSpPr>
        <p:spPr>
          <a:xfrm>
            <a:off x="9784080" y="2468880"/>
            <a:ext cx="2377440" cy="2377440"/>
          </a:xfrm>
          <a:prstGeom prst="ellipse">
            <a:avLst/>
          </a:prstGeom>
          <a:solidFill>
            <a:srgbClr val="F97316"/>
          </a:solidFill>
          <a:ln w="12700">
            <a:solidFill>
              <a:srgbClr val="FFB454">
                <a:alpha val="40000"/>
              </a:srgbClr>
            </a:solidFill>
            <a:prstDash val="solid"/>
          </a:ln>
        </p:spPr>
      </p:sp>
      <p:pic>
        <p:nvPicPr>
          <p:cNvPr id="5" name="Image 0" descr="icons/shield-n.png">    </p:cNvPr>
          <p:cNvPicPr>
            <a:picLocks noChangeAspect="1"/>
          </p:cNvPicPr>
          <p:nvPr/>
        </p:nvPicPr>
        <p:blipFill>
          <a:blip r:embed="rId1"/>
          <a:stretch>
            <a:fillRect/>
          </a:stretch>
        </p:blipFill>
        <p:spPr>
          <a:xfrm>
            <a:off x="10277856" y="2962656"/>
            <a:ext cx="1389888" cy="1389888"/>
          </a:xfrm>
          <a:prstGeom prst="rect">
            <a:avLst/>
          </a:prstGeom>
        </p:spPr>
      </p:pic>
      <p:sp>
        <p:nvSpPr>
          <p:cNvPr id="6" name="Text 3"/>
          <p:cNvSpPr txBox="1"/>
          <p:nvPr/>
        </p:nvSpPr>
        <p:spPr>
          <a:xfrm>
            <a:off x="658368" y="1572768"/>
            <a:ext cx="7680960" cy="274320"/>
          </a:xfrm>
          <a:prstGeom prst="rect">
            <a:avLst/>
          </a:prstGeom>
          <a:noFill/>
          <a:ln/>
        </p:spPr>
        <p:txBody>
          <a:bodyPr wrap="square" lIns="0" tIns="0" rIns="0" bIns="0" rtlCol="0" anchor="ctr"/>
          <a:lstStyle/>
          <a:p>
            <a:pPr indent="0" marL="0">
              <a:buNone/>
            </a:pPr>
            <a:r>
              <a:rPr lang="en-US" sz="1150" b="1" spc="260" kern="0" dirty="0">
                <a:solidFill>
                  <a:srgbClr val="FFA94D"/>
                </a:solidFill>
                <a:latin typeface="Calibri" pitchFamily="34" charset="0"/>
                <a:ea typeface="Calibri" pitchFamily="34" charset="-122"/>
                <a:cs typeface="Calibri" pitchFamily="34" charset="-120"/>
              </a:rPr>
              <a:t>SECURITY OPERATIONS  ·  DEPLOYMENT REPORT</a:t>
            </a:r>
            <a:endParaRPr lang="en-US" sz="1150" dirty="0"/>
          </a:p>
        </p:txBody>
      </p:sp>
      <p:sp>
        <p:nvSpPr>
          <p:cNvPr id="7" name="Text 4"/>
          <p:cNvSpPr txBox="1"/>
          <p:nvPr/>
        </p:nvSpPr>
        <p:spPr>
          <a:xfrm>
            <a:off x="621792" y="1965960"/>
            <a:ext cx="7863840" cy="1737360"/>
          </a:xfrm>
          <a:prstGeom prst="rect">
            <a:avLst/>
          </a:prstGeom>
          <a:noFill/>
          <a:ln/>
        </p:spPr>
        <p:txBody>
          <a:bodyPr wrap="square" lIns="0" tIns="0" rIns="0" bIns="0"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Azure Security &amp;</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SIEM Deployment</a:t>
            </a:r>
            <a:endParaRPr lang="en-US" sz="4400" dirty="0"/>
          </a:p>
        </p:txBody>
      </p:sp>
      <p:sp>
        <p:nvSpPr>
          <p:cNvPr id="8" name="Text 5"/>
          <p:cNvSpPr txBox="1"/>
          <p:nvPr/>
        </p:nvSpPr>
        <p:spPr>
          <a:xfrm>
            <a:off x="658368" y="3822192"/>
            <a:ext cx="7406640" cy="731520"/>
          </a:xfrm>
          <a:prstGeom prst="rect">
            <a:avLst/>
          </a:prstGeom>
          <a:noFill/>
          <a:ln/>
        </p:spPr>
        <p:txBody>
          <a:bodyPr wrap="square" lIns="0" tIns="0" rIns="0" bIns="0" rtlCol="0" anchor="ctr"/>
          <a:lstStyle/>
          <a:p>
            <a:pPr indent="0" marL="0">
              <a:lnSpc>
                <a:spcPts val="2200"/>
              </a:lnSpc>
              <a:buNone/>
            </a:pPr>
            <a:r>
              <a:rPr lang="en-US" sz="1500" dirty="0">
                <a:solidFill>
                  <a:srgbClr val="CFD3DB"/>
                </a:solidFill>
                <a:latin typeface="Calibri" pitchFamily="34" charset="0"/>
                <a:ea typeface="Calibri" pitchFamily="34" charset="-122"/>
                <a:cs typeface="Calibri" pitchFamily="34" charset="-120"/>
              </a:rPr>
              <a:t>Microsoft Sentinel, Azure Monitor Agent and KQL-driven log validation across a hybrid Windows and Linux estate</a:t>
            </a:r>
            <a:endParaRPr lang="en-US" sz="1500" dirty="0"/>
          </a:p>
        </p:txBody>
      </p:sp>
      <p:sp>
        <p:nvSpPr>
          <p:cNvPr id="9" name="Shape 6"/>
          <p:cNvSpPr/>
          <p:nvPr/>
        </p:nvSpPr>
        <p:spPr>
          <a:xfrm>
            <a:off x="658368" y="4864608"/>
            <a:ext cx="384048" cy="384048"/>
          </a:xfrm>
          <a:prstGeom prst="ellipse">
            <a:avLst/>
          </a:prstGeom>
          <a:solidFill>
            <a:srgbClr val="1C1E24"/>
          </a:solidFill>
          <a:ln w="9525">
            <a:solidFill>
              <a:srgbClr val="F97316"/>
            </a:solidFill>
            <a:prstDash val="solid"/>
          </a:ln>
        </p:spPr>
      </p:sp>
      <p:pic>
        <p:nvPicPr>
          <p:cNvPr id="10" name="Image 1" descr="icons/cloud-a.png">    </p:cNvPr>
          <p:cNvPicPr>
            <a:picLocks noChangeAspect="1"/>
          </p:cNvPicPr>
          <p:nvPr/>
        </p:nvPicPr>
        <p:blipFill>
          <a:blip r:embed="rId2"/>
          <a:stretch>
            <a:fillRect/>
          </a:stretch>
        </p:blipFill>
        <p:spPr>
          <a:xfrm>
            <a:off x="758952" y="4965192"/>
            <a:ext cx="182880" cy="182880"/>
          </a:xfrm>
          <a:prstGeom prst="rect">
            <a:avLst/>
          </a:prstGeom>
        </p:spPr>
      </p:pic>
      <p:sp>
        <p:nvSpPr>
          <p:cNvPr id="11" name="Text 7"/>
          <p:cNvSpPr txBox="1"/>
          <p:nvPr/>
        </p:nvSpPr>
        <p:spPr>
          <a:xfrm>
            <a:off x="1170432" y="4864608"/>
            <a:ext cx="2011680" cy="384048"/>
          </a:xfrm>
          <a:prstGeom prst="rect">
            <a:avLst/>
          </a:prstGeom>
          <a:noFill/>
          <a:ln/>
        </p:spPr>
        <p:txBody>
          <a:bodyPr wrap="square" lIns="0" tIns="0" rIns="0" bIns="0" rtlCol="0" anchor="ctr"/>
          <a:lstStyle/>
          <a:p>
            <a:pPr indent="0" marL="0">
              <a:buNone/>
            </a:pPr>
            <a:r>
              <a:rPr lang="en-US" sz="1200" dirty="0">
                <a:solidFill>
                  <a:srgbClr val="E6E8EE"/>
                </a:solidFill>
                <a:latin typeface="Calibri" pitchFamily="34" charset="0"/>
                <a:ea typeface="Calibri" pitchFamily="34" charset="-122"/>
                <a:cs typeface="Calibri" pitchFamily="34" charset="-120"/>
              </a:rPr>
              <a:t>Azure Portal</a:t>
            </a:r>
            <a:endParaRPr lang="en-US" sz="1200" dirty="0"/>
          </a:p>
        </p:txBody>
      </p:sp>
      <p:sp>
        <p:nvSpPr>
          <p:cNvPr id="12" name="Shape 8"/>
          <p:cNvSpPr/>
          <p:nvPr/>
        </p:nvSpPr>
        <p:spPr>
          <a:xfrm>
            <a:off x="3145536" y="4864608"/>
            <a:ext cx="384048" cy="384048"/>
          </a:xfrm>
          <a:prstGeom prst="ellipse">
            <a:avLst/>
          </a:prstGeom>
          <a:solidFill>
            <a:srgbClr val="1C1E24"/>
          </a:solidFill>
          <a:ln w="9525">
            <a:solidFill>
              <a:srgbClr val="F97316"/>
            </a:solidFill>
            <a:prstDash val="solid"/>
          </a:ln>
        </p:spPr>
      </p:sp>
      <p:pic>
        <p:nvPicPr>
          <p:cNvPr id="13" name="Image 2" descr="icons/shield-a.png">    </p:cNvPr>
          <p:cNvPicPr>
            <a:picLocks noChangeAspect="1"/>
          </p:cNvPicPr>
          <p:nvPr/>
        </p:nvPicPr>
        <p:blipFill>
          <a:blip r:embed="rId3"/>
          <a:stretch>
            <a:fillRect/>
          </a:stretch>
        </p:blipFill>
        <p:spPr>
          <a:xfrm>
            <a:off x="3246120" y="4965192"/>
            <a:ext cx="182880" cy="182880"/>
          </a:xfrm>
          <a:prstGeom prst="rect">
            <a:avLst/>
          </a:prstGeom>
        </p:spPr>
      </p:pic>
      <p:sp>
        <p:nvSpPr>
          <p:cNvPr id="14" name="Text 9"/>
          <p:cNvSpPr txBox="1"/>
          <p:nvPr/>
        </p:nvSpPr>
        <p:spPr>
          <a:xfrm>
            <a:off x="3657600" y="4864608"/>
            <a:ext cx="2011680" cy="384048"/>
          </a:xfrm>
          <a:prstGeom prst="rect">
            <a:avLst/>
          </a:prstGeom>
          <a:noFill/>
          <a:ln/>
        </p:spPr>
        <p:txBody>
          <a:bodyPr wrap="square" lIns="0" tIns="0" rIns="0" bIns="0" rtlCol="0" anchor="ctr"/>
          <a:lstStyle/>
          <a:p>
            <a:pPr indent="0" marL="0">
              <a:buNone/>
            </a:pPr>
            <a:r>
              <a:rPr lang="en-US" sz="1200" dirty="0">
                <a:solidFill>
                  <a:srgbClr val="E6E8EE"/>
                </a:solidFill>
                <a:latin typeface="Calibri" pitchFamily="34" charset="0"/>
                <a:ea typeface="Calibri" pitchFamily="34" charset="-122"/>
                <a:cs typeface="Calibri" pitchFamily="34" charset="-120"/>
              </a:rPr>
              <a:t>Microsoft Sentinel</a:t>
            </a:r>
            <a:endParaRPr lang="en-US" sz="1200" dirty="0"/>
          </a:p>
        </p:txBody>
      </p:sp>
      <p:sp>
        <p:nvSpPr>
          <p:cNvPr id="15" name="Shape 10"/>
          <p:cNvSpPr/>
          <p:nvPr/>
        </p:nvSpPr>
        <p:spPr>
          <a:xfrm>
            <a:off x="5632704" y="4864608"/>
            <a:ext cx="384048" cy="384048"/>
          </a:xfrm>
          <a:prstGeom prst="ellipse">
            <a:avLst/>
          </a:prstGeom>
          <a:solidFill>
            <a:srgbClr val="1C1E24"/>
          </a:solidFill>
          <a:ln w="9525">
            <a:solidFill>
              <a:srgbClr val="F97316"/>
            </a:solidFill>
            <a:prstDash val="solid"/>
          </a:ln>
        </p:spPr>
      </p:sp>
      <p:pic>
        <p:nvPicPr>
          <p:cNvPr id="16" name="Image 3" descr="icons/globe-a.png">    </p:cNvPr>
          <p:cNvPicPr>
            <a:picLocks noChangeAspect="1"/>
          </p:cNvPicPr>
          <p:nvPr/>
        </p:nvPicPr>
        <p:blipFill>
          <a:blip r:embed="rId4"/>
          <a:stretch>
            <a:fillRect/>
          </a:stretch>
        </p:blipFill>
        <p:spPr>
          <a:xfrm>
            <a:off x="5733288" y="4965192"/>
            <a:ext cx="182880" cy="182880"/>
          </a:xfrm>
          <a:prstGeom prst="rect">
            <a:avLst/>
          </a:prstGeom>
        </p:spPr>
      </p:pic>
      <p:sp>
        <p:nvSpPr>
          <p:cNvPr id="17" name="Text 11"/>
          <p:cNvSpPr txBox="1"/>
          <p:nvPr/>
        </p:nvSpPr>
        <p:spPr>
          <a:xfrm>
            <a:off x="6144768" y="4864608"/>
            <a:ext cx="2011680" cy="384048"/>
          </a:xfrm>
          <a:prstGeom prst="rect">
            <a:avLst/>
          </a:prstGeom>
          <a:noFill/>
          <a:ln/>
        </p:spPr>
        <p:txBody>
          <a:bodyPr wrap="square" lIns="0" tIns="0" rIns="0" bIns="0" rtlCol="0" anchor="ctr"/>
          <a:lstStyle/>
          <a:p>
            <a:pPr indent="0" marL="0">
              <a:buNone/>
            </a:pPr>
            <a:r>
              <a:rPr lang="en-US" sz="1200" dirty="0">
                <a:solidFill>
                  <a:srgbClr val="E6E8EE"/>
                </a:solidFill>
                <a:latin typeface="Calibri" pitchFamily="34" charset="0"/>
                <a:ea typeface="Calibri" pitchFamily="34" charset="-122"/>
                <a:cs typeface="Calibri" pitchFamily="34" charset="-120"/>
              </a:rPr>
              <a:t>East US</a:t>
            </a:r>
            <a:endParaRPr lang="en-US" sz="1200" dirty="0"/>
          </a:p>
        </p:txBody>
      </p:sp>
      <p:sp>
        <p:nvSpPr>
          <p:cNvPr id="18" name="Text 12"/>
          <p:cNvSpPr txBox="1"/>
          <p:nvPr/>
        </p:nvSpPr>
        <p:spPr>
          <a:xfrm>
            <a:off x="658368" y="5779008"/>
            <a:ext cx="7315200" cy="274320"/>
          </a:xfrm>
          <a:prstGeom prst="rect">
            <a:avLst/>
          </a:prstGeom>
          <a:noFill/>
          <a:ln/>
        </p:spPr>
        <p:txBody>
          <a:bodyPr wrap="square" lIns="0" tIns="0" rIns="0" bIns="0" rtlCol="0" anchor="ctr"/>
          <a:lstStyle/>
          <a:p>
            <a:pPr indent="0" marL="0">
              <a:buNone/>
            </a:pPr>
            <a:r>
              <a:rPr lang="en-US" sz="1150" spc="60" kern="0" dirty="0">
                <a:solidFill>
                  <a:srgbClr val="7E828D"/>
                </a:solidFill>
                <a:latin typeface="Calibri" pitchFamily="34" charset="0"/>
                <a:ea typeface="Calibri" pitchFamily="34" charset="-122"/>
                <a:cs typeface="Calibri" pitchFamily="34" charset="-120"/>
              </a:rPr>
              <a:t>Prepared by a SOC Analyst   |   September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EXECUTIVE SUMMARY</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The deployment at a glance</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517904"/>
            <a:ext cx="2670048" cy="1883664"/>
          </a:xfrm>
          <a:prstGeom prst="roundRect">
            <a:avLst>
              <a:gd name="adj" fmla="val 485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7" name="Shape 5"/>
          <p:cNvSpPr/>
          <p:nvPr/>
        </p:nvSpPr>
        <p:spPr>
          <a:xfrm>
            <a:off x="2523744" y="1755648"/>
            <a:ext cx="457200" cy="457200"/>
          </a:xfrm>
          <a:prstGeom prst="ellipse">
            <a:avLst/>
          </a:prstGeom>
          <a:solidFill>
            <a:srgbClr val="F97316"/>
          </a:solidFill>
          <a:ln w="12700">
            <a:solidFill>
              <a:srgbClr val="F97316"/>
            </a:solidFill>
            <a:prstDash val="solid"/>
          </a:ln>
        </p:spPr>
      </p:sp>
      <p:pic>
        <p:nvPicPr>
          <p:cNvPr id="8" name="Image 0" descr="icons/server-w.png">    </p:cNvPr>
          <p:cNvPicPr>
            <a:picLocks noChangeAspect="1"/>
          </p:cNvPicPr>
          <p:nvPr/>
        </p:nvPicPr>
        <p:blipFill>
          <a:blip r:embed="rId1"/>
          <a:stretch>
            <a:fillRect/>
          </a:stretch>
        </p:blipFill>
        <p:spPr>
          <a:xfrm>
            <a:off x="2635758" y="1867662"/>
            <a:ext cx="233172" cy="233172"/>
          </a:xfrm>
          <a:prstGeom prst="rect">
            <a:avLst/>
          </a:prstGeom>
        </p:spPr>
      </p:pic>
      <p:sp>
        <p:nvSpPr>
          <p:cNvPr id="9" name="Text 6"/>
          <p:cNvSpPr txBox="1"/>
          <p:nvPr/>
        </p:nvSpPr>
        <p:spPr>
          <a:xfrm>
            <a:off x="804672" y="1682496"/>
            <a:ext cx="1463040" cy="822960"/>
          </a:xfrm>
          <a:prstGeom prst="rect">
            <a:avLst/>
          </a:prstGeom>
          <a:noFill/>
          <a:ln/>
        </p:spPr>
        <p:txBody>
          <a:bodyPr wrap="square" lIns="0" tIns="0" rIns="0" bIns="0" rtlCol="0" anchor="ctr"/>
          <a:lstStyle/>
          <a:p>
            <a:pPr indent="0" marL="0">
              <a:buNone/>
            </a:pPr>
            <a:r>
              <a:rPr lang="en-US" sz="4600" b="1" dirty="0">
                <a:solidFill>
                  <a:srgbClr val="F97316"/>
                </a:solidFill>
                <a:latin typeface="Cambria" pitchFamily="34" charset="0"/>
                <a:ea typeface="Cambria" pitchFamily="34" charset="-122"/>
                <a:cs typeface="Cambria" pitchFamily="34" charset="-120"/>
              </a:rPr>
              <a:t>2</a:t>
            </a:r>
            <a:endParaRPr lang="en-US" sz="4600" dirty="0"/>
          </a:p>
        </p:txBody>
      </p:sp>
      <p:sp>
        <p:nvSpPr>
          <p:cNvPr id="10" name="Text 7"/>
          <p:cNvSpPr txBox="1"/>
          <p:nvPr/>
        </p:nvSpPr>
        <p:spPr>
          <a:xfrm>
            <a:off x="804672" y="2487168"/>
            <a:ext cx="2212848"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Virtual machines</a:t>
            </a:r>
            <a:endParaRPr lang="en-US" sz="1300" dirty="0"/>
          </a:p>
        </p:txBody>
      </p:sp>
      <p:sp>
        <p:nvSpPr>
          <p:cNvPr id="11" name="Text 8"/>
          <p:cNvSpPr txBox="1"/>
          <p:nvPr/>
        </p:nvSpPr>
        <p:spPr>
          <a:xfrm>
            <a:off x="804672" y="2779776"/>
            <a:ext cx="2258568" cy="457200"/>
          </a:xfrm>
          <a:prstGeom prst="rect">
            <a:avLst/>
          </a:prstGeom>
          <a:noFill/>
          <a:ln/>
        </p:spPr>
        <p:txBody>
          <a:bodyPr wrap="square" lIns="0" tIns="0" rIns="0" bIns="0" rtlCol="0" anchor="ctr"/>
          <a:lstStyle/>
          <a:p>
            <a:pPr indent="0" marL="0">
              <a:lnSpc>
                <a:spcPts val="1400"/>
              </a:lnSpc>
              <a:buNone/>
            </a:pPr>
            <a:r>
              <a:rPr lang="en-US" sz="1050" dirty="0">
                <a:solidFill>
                  <a:srgbClr val="8D919C"/>
                </a:solidFill>
                <a:latin typeface="Calibri" pitchFamily="34" charset="0"/>
                <a:ea typeface="Calibri" pitchFamily="34" charset="-122"/>
                <a:cs typeface="Calibri" pitchFamily="34" charset="-120"/>
              </a:rPr>
              <a:t>Windows 11 Pro + Ubuntu 24</a:t>
            </a:r>
            <a:endParaRPr lang="en-US" sz="1050" dirty="0"/>
          </a:p>
        </p:txBody>
      </p:sp>
      <p:sp>
        <p:nvSpPr>
          <p:cNvPr id="12" name="Shape 9"/>
          <p:cNvSpPr/>
          <p:nvPr/>
        </p:nvSpPr>
        <p:spPr>
          <a:xfrm>
            <a:off x="3474720" y="1517904"/>
            <a:ext cx="2670048" cy="1883664"/>
          </a:xfrm>
          <a:prstGeom prst="roundRect">
            <a:avLst>
              <a:gd name="adj" fmla="val 485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3" name="Shape 10"/>
          <p:cNvSpPr/>
          <p:nvPr/>
        </p:nvSpPr>
        <p:spPr>
          <a:xfrm>
            <a:off x="5431536" y="1755648"/>
            <a:ext cx="457200" cy="457200"/>
          </a:xfrm>
          <a:prstGeom prst="ellipse">
            <a:avLst/>
          </a:prstGeom>
          <a:solidFill>
            <a:srgbClr val="F97316"/>
          </a:solidFill>
          <a:ln w="12700">
            <a:solidFill>
              <a:srgbClr val="F97316"/>
            </a:solidFill>
            <a:prstDash val="solid"/>
          </a:ln>
        </p:spPr>
      </p:sp>
      <p:pic>
        <p:nvPicPr>
          <p:cNvPr id="14" name="Image 1" descr="icons/link-w.png">    </p:cNvPr>
          <p:cNvPicPr>
            <a:picLocks noChangeAspect="1"/>
          </p:cNvPicPr>
          <p:nvPr/>
        </p:nvPicPr>
        <p:blipFill>
          <a:blip r:embed="rId2"/>
          <a:stretch>
            <a:fillRect/>
          </a:stretch>
        </p:blipFill>
        <p:spPr>
          <a:xfrm>
            <a:off x="5543550" y="1867662"/>
            <a:ext cx="233172" cy="233172"/>
          </a:xfrm>
          <a:prstGeom prst="rect">
            <a:avLst/>
          </a:prstGeom>
        </p:spPr>
      </p:pic>
      <p:sp>
        <p:nvSpPr>
          <p:cNvPr id="15" name="Text 11"/>
          <p:cNvSpPr txBox="1"/>
          <p:nvPr/>
        </p:nvSpPr>
        <p:spPr>
          <a:xfrm>
            <a:off x="3712464" y="1682496"/>
            <a:ext cx="1463040" cy="822960"/>
          </a:xfrm>
          <a:prstGeom prst="rect">
            <a:avLst/>
          </a:prstGeom>
          <a:noFill/>
          <a:ln/>
        </p:spPr>
        <p:txBody>
          <a:bodyPr wrap="square" lIns="0" tIns="0" rIns="0" bIns="0" rtlCol="0" anchor="ctr"/>
          <a:lstStyle/>
          <a:p>
            <a:pPr indent="0" marL="0">
              <a:buNone/>
            </a:pPr>
            <a:r>
              <a:rPr lang="en-US" sz="4600" b="1" dirty="0">
                <a:solidFill>
                  <a:srgbClr val="F97316"/>
                </a:solidFill>
                <a:latin typeface="Cambria" pitchFamily="34" charset="0"/>
                <a:ea typeface="Cambria" pitchFamily="34" charset="-122"/>
                <a:cs typeface="Cambria" pitchFamily="34" charset="-120"/>
              </a:rPr>
              <a:t>3</a:t>
            </a:r>
            <a:endParaRPr lang="en-US" sz="4600" dirty="0"/>
          </a:p>
        </p:txBody>
      </p:sp>
      <p:sp>
        <p:nvSpPr>
          <p:cNvPr id="16" name="Text 12"/>
          <p:cNvSpPr txBox="1"/>
          <p:nvPr/>
        </p:nvSpPr>
        <p:spPr>
          <a:xfrm>
            <a:off x="3712464" y="2487168"/>
            <a:ext cx="2212848"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connectors</a:t>
            </a:r>
            <a:endParaRPr lang="en-US" sz="1300" dirty="0"/>
          </a:p>
        </p:txBody>
      </p:sp>
      <p:sp>
        <p:nvSpPr>
          <p:cNvPr id="17" name="Text 13"/>
          <p:cNvSpPr txBox="1"/>
          <p:nvPr/>
        </p:nvSpPr>
        <p:spPr>
          <a:xfrm>
            <a:off x="3712464" y="2779776"/>
            <a:ext cx="2258568" cy="457200"/>
          </a:xfrm>
          <a:prstGeom prst="rect">
            <a:avLst/>
          </a:prstGeom>
          <a:noFill/>
          <a:ln/>
        </p:spPr>
        <p:txBody>
          <a:bodyPr wrap="square" lIns="0" tIns="0" rIns="0" bIns="0" rtlCol="0" anchor="ctr"/>
          <a:lstStyle/>
          <a:p>
            <a:pPr indent="0" marL="0">
              <a:lnSpc>
                <a:spcPts val="1400"/>
              </a:lnSpc>
              <a:buNone/>
            </a:pPr>
            <a:r>
              <a:rPr lang="en-US" sz="1050" dirty="0">
                <a:solidFill>
                  <a:srgbClr val="8D919C"/>
                </a:solidFill>
                <a:latin typeface="Calibri" pitchFamily="34" charset="0"/>
                <a:ea typeface="Calibri" pitchFamily="34" charset="-122"/>
                <a:cs typeface="Calibri" pitchFamily="34" charset="-120"/>
              </a:rPr>
              <a:t>Activity, Security Events, Syslog</a:t>
            </a:r>
            <a:endParaRPr lang="en-US" sz="1050" dirty="0"/>
          </a:p>
        </p:txBody>
      </p:sp>
      <p:sp>
        <p:nvSpPr>
          <p:cNvPr id="18" name="Shape 14"/>
          <p:cNvSpPr/>
          <p:nvPr/>
        </p:nvSpPr>
        <p:spPr>
          <a:xfrm>
            <a:off x="6382512" y="1517904"/>
            <a:ext cx="2670048" cy="1883664"/>
          </a:xfrm>
          <a:prstGeom prst="roundRect">
            <a:avLst>
              <a:gd name="adj" fmla="val 485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9" name="Shape 15"/>
          <p:cNvSpPr/>
          <p:nvPr/>
        </p:nvSpPr>
        <p:spPr>
          <a:xfrm>
            <a:off x="8339328" y="1755648"/>
            <a:ext cx="457200" cy="457200"/>
          </a:xfrm>
          <a:prstGeom prst="ellipse">
            <a:avLst/>
          </a:prstGeom>
          <a:solidFill>
            <a:srgbClr val="F97316"/>
          </a:solidFill>
          <a:ln w="12700">
            <a:solidFill>
              <a:srgbClr val="F97316"/>
            </a:solidFill>
            <a:prstDash val="solid"/>
          </a:ln>
        </p:spPr>
      </p:sp>
      <p:pic>
        <p:nvPicPr>
          <p:cNvPr id="20" name="Image 2" descr="icons/filter-w.png">    </p:cNvPr>
          <p:cNvPicPr>
            <a:picLocks noChangeAspect="1"/>
          </p:cNvPicPr>
          <p:nvPr/>
        </p:nvPicPr>
        <p:blipFill>
          <a:blip r:embed="rId3"/>
          <a:stretch>
            <a:fillRect/>
          </a:stretch>
        </p:blipFill>
        <p:spPr>
          <a:xfrm>
            <a:off x="8451342" y="1867662"/>
            <a:ext cx="233172" cy="233172"/>
          </a:xfrm>
          <a:prstGeom prst="rect">
            <a:avLst/>
          </a:prstGeom>
        </p:spPr>
      </p:pic>
      <p:sp>
        <p:nvSpPr>
          <p:cNvPr id="21" name="Text 16"/>
          <p:cNvSpPr txBox="1"/>
          <p:nvPr/>
        </p:nvSpPr>
        <p:spPr>
          <a:xfrm>
            <a:off x="6620256" y="1682496"/>
            <a:ext cx="1463040" cy="822960"/>
          </a:xfrm>
          <a:prstGeom prst="rect">
            <a:avLst/>
          </a:prstGeom>
          <a:noFill/>
          <a:ln/>
        </p:spPr>
        <p:txBody>
          <a:bodyPr wrap="square" lIns="0" tIns="0" rIns="0" bIns="0" rtlCol="0" anchor="ctr"/>
          <a:lstStyle/>
          <a:p>
            <a:pPr indent="0" marL="0">
              <a:buNone/>
            </a:pPr>
            <a:r>
              <a:rPr lang="en-US" sz="4600" b="1" dirty="0">
                <a:solidFill>
                  <a:srgbClr val="F97316"/>
                </a:solidFill>
                <a:latin typeface="Cambria" pitchFamily="34" charset="0"/>
                <a:ea typeface="Cambria" pitchFamily="34" charset="-122"/>
                <a:cs typeface="Cambria" pitchFamily="34" charset="-120"/>
              </a:rPr>
              <a:t>2</a:t>
            </a:r>
            <a:endParaRPr lang="en-US" sz="4600" dirty="0"/>
          </a:p>
        </p:txBody>
      </p:sp>
      <p:sp>
        <p:nvSpPr>
          <p:cNvPr id="22" name="Text 17"/>
          <p:cNvSpPr txBox="1"/>
          <p:nvPr/>
        </p:nvSpPr>
        <p:spPr>
          <a:xfrm>
            <a:off x="6620256" y="2487168"/>
            <a:ext cx="2212848"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collection rules</a:t>
            </a:r>
            <a:endParaRPr lang="en-US" sz="1300" dirty="0"/>
          </a:p>
        </p:txBody>
      </p:sp>
      <p:sp>
        <p:nvSpPr>
          <p:cNvPr id="23" name="Text 18"/>
          <p:cNvSpPr txBox="1"/>
          <p:nvPr/>
        </p:nvSpPr>
        <p:spPr>
          <a:xfrm>
            <a:off x="6620256" y="2779776"/>
            <a:ext cx="2258568" cy="457200"/>
          </a:xfrm>
          <a:prstGeom prst="rect">
            <a:avLst/>
          </a:prstGeom>
          <a:noFill/>
          <a:ln/>
        </p:spPr>
        <p:txBody>
          <a:bodyPr wrap="square" lIns="0" tIns="0" rIns="0" bIns="0" rtlCol="0" anchor="ctr"/>
          <a:lstStyle/>
          <a:p>
            <a:pPr indent="0" marL="0">
              <a:lnSpc>
                <a:spcPts val="1400"/>
              </a:lnSpc>
              <a:buNone/>
            </a:pPr>
            <a:r>
              <a:rPr lang="en-US" sz="1050" dirty="0">
                <a:solidFill>
                  <a:srgbClr val="8D919C"/>
                </a:solidFill>
                <a:latin typeface="Calibri" pitchFamily="34" charset="0"/>
                <a:ea typeface="Calibri" pitchFamily="34" charset="-122"/>
                <a:cs typeface="Calibri" pitchFamily="34" charset="-120"/>
              </a:rPr>
              <a:t>One per operating system</a:t>
            </a:r>
            <a:endParaRPr lang="en-US" sz="1050" dirty="0"/>
          </a:p>
        </p:txBody>
      </p:sp>
      <p:sp>
        <p:nvSpPr>
          <p:cNvPr id="24" name="Shape 19"/>
          <p:cNvSpPr/>
          <p:nvPr/>
        </p:nvSpPr>
        <p:spPr>
          <a:xfrm>
            <a:off x="9290304" y="1517904"/>
            <a:ext cx="2670048" cy="1883664"/>
          </a:xfrm>
          <a:prstGeom prst="roundRect">
            <a:avLst>
              <a:gd name="adj" fmla="val 485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5" name="Shape 20"/>
          <p:cNvSpPr/>
          <p:nvPr/>
        </p:nvSpPr>
        <p:spPr>
          <a:xfrm>
            <a:off x="11247120" y="1755648"/>
            <a:ext cx="457200" cy="457200"/>
          </a:xfrm>
          <a:prstGeom prst="ellipse">
            <a:avLst/>
          </a:prstGeom>
          <a:solidFill>
            <a:srgbClr val="F97316"/>
          </a:solidFill>
          <a:ln w="12700">
            <a:solidFill>
              <a:srgbClr val="F97316"/>
            </a:solidFill>
            <a:prstDash val="solid"/>
          </a:ln>
        </p:spPr>
      </p:sp>
      <p:pic>
        <p:nvPicPr>
          <p:cNvPr id="26" name="Image 3" descr="icons/database-w.png">    </p:cNvPr>
          <p:cNvPicPr>
            <a:picLocks noChangeAspect="1"/>
          </p:cNvPicPr>
          <p:nvPr/>
        </p:nvPicPr>
        <p:blipFill>
          <a:blip r:embed="rId4"/>
          <a:stretch>
            <a:fillRect/>
          </a:stretch>
        </p:blipFill>
        <p:spPr>
          <a:xfrm>
            <a:off x="11359134" y="1867662"/>
            <a:ext cx="233172" cy="233172"/>
          </a:xfrm>
          <a:prstGeom prst="rect">
            <a:avLst/>
          </a:prstGeom>
        </p:spPr>
      </p:pic>
      <p:sp>
        <p:nvSpPr>
          <p:cNvPr id="27" name="Text 21"/>
          <p:cNvSpPr txBox="1"/>
          <p:nvPr/>
        </p:nvSpPr>
        <p:spPr>
          <a:xfrm>
            <a:off x="9528048" y="1682496"/>
            <a:ext cx="1463040" cy="822960"/>
          </a:xfrm>
          <a:prstGeom prst="rect">
            <a:avLst/>
          </a:prstGeom>
          <a:noFill/>
          <a:ln/>
        </p:spPr>
        <p:txBody>
          <a:bodyPr wrap="square" lIns="0" tIns="0" rIns="0" bIns="0" rtlCol="0" anchor="ctr"/>
          <a:lstStyle/>
          <a:p>
            <a:pPr indent="0" marL="0">
              <a:buNone/>
            </a:pPr>
            <a:r>
              <a:rPr lang="en-US" sz="4600" b="1" dirty="0">
                <a:solidFill>
                  <a:srgbClr val="F97316"/>
                </a:solidFill>
                <a:latin typeface="Cambria" pitchFamily="34" charset="0"/>
                <a:ea typeface="Cambria" pitchFamily="34" charset="-122"/>
                <a:cs typeface="Cambria" pitchFamily="34" charset="-120"/>
              </a:rPr>
              <a:t>1</a:t>
            </a:r>
            <a:endParaRPr lang="en-US" sz="4600" dirty="0"/>
          </a:p>
        </p:txBody>
      </p:sp>
      <p:sp>
        <p:nvSpPr>
          <p:cNvPr id="28" name="Text 22"/>
          <p:cNvSpPr txBox="1"/>
          <p:nvPr/>
        </p:nvSpPr>
        <p:spPr>
          <a:xfrm>
            <a:off x="9528048" y="2487168"/>
            <a:ext cx="2212848"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Log Analytics workspace</a:t>
            </a:r>
            <a:endParaRPr lang="en-US" sz="1300" dirty="0"/>
          </a:p>
        </p:txBody>
      </p:sp>
      <p:sp>
        <p:nvSpPr>
          <p:cNvPr id="29" name="Text 23"/>
          <p:cNvSpPr txBox="1"/>
          <p:nvPr/>
        </p:nvSpPr>
        <p:spPr>
          <a:xfrm>
            <a:off x="9528048" y="2779776"/>
            <a:ext cx="2258568" cy="457200"/>
          </a:xfrm>
          <a:prstGeom prst="rect">
            <a:avLst/>
          </a:prstGeom>
          <a:noFill/>
          <a:ln/>
        </p:spPr>
        <p:txBody>
          <a:bodyPr wrap="square" lIns="0" tIns="0" rIns="0" bIns="0" rtlCol="0" anchor="ctr"/>
          <a:lstStyle/>
          <a:p>
            <a:pPr indent="0" marL="0">
              <a:lnSpc>
                <a:spcPts val="1400"/>
              </a:lnSpc>
              <a:buNone/>
            </a:pPr>
            <a:r>
              <a:rPr lang="en-US" sz="1050" dirty="0">
                <a:solidFill>
                  <a:srgbClr val="8D919C"/>
                </a:solidFill>
                <a:latin typeface="Calibri" pitchFamily="34" charset="0"/>
                <a:ea typeface="Calibri" pitchFamily="34" charset="-122"/>
                <a:cs typeface="Calibri" pitchFamily="34" charset="-120"/>
              </a:rPr>
              <a:t>LAWmuler — Sentinel enabled</a:t>
            </a:r>
            <a:endParaRPr lang="en-US" sz="1050" dirty="0"/>
          </a:p>
        </p:txBody>
      </p:sp>
      <p:sp>
        <p:nvSpPr>
          <p:cNvPr id="30" name="Shape 24"/>
          <p:cNvSpPr/>
          <p:nvPr/>
        </p:nvSpPr>
        <p:spPr>
          <a:xfrm>
            <a:off x="566928" y="3675888"/>
            <a:ext cx="6711696" cy="2432304"/>
          </a:xfrm>
          <a:prstGeom prst="roundRect">
            <a:avLst>
              <a:gd name="adj" fmla="val 3759"/>
            </a:avLst>
          </a:prstGeom>
          <a:solidFill>
            <a:srgbClr val="1E2129"/>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31" name="Text 25"/>
          <p:cNvSpPr txBox="1"/>
          <p:nvPr/>
        </p:nvSpPr>
        <p:spPr>
          <a:xfrm>
            <a:off x="877824" y="3913632"/>
            <a:ext cx="3657600" cy="274320"/>
          </a:xfrm>
          <a:prstGeom prst="rect">
            <a:avLst/>
          </a:prstGeom>
          <a:noFill/>
          <a:ln/>
        </p:spPr>
        <p:txBody>
          <a:bodyPr wrap="square" lIns="0" tIns="0" rIns="0" bIns="0" rtlCol="0" anchor="ctr"/>
          <a:lstStyle/>
          <a:p>
            <a:pPr indent="0" marL="0">
              <a:buNone/>
            </a:pPr>
            <a:r>
              <a:rPr lang="en-US" sz="1300" b="1" spc="60" kern="0" dirty="0">
                <a:solidFill>
                  <a:srgbClr val="FFFFFF"/>
                </a:solidFill>
                <a:latin typeface="Calibri" pitchFamily="34" charset="0"/>
                <a:ea typeface="Calibri" pitchFamily="34" charset="-122"/>
                <a:cs typeface="Calibri" pitchFamily="34" charset="-120"/>
              </a:rPr>
              <a:t>What was built</a:t>
            </a:r>
            <a:endParaRPr lang="en-US" sz="1300" dirty="0"/>
          </a:p>
        </p:txBody>
      </p:sp>
      <p:sp>
        <p:nvSpPr>
          <p:cNvPr id="32" name="Text 26"/>
          <p:cNvSpPr txBox="1"/>
          <p:nvPr/>
        </p:nvSpPr>
        <p:spPr>
          <a:xfrm>
            <a:off x="877824" y="4242816"/>
            <a:ext cx="6126480" cy="1737360"/>
          </a:xfrm>
          <a:prstGeom prst="rect">
            <a:avLst/>
          </a:prstGeom>
          <a:noFill/>
          <a:ln/>
        </p:spPr>
        <p:txBody>
          <a:bodyPr wrap="square" lIns="0" tIns="0" rIns="0" bIns="0" rtlCol="0" anchor="t"/>
          <a:lstStyle/>
          <a:p>
            <a:pPr algn="l" indent="0" marL="0">
              <a:lnSpc>
                <a:spcPts val="1850"/>
              </a:lnSpc>
              <a:buNone/>
            </a:pPr>
            <a:r>
              <a:rPr lang="en-US" sz="1250" dirty="0">
                <a:solidFill>
                  <a:srgbClr val="ECEDF1"/>
                </a:solidFill>
                <a:latin typeface="Calibri" pitchFamily="34" charset="0"/>
                <a:ea typeface="Calibri" pitchFamily="34" charset="-122"/>
                <a:cs typeface="Calibri" pitchFamily="34" charset="-120"/>
              </a:rPr>
              <a:t>A single resource group, rgSIEM, hosts the full lab estate in the East US region. A Log Analytics workspace collects every log generated by the virtual machines and other log-producing systems, and Microsoft Sentinel is layered on top of that workspace to deliver security information and event management. Kusto Query Language is then used to interrogate the collected data and turn raw events into meaningful security insight.</a:t>
            </a:r>
            <a:endParaRPr lang="en-US" sz="1250" dirty="0"/>
          </a:p>
        </p:txBody>
      </p:sp>
      <p:sp>
        <p:nvSpPr>
          <p:cNvPr id="33" name="Shape 27"/>
          <p:cNvSpPr/>
          <p:nvPr/>
        </p:nvSpPr>
        <p:spPr>
          <a:xfrm>
            <a:off x="7534656" y="3675888"/>
            <a:ext cx="4087368" cy="2432304"/>
          </a:xfrm>
          <a:prstGeom prst="roundRect">
            <a:avLst>
              <a:gd name="adj" fmla="val 3759"/>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34" name="Text 28"/>
          <p:cNvSpPr txBox="1"/>
          <p:nvPr/>
        </p:nvSpPr>
        <p:spPr>
          <a:xfrm>
            <a:off x="7845552" y="3913632"/>
            <a:ext cx="3474720" cy="274320"/>
          </a:xfrm>
          <a:prstGeom prst="rect">
            <a:avLst/>
          </a:prstGeom>
          <a:noFill/>
          <a:ln/>
        </p:spPr>
        <p:txBody>
          <a:bodyPr wrap="square" lIns="0" tIns="0" rIns="0" bIns="0" rtlCol="0" anchor="ctr"/>
          <a:lstStyle/>
          <a:p>
            <a:pPr indent="0" marL="0">
              <a:buNone/>
            </a:pPr>
            <a:r>
              <a:rPr lang="en-US" sz="1300" b="1" spc="60" kern="0" dirty="0">
                <a:solidFill>
                  <a:srgbClr val="FFFFFF"/>
                </a:solidFill>
                <a:latin typeface="Calibri" pitchFamily="34" charset="0"/>
                <a:ea typeface="Calibri" pitchFamily="34" charset="-122"/>
                <a:cs typeface="Calibri" pitchFamily="34" charset="-120"/>
              </a:rPr>
              <a:t>Validated in the portal</a:t>
            </a:r>
            <a:endParaRPr lang="en-US" sz="1300" dirty="0"/>
          </a:p>
        </p:txBody>
      </p:sp>
      <p:pic>
        <p:nvPicPr>
          <p:cNvPr id="35" name="Image 4" descr="icons/check-o.png">    </p:cNvPr>
          <p:cNvPicPr>
            <a:picLocks noChangeAspect="1"/>
          </p:cNvPicPr>
          <p:nvPr/>
        </p:nvPicPr>
        <p:blipFill>
          <a:blip r:embed="rId5"/>
          <a:stretch>
            <a:fillRect/>
          </a:stretch>
        </p:blipFill>
        <p:spPr>
          <a:xfrm>
            <a:off x="7863840" y="4325112"/>
            <a:ext cx="192024" cy="192024"/>
          </a:xfrm>
          <a:prstGeom prst="rect">
            <a:avLst/>
          </a:prstGeom>
        </p:spPr>
      </p:pic>
      <p:sp>
        <p:nvSpPr>
          <p:cNvPr id="36" name="Text 29"/>
          <p:cNvSpPr txBox="1"/>
          <p:nvPr/>
        </p:nvSpPr>
        <p:spPr>
          <a:xfrm>
            <a:off x="8156448" y="4279392"/>
            <a:ext cx="3200400" cy="384048"/>
          </a:xfrm>
          <a:prstGeom prst="rect">
            <a:avLst/>
          </a:prstGeom>
          <a:noFill/>
          <a:ln/>
        </p:spPr>
        <p:txBody>
          <a:bodyPr wrap="square" lIns="0" tIns="0" rIns="0" bIns="0" rtlCol="0" anchor="ctr"/>
          <a:lstStyle/>
          <a:p>
            <a:pPr indent="0" marL="0">
              <a:lnSpc>
                <a:spcPts val="1400"/>
              </a:lnSpc>
              <a:buNone/>
            </a:pPr>
            <a:r>
              <a:rPr lang="en-US" sz="1150" dirty="0">
                <a:solidFill>
                  <a:srgbClr val="ECEDF1"/>
                </a:solidFill>
                <a:latin typeface="Calibri" pitchFamily="34" charset="0"/>
                <a:ea typeface="Calibri" pitchFamily="34" charset="-122"/>
                <a:cs typeface="Calibri" pitchFamily="34" charset="-120"/>
              </a:rPr>
              <a:t>All three connectors report Connected</a:t>
            </a:r>
            <a:endParaRPr lang="en-US" sz="1150" dirty="0"/>
          </a:p>
        </p:txBody>
      </p:sp>
      <p:pic>
        <p:nvPicPr>
          <p:cNvPr id="37" name="Image 5" descr="icons/check-o.png">    </p:cNvPr>
          <p:cNvPicPr>
            <a:picLocks noChangeAspect="1"/>
          </p:cNvPicPr>
          <p:nvPr/>
        </p:nvPicPr>
        <p:blipFill>
          <a:blip r:embed="rId6"/>
          <a:stretch>
            <a:fillRect/>
          </a:stretch>
        </p:blipFill>
        <p:spPr>
          <a:xfrm>
            <a:off x="7863840" y="4745736"/>
            <a:ext cx="192024" cy="192024"/>
          </a:xfrm>
          <a:prstGeom prst="rect">
            <a:avLst/>
          </a:prstGeom>
        </p:spPr>
      </p:pic>
      <p:sp>
        <p:nvSpPr>
          <p:cNvPr id="38" name="Text 30"/>
          <p:cNvSpPr txBox="1"/>
          <p:nvPr/>
        </p:nvSpPr>
        <p:spPr>
          <a:xfrm>
            <a:off x="8156448" y="4700016"/>
            <a:ext cx="3200400" cy="384048"/>
          </a:xfrm>
          <a:prstGeom prst="rect">
            <a:avLst/>
          </a:prstGeom>
          <a:noFill/>
          <a:ln/>
        </p:spPr>
        <p:txBody>
          <a:bodyPr wrap="square" lIns="0" tIns="0" rIns="0" bIns="0" rtlCol="0" anchor="ctr"/>
          <a:lstStyle/>
          <a:p>
            <a:pPr indent="0" marL="0">
              <a:lnSpc>
                <a:spcPts val="1400"/>
              </a:lnSpc>
              <a:buNone/>
            </a:pPr>
            <a:r>
              <a:rPr lang="en-US" sz="1150" dirty="0">
                <a:solidFill>
                  <a:srgbClr val="ECEDF1"/>
                </a:solidFill>
                <a:latin typeface="Calibri" pitchFamily="34" charset="0"/>
                <a:ea typeface="Calibri" pitchFamily="34" charset="-122"/>
                <a:cs typeface="Calibri" pitchFamily="34" charset="-120"/>
              </a:rPr>
              <a:t>SecurityEvent table populated from WindowsVM</a:t>
            </a:r>
            <a:endParaRPr lang="en-US" sz="1150" dirty="0"/>
          </a:p>
        </p:txBody>
      </p:sp>
      <p:pic>
        <p:nvPicPr>
          <p:cNvPr id="39" name="Image 6" descr="icons/check-o.png">    </p:cNvPr>
          <p:cNvPicPr>
            <a:picLocks noChangeAspect="1"/>
          </p:cNvPicPr>
          <p:nvPr/>
        </p:nvPicPr>
        <p:blipFill>
          <a:blip r:embed="rId7"/>
          <a:stretch>
            <a:fillRect/>
          </a:stretch>
        </p:blipFill>
        <p:spPr>
          <a:xfrm>
            <a:off x="7863840" y="5166360"/>
            <a:ext cx="192024" cy="192024"/>
          </a:xfrm>
          <a:prstGeom prst="rect">
            <a:avLst/>
          </a:prstGeom>
        </p:spPr>
      </p:pic>
      <p:sp>
        <p:nvSpPr>
          <p:cNvPr id="40" name="Text 31"/>
          <p:cNvSpPr txBox="1"/>
          <p:nvPr/>
        </p:nvSpPr>
        <p:spPr>
          <a:xfrm>
            <a:off x="8156448" y="5120640"/>
            <a:ext cx="3200400" cy="384048"/>
          </a:xfrm>
          <a:prstGeom prst="rect">
            <a:avLst/>
          </a:prstGeom>
          <a:noFill/>
          <a:ln/>
        </p:spPr>
        <p:txBody>
          <a:bodyPr wrap="square" lIns="0" tIns="0" rIns="0" bIns="0" rtlCol="0" anchor="ctr"/>
          <a:lstStyle/>
          <a:p>
            <a:pPr indent="0" marL="0">
              <a:lnSpc>
                <a:spcPts val="1400"/>
              </a:lnSpc>
              <a:buNone/>
            </a:pPr>
            <a:r>
              <a:rPr lang="en-US" sz="1150" dirty="0">
                <a:solidFill>
                  <a:srgbClr val="ECEDF1"/>
                </a:solidFill>
                <a:latin typeface="Calibri" pitchFamily="34" charset="0"/>
                <a:ea typeface="Calibri" pitchFamily="34" charset="-122"/>
                <a:cs typeface="Calibri" pitchFamily="34" charset="-120"/>
              </a:rPr>
              <a:t>Syslog table populated from UbuntuVM</a:t>
            </a:r>
            <a:endParaRPr lang="en-US" sz="1150" dirty="0"/>
          </a:p>
        </p:txBody>
      </p:sp>
      <p:pic>
        <p:nvPicPr>
          <p:cNvPr id="41" name="Image 7" descr="icons/check-o.png">    </p:cNvPr>
          <p:cNvPicPr>
            <a:picLocks noChangeAspect="1"/>
          </p:cNvPicPr>
          <p:nvPr/>
        </p:nvPicPr>
        <p:blipFill>
          <a:blip r:embed="rId8"/>
          <a:stretch>
            <a:fillRect/>
          </a:stretch>
        </p:blipFill>
        <p:spPr>
          <a:xfrm>
            <a:off x="7863840" y="5586984"/>
            <a:ext cx="192024" cy="192024"/>
          </a:xfrm>
          <a:prstGeom prst="rect">
            <a:avLst/>
          </a:prstGeom>
        </p:spPr>
      </p:pic>
      <p:sp>
        <p:nvSpPr>
          <p:cNvPr id="42" name="Text 32"/>
          <p:cNvSpPr txBox="1"/>
          <p:nvPr/>
        </p:nvSpPr>
        <p:spPr>
          <a:xfrm>
            <a:off x="8156448" y="5541264"/>
            <a:ext cx="3200400" cy="384048"/>
          </a:xfrm>
          <a:prstGeom prst="rect">
            <a:avLst/>
          </a:prstGeom>
          <a:noFill/>
          <a:ln/>
        </p:spPr>
        <p:txBody>
          <a:bodyPr wrap="square" lIns="0" tIns="0" rIns="0" bIns="0" rtlCol="0" anchor="ctr"/>
          <a:lstStyle/>
          <a:p>
            <a:pPr indent="0" marL="0">
              <a:lnSpc>
                <a:spcPts val="1400"/>
              </a:lnSpc>
              <a:buNone/>
            </a:pPr>
            <a:r>
              <a:rPr lang="en-US" sz="1150" dirty="0">
                <a:solidFill>
                  <a:srgbClr val="ECEDF1"/>
                </a:solidFill>
                <a:latin typeface="Calibri" pitchFamily="34" charset="0"/>
                <a:ea typeface="Calibri" pitchFamily="34" charset="-122"/>
                <a:cs typeface="Calibri" pitchFamily="34" charset="-120"/>
              </a:rPr>
              <a:t>Queries return results in both portals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PURPOSE</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Objectives and scope of the exercise</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517904"/>
            <a:ext cx="5486400" cy="2103120"/>
          </a:xfrm>
          <a:prstGeom prst="roundRect">
            <a:avLst>
              <a:gd name="adj" fmla="val 4348"/>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7" name="Shape 5"/>
          <p:cNvSpPr/>
          <p:nvPr/>
        </p:nvSpPr>
        <p:spPr>
          <a:xfrm>
            <a:off x="896112" y="1847088"/>
            <a:ext cx="566928" cy="566928"/>
          </a:xfrm>
          <a:prstGeom prst="ellipse">
            <a:avLst/>
          </a:prstGeom>
          <a:solidFill>
            <a:srgbClr val="F97316"/>
          </a:solidFill>
          <a:ln w="12700">
            <a:solidFill>
              <a:srgbClr val="F97316"/>
            </a:solidFill>
            <a:prstDash val="solid"/>
          </a:ln>
        </p:spPr>
      </p:sp>
      <p:pic>
        <p:nvPicPr>
          <p:cNvPr id="8" name="Image 0" descr="icons/layers-w.png">    </p:cNvPr>
          <p:cNvPicPr>
            <a:picLocks noChangeAspect="1"/>
          </p:cNvPicPr>
          <p:nvPr/>
        </p:nvPicPr>
        <p:blipFill>
          <a:blip r:embed="rId1"/>
          <a:stretch>
            <a:fillRect/>
          </a:stretch>
        </p:blipFill>
        <p:spPr>
          <a:xfrm>
            <a:off x="1035009" y="1985985"/>
            <a:ext cx="289133" cy="289133"/>
          </a:xfrm>
          <a:prstGeom prst="rect">
            <a:avLst/>
          </a:prstGeom>
        </p:spPr>
      </p:pic>
      <p:sp>
        <p:nvSpPr>
          <p:cNvPr id="9" name="Text 6"/>
          <p:cNvSpPr txBox="1"/>
          <p:nvPr/>
        </p:nvSpPr>
        <p:spPr>
          <a:xfrm>
            <a:off x="1627632" y="1883664"/>
            <a:ext cx="411480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Stand up the SIEM foundation</a:t>
            </a:r>
            <a:endParaRPr lang="en-US" sz="1500" dirty="0"/>
          </a:p>
        </p:txBody>
      </p:sp>
      <p:sp>
        <p:nvSpPr>
          <p:cNvPr id="10" name="Text 7"/>
          <p:cNvSpPr txBox="1"/>
          <p:nvPr/>
        </p:nvSpPr>
        <p:spPr>
          <a:xfrm>
            <a:off x="896112" y="2560320"/>
            <a:ext cx="4828032" cy="914400"/>
          </a:xfrm>
          <a:prstGeom prst="rect">
            <a:avLst/>
          </a:prstGeom>
          <a:noFill/>
          <a:ln/>
        </p:spPr>
        <p:txBody>
          <a:bodyPr wrap="square" lIns="0" tIns="0" rIns="0" bIns="0" rtlCol="0" anchor="t"/>
          <a:lstStyle/>
          <a:p>
            <a:pPr algn="l" indent="0" marL="0">
              <a:lnSpc>
                <a:spcPts val="1750"/>
              </a:lnSpc>
              <a:buNone/>
            </a:pPr>
            <a:r>
              <a:rPr lang="en-US" sz="1200" dirty="0">
                <a:solidFill>
                  <a:srgbClr val="AFB4BF"/>
                </a:solidFill>
                <a:latin typeface="Calibri" pitchFamily="34" charset="0"/>
                <a:ea typeface="Calibri" pitchFamily="34" charset="-122"/>
                <a:cs typeface="Calibri" pitchFamily="34" charset="-120"/>
              </a:rPr>
              <a:t>Create a dedicated resource group and Log Analytics workspace, then enable Microsoft Sentinel on that workspace to act as the central security analytics plane.</a:t>
            </a:r>
            <a:endParaRPr lang="en-US" sz="1200" dirty="0"/>
          </a:p>
        </p:txBody>
      </p:sp>
      <p:sp>
        <p:nvSpPr>
          <p:cNvPr id="11" name="Shape 8"/>
          <p:cNvSpPr/>
          <p:nvPr/>
        </p:nvSpPr>
        <p:spPr>
          <a:xfrm>
            <a:off x="6318504" y="1517904"/>
            <a:ext cx="5486400" cy="2103120"/>
          </a:xfrm>
          <a:prstGeom prst="roundRect">
            <a:avLst>
              <a:gd name="adj" fmla="val 4348"/>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2" name="Shape 9"/>
          <p:cNvSpPr/>
          <p:nvPr/>
        </p:nvSpPr>
        <p:spPr>
          <a:xfrm>
            <a:off x="6647688" y="1847088"/>
            <a:ext cx="566928" cy="566928"/>
          </a:xfrm>
          <a:prstGeom prst="ellipse">
            <a:avLst/>
          </a:prstGeom>
          <a:solidFill>
            <a:srgbClr val="7A3B0B"/>
          </a:solidFill>
          <a:ln w="12700">
            <a:solidFill>
              <a:srgbClr val="7A3B0B"/>
            </a:solidFill>
            <a:prstDash val="solid"/>
          </a:ln>
        </p:spPr>
      </p:sp>
      <p:pic>
        <p:nvPicPr>
          <p:cNvPr id="13" name="Image 1" descr="icons/server-w.png">    </p:cNvPr>
          <p:cNvPicPr>
            <a:picLocks noChangeAspect="1"/>
          </p:cNvPicPr>
          <p:nvPr/>
        </p:nvPicPr>
        <p:blipFill>
          <a:blip r:embed="rId2"/>
          <a:stretch>
            <a:fillRect/>
          </a:stretch>
        </p:blipFill>
        <p:spPr>
          <a:xfrm>
            <a:off x="6786585" y="1985985"/>
            <a:ext cx="289133" cy="289133"/>
          </a:xfrm>
          <a:prstGeom prst="rect">
            <a:avLst/>
          </a:prstGeom>
        </p:spPr>
      </p:pic>
      <p:sp>
        <p:nvSpPr>
          <p:cNvPr id="14" name="Text 10"/>
          <p:cNvSpPr txBox="1"/>
          <p:nvPr/>
        </p:nvSpPr>
        <p:spPr>
          <a:xfrm>
            <a:off x="7379208" y="1883664"/>
            <a:ext cx="411480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Provision hybrid compute</a:t>
            </a:r>
            <a:endParaRPr lang="en-US" sz="1500" dirty="0"/>
          </a:p>
        </p:txBody>
      </p:sp>
      <p:sp>
        <p:nvSpPr>
          <p:cNvPr id="15" name="Text 11"/>
          <p:cNvSpPr txBox="1"/>
          <p:nvPr/>
        </p:nvSpPr>
        <p:spPr>
          <a:xfrm>
            <a:off x="6647688" y="2560320"/>
            <a:ext cx="4828032" cy="914400"/>
          </a:xfrm>
          <a:prstGeom prst="rect">
            <a:avLst/>
          </a:prstGeom>
          <a:noFill/>
          <a:ln/>
        </p:spPr>
        <p:txBody>
          <a:bodyPr wrap="square" lIns="0" tIns="0" rIns="0" bIns="0" rtlCol="0" anchor="t"/>
          <a:lstStyle/>
          <a:p>
            <a:pPr algn="l" indent="0" marL="0">
              <a:lnSpc>
                <a:spcPts val="1750"/>
              </a:lnSpc>
              <a:buNone/>
            </a:pPr>
            <a:r>
              <a:rPr lang="en-US" sz="1200" dirty="0">
                <a:solidFill>
                  <a:srgbClr val="AFB4BF"/>
                </a:solidFill>
                <a:latin typeface="Calibri" pitchFamily="34" charset="0"/>
                <a:ea typeface="Calibri" pitchFamily="34" charset="-122"/>
                <a:cs typeface="Calibri" pitchFamily="34" charset="-120"/>
              </a:rPr>
              <a:t>Deploy a Windows 11 Pro virtual machine and an Ubuntu 24 virtual machine to generate representative operating-system telemetry for a mixed estate.</a:t>
            </a:r>
            <a:endParaRPr lang="en-US" sz="1200" dirty="0"/>
          </a:p>
        </p:txBody>
      </p:sp>
      <p:sp>
        <p:nvSpPr>
          <p:cNvPr id="16" name="Shape 12"/>
          <p:cNvSpPr/>
          <p:nvPr/>
        </p:nvSpPr>
        <p:spPr>
          <a:xfrm>
            <a:off x="566928" y="3877056"/>
            <a:ext cx="5486400" cy="2103120"/>
          </a:xfrm>
          <a:prstGeom prst="roundRect">
            <a:avLst>
              <a:gd name="adj" fmla="val 4348"/>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7" name="Shape 13"/>
          <p:cNvSpPr/>
          <p:nvPr/>
        </p:nvSpPr>
        <p:spPr>
          <a:xfrm>
            <a:off x="896112" y="4206240"/>
            <a:ext cx="566928" cy="566928"/>
          </a:xfrm>
          <a:prstGeom prst="ellipse">
            <a:avLst/>
          </a:prstGeom>
          <a:solidFill>
            <a:srgbClr val="F97316"/>
          </a:solidFill>
          <a:ln w="12700">
            <a:solidFill>
              <a:srgbClr val="F97316"/>
            </a:solidFill>
            <a:prstDash val="solid"/>
          </a:ln>
        </p:spPr>
      </p:sp>
      <p:pic>
        <p:nvPicPr>
          <p:cNvPr id="18" name="Image 2" descr="icons/link-w.png">    </p:cNvPr>
          <p:cNvPicPr>
            <a:picLocks noChangeAspect="1"/>
          </p:cNvPicPr>
          <p:nvPr/>
        </p:nvPicPr>
        <p:blipFill>
          <a:blip r:embed="rId3"/>
          <a:stretch>
            <a:fillRect/>
          </a:stretch>
        </p:blipFill>
        <p:spPr>
          <a:xfrm>
            <a:off x="1035009" y="4345137"/>
            <a:ext cx="289133" cy="289133"/>
          </a:xfrm>
          <a:prstGeom prst="rect">
            <a:avLst/>
          </a:prstGeom>
        </p:spPr>
      </p:pic>
      <p:sp>
        <p:nvSpPr>
          <p:cNvPr id="19" name="Text 14"/>
          <p:cNvSpPr txBox="1"/>
          <p:nvPr/>
        </p:nvSpPr>
        <p:spPr>
          <a:xfrm>
            <a:off x="1627632" y="4242816"/>
            <a:ext cx="411480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Onboard telemetry through AMA</a:t>
            </a:r>
            <a:endParaRPr lang="en-US" sz="1500" dirty="0"/>
          </a:p>
        </p:txBody>
      </p:sp>
      <p:sp>
        <p:nvSpPr>
          <p:cNvPr id="20" name="Text 15"/>
          <p:cNvSpPr txBox="1"/>
          <p:nvPr/>
        </p:nvSpPr>
        <p:spPr>
          <a:xfrm>
            <a:off x="896112" y="4919472"/>
            <a:ext cx="4828032" cy="914400"/>
          </a:xfrm>
          <a:prstGeom prst="rect">
            <a:avLst/>
          </a:prstGeom>
          <a:noFill/>
          <a:ln/>
        </p:spPr>
        <p:txBody>
          <a:bodyPr wrap="square" lIns="0" tIns="0" rIns="0" bIns="0" rtlCol="0" anchor="t"/>
          <a:lstStyle/>
          <a:p>
            <a:pPr algn="l" indent="0" marL="0">
              <a:lnSpc>
                <a:spcPts val="1750"/>
              </a:lnSpc>
              <a:buNone/>
            </a:pPr>
            <a:r>
              <a:rPr lang="en-US" sz="1200" dirty="0">
                <a:solidFill>
                  <a:srgbClr val="AFB4BF"/>
                </a:solidFill>
                <a:latin typeface="Calibri" pitchFamily="34" charset="0"/>
                <a:ea typeface="Calibri" pitchFamily="34" charset="-122"/>
                <a:cs typeface="Calibri" pitchFamily="34" charset="-120"/>
              </a:rPr>
              <a:t>Install the Azure Activity, Windows Security Events and Syslog connectors, and configure Data Collection Rules so the Azure Monitor Agent forwards the right events.</a:t>
            </a:r>
            <a:endParaRPr lang="en-US" sz="1200" dirty="0"/>
          </a:p>
        </p:txBody>
      </p:sp>
      <p:sp>
        <p:nvSpPr>
          <p:cNvPr id="21" name="Shape 16"/>
          <p:cNvSpPr/>
          <p:nvPr/>
        </p:nvSpPr>
        <p:spPr>
          <a:xfrm>
            <a:off x="6318504" y="3877056"/>
            <a:ext cx="5486400" cy="2103120"/>
          </a:xfrm>
          <a:prstGeom prst="roundRect">
            <a:avLst>
              <a:gd name="adj" fmla="val 4348"/>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2" name="Shape 17"/>
          <p:cNvSpPr/>
          <p:nvPr/>
        </p:nvSpPr>
        <p:spPr>
          <a:xfrm>
            <a:off x="6647688" y="4206240"/>
            <a:ext cx="566928" cy="566928"/>
          </a:xfrm>
          <a:prstGeom prst="ellipse">
            <a:avLst/>
          </a:prstGeom>
          <a:solidFill>
            <a:srgbClr val="7A3B0B"/>
          </a:solidFill>
          <a:ln w="12700">
            <a:solidFill>
              <a:srgbClr val="7A3B0B"/>
            </a:solidFill>
            <a:prstDash val="solid"/>
          </a:ln>
        </p:spPr>
      </p:sp>
      <p:pic>
        <p:nvPicPr>
          <p:cNvPr id="23" name="Image 3" descr="icons/search-w.png">    </p:cNvPr>
          <p:cNvPicPr>
            <a:picLocks noChangeAspect="1"/>
          </p:cNvPicPr>
          <p:nvPr/>
        </p:nvPicPr>
        <p:blipFill>
          <a:blip r:embed="rId4"/>
          <a:stretch>
            <a:fillRect/>
          </a:stretch>
        </p:blipFill>
        <p:spPr>
          <a:xfrm>
            <a:off x="6786585" y="4345137"/>
            <a:ext cx="289133" cy="289133"/>
          </a:xfrm>
          <a:prstGeom prst="rect">
            <a:avLst/>
          </a:prstGeom>
        </p:spPr>
      </p:pic>
      <p:sp>
        <p:nvSpPr>
          <p:cNvPr id="24" name="Text 18"/>
          <p:cNvSpPr txBox="1"/>
          <p:nvPr/>
        </p:nvSpPr>
        <p:spPr>
          <a:xfrm>
            <a:off x="7379208" y="4242816"/>
            <a:ext cx="411480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Validate ingestion with KQL</a:t>
            </a:r>
            <a:endParaRPr lang="en-US" sz="1500" dirty="0"/>
          </a:p>
        </p:txBody>
      </p:sp>
      <p:sp>
        <p:nvSpPr>
          <p:cNvPr id="25" name="Text 19"/>
          <p:cNvSpPr txBox="1"/>
          <p:nvPr/>
        </p:nvSpPr>
        <p:spPr>
          <a:xfrm>
            <a:off x="6647688" y="4919472"/>
            <a:ext cx="4828032" cy="914400"/>
          </a:xfrm>
          <a:prstGeom prst="rect">
            <a:avLst/>
          </a:prstGeom>
          <a:noFill/>
          <a:ln/>
        </p:spPr>
        <p:txBody>
          <a:bodyPr wrap="square" lIns="0" tIns="0" rIns="0" bIns="0" rtlCol="0" anchor="t"/>
          <a:lstStyle/>
          <a:p>
            <a:pPr algn="l" indent="0" marL="0">
              <a:lnSpc>
                <a:spcPts val="1750"/>
              </a:lnSpc>
              <a:buNone/>
            </a:pPr>
            <a:r>
              <a:rPr lang="en-US" sz="1200" dirty="0">
                <a:solidFill>
                  <a:srgbClr val="AFB4BF"/>
                </a:solidFill>
                <a:latin typeface="Calibri" pitchFamily="34" charset="0"/>
                <a:ea typeface="Calibri" pitchFamily="34" charset="-122"/>
                <a:cs typeface="Calibri" pitchFamily="34" charset="-120"/>
              </a:rPr>
              <a:t>Query the workspace with Kusto Query Language to confirm events are landing, and compare the legacy Azure portal experience with the new Defender portal.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TOOLING</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Technology stack</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517904"/>
            <a:ext cx="3584448" cy="1975104"/>
          </a:xfrm>
          <a:prstGeom prst="roundRect">
            <a:avLst>
              <a:gd name="adj" fmla="val 4630"/>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7" name="Shape 5"/>
          <p:cNvSpPr/>
          <p:nvPr/>
        </p:nvSpPr>
        <p:spPr>
          <a:xfrm>
            <a:off x="877824" y="1810512"/>
            <a:ext cx="530352" cy="530352"/>
          </a:xfrm>
          <a:prstGeom prst="ellipse">
            <a:avLst/>
          </a:prstGeom>
          <a:solidFill>
            <a:srgbClr val="F97316"/>
          </a:solidFill>
          <a:ln w="12700">
            <a:solidFill>
              <a:srgbClr val="F97316"/>
            </a:solidFill>
            <a:prstDash val="solid"/>
          </a:ln>
        </p:spPr>
      </p:sp>
      <p:pic>
        <p:nvPicPr>
          <p:cNvPr id="8" name="Image 0" descr="icons/cloud-w.png">    </p:cNvPr>
          <p:cNvPicPr>
            <a:picLocks noChangeAspect="1"/>
          </p:cNvPicPr>
          <p:nvPr/>
        </p:nvPicPr>
        <p:blipFill>
          <a:blip r:embed="rId1"/>
          <a:stretch>
            <a:fillRect/>
          </a:stretch>
        </p:blipFill>
        <p:spPr>
          <a:xfrm>
            <a:off x="1007760" y="1940448"/>
            <a:ext cx="270480" cy="270480"/>
          </a:xfrm>
          <a:prstGeom prst="rect">
            <a:avLst/>
          </a:prstGeom>
        </p:spPr>
      </p:pic>
      <p:sp>
        <p:nvSpPr>
          <p:cNvPr id="9" name="Text 6"/>
          <p:cNvSpPr txBox="1"/>
          <p:nvPr/>
        </p:nvSpPr>
        <p:spPr>
          <a:xfrm>
            <a:off x="877824" y="2450592"/>
            <a:ext cx="2962656"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Azure Portal</a:t>
            </a:r>
            <a:endParaRPr lang="en-US" sz="1400" dirty="0"/>
          </a:p>
        </p:txBody>
      </p:sp>
      <p:sp>
        <p:nvSpPr>
          <p:cNvPr id="10" name="Text 7"/>
          <p:cNvSpPr txBox="1"/>
          <p:nvPr/>
        </p:nvSpPr>
        <p:spPr>
          <a:xfrm>
            <a:off x="877824" y="2798064"/>
            <a:ext cx="2962656" cy="640080"/>
          </a:xfrm>
          <a:prstGeom prst="rect">
            <a:avLst/>
          </a:prstGeom>
          <a:noFill/>
          <a:ln/>
        </p:spPr>
        <p:txBody>
          <a:bodyPr wrap="square" lIns="0" tIns="0" rIns="0" bIns="0" rtlCol="0" anchor="t"/>
          <a:lstStyle/>
          <a:p>
            <a:pPr algn="l" indent="0" marL="0">
              <a:lnSpc>
                <a:spcPts val="1600"/>
              </a:lnSpc>
              <a:buNone/>
            </a:pPr>
            <a:r>
              <a:rPr lang="en-US" sz="1150" dirty="0">
                <a:solidFill>
                  <a:srgbClr val="AFB4BF"/>
                </a:solidFill>
                <a:latin typeface="Calibri" pitchFamily="34" charset="0"/>
                <a:ea typeface="Calibri" pitchFamily="34" charset="-122"/>
                <a:cs typeface="Calibri" pitchFamily="34" charset="-120"/>
              </a:rPr>
              <a:t>Primary control plane used to create and configure every resource in the lab.</a:t>
            </a:r>
            <a:endParaRPr lang="en-US" sz="1150" dirty="0"/>
          </a:p>
        </p:txBody>
      </p:sp>
      <p:sp>
        <p:nvSpPr>
          <p:cNvPr id="11" name="Shape 8"/>
          <p:cNvSpPr/>
          <p:nvPr/>
        </p:nvSpPr>
        <p:spPr>
          <a:xfrm>
            <a:off x="4389120" y="1517904"/>
            <a:ext cx="3584448" cy="1975104"/>
          </a:xfrm>
          <a:prstGeom prst="roundRect">
            <a:avLst>
              <a:gd name="adj" fmla="val 4630"/>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2" name="Shape 9"/>
          <p:cNvSpPr/>
          <p:nvPr/>
        </p:nvSpPr>
        <p:spPr>
          <a:xfrm>
            <a:off x="4700016" y="1810512"/>
            <a:ext cx="530352" cy="530352"/>
          </a:xfrm>
          <a:prstGeom prst="ellipse">
            <a:avLst/>
          </a:prstGeom>
          <a:solidFill>
            <a:srgbClr val="7A3B0B"/>
          </a:solidFill>
          <a:ln w="12700">
            <a:solidFill>
              <a:srgbClr val="7A3B0B"/>
            </a:solidFill>
            <a:prstDash val="solid"/>
          </a:ln>
        </p:spPr>
      </p:sp>
      <p:pic>
        <p:nvPicPr>
          <p:cNvPr id="13" name="Image 1" descr="icons/shield-w.png">    </p:cNvPr>
          <p:cNvPicPr>
            <a:picLocks noChangeAspect="1"/>
          </p:cNvPicPr>
          <p:nvPr/>
        </p:nvPicPr>
        <p:blipFill>
          <a:blip r:embed="rId2"/>
          <a:stretch>
            <a:fillRect/>
          </a:stretch>
        </p:blipFill>
        <p:spPr>
          <a:xfrm>
            <a:off x="4829952" y="1940448"/>
            <a:ext cx="270480" cy="270480"/>
          </a:xfrm>
          <a:prstGeom prst="rect">
            <a:avLst/>
          </a:prstGeom>
        </p:spPr>
      </p:pic>
      <p:sp>
        <p:nvSpPr>
          <p:cNvPr id="14" name="Text 10"/>
          <p:cNvSpPr txBox="1"/>
          <p:nvPr/>
        </p:nvSpPr>
        <p:spPr>
          <a:xfrm>
            <a:off x="4700016" y="2450592"/>
            <a:ext cx="2962656"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Microsoft Sentinel</a:t>
            </a:r>
            <a:endParaRPr lang="en-US" sz="1400" dirty="0"/>
          </a:p>
        </p:txBody>
      </p:sp>
      <p:sp>
        <p:nvSpPr>
          <p:cNvPr id="15" name="Text 11"/>
          <p:cNvSpPr txBox="1"/>
          <p:nvPr/>
        </p:nvSpPr>
        <p:spPr>
          <a:xfrm>
            <a:off x="4700016" y="2798064"/>
            <a:ext cx="2962656" cy="640080"/>
          </a:xfrm>
          <a:prstGeom prst="rect">
            <a:avLst/>
          </a:prstGeom>
          <a:noFill/>
          <a:ln/>
        </p:spPr>
        <p:txBody>
          <a:bodyPr wrap="square" lIns="0" tIns="0" rIns="0" bIns="0" rtlCol="0" anchor="t"/>
          <a:lstStyle/>
          <a:p>
            <a:pPr algn="l" indent="0" marL="0">
              <a:lnSpc>
                <a:spcPts val="1600"/>
              </a:lnSpc>
              <a:buNone/>
            </a:pPr>
            <a:r>
              <a:rPr lang="en-US" sz="1150" dirty="0">
                <a:solidFill>
                  <a:srgbClr val="AFB4BF"/>
                </a:solidFill>
                <a:latin typeface="Calibri" pitchFamily="34" charset="0"/>
                <a:ea typeface="Calibri" pitchFamily="34" charset="-122"/>
                <a:cs typeface="Calibri" pitchFamily="34" charset="-120"/>
              </a:rPr>
              <a:t>Cloud-native SIEM and SOAR layered directly on the Log Analytics workspace.</a:t>
            </a:r>
            <a:endParaRPr lang="en-US" sz="1150" dirty="0"/>
          </a:p>
        </p:txBody>
      </p:sp>
      <p:sp>
        <p:nvSpPr>
          <p:cNvPr id="16" name="Shape 12"/>
          <p:cNvSpPr/>
          <p:nvPr/>
        </p:nvSpPr>
        <p:spPr>
          <a:xfrm>
            <a:off x="8211312" y="1517904"/>
            <a:ext cx="3584448" cy="1975104"/>
          </a:xfrm>
          <a:prstGeom prst="roundRect">
            <a:avLst>
              <a:gd name="adj" fmla="val 4630"/>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7" name="Shape 13"/>
          <p:cNvSpPr/>
          <p:nvPr/>
        </p:nvSpPr>
        <p:spPr>
          <a:xfrm>
            <a:off x="8522208" y="1810512"/>
            <a:ext cx="530352" cy="530352"/>
          </a:xfrm>
          <a:prstGeom prst="ellipse">
            <a:avLst/>
          </a:prstGeom>
          <a:solidFill>
            <a:srgbClr val="F97316"/>
          </a:solidFill>
          <a:ln w="12700">
            <a:solidFill>
              <a:srgbClr val="F97316"/>
            </a:solidFill>
            <a:prstDash val="solid"/>
          </a:ln>
        </p:spPr>
      </p:sp>
      <p:pic>
        <p:nvPicPr>
          <p:cNvPr id="18" name="Image 2" descr="icons/database-w.png">    </p:cNvPr>
          <p:cNvPicPr>
            <a:picLocks noChangeAspect="1"/>
          </p:cNvPicPr>
          <p:nvPr/>
        </p:nvPicPr>
        <p:blipFill>
          <a:blip r:embed="rId3"/>
          <a:stretch>
            <a:fillRect/>
          </a:stretch>
        </p:blipFill>
        <p:spPr>
          <a:xfrm>
            <a:off x="8652144" y="1940448"/>
            <a:ext cx="270480" cy="270480"/>
          </a:xfrm>
          <a:prstGeom prst="rect">
            <a:avLst/>
          </a:prstGeom>
        </p:spPr>
      </p:pic>
      <p:sp>
        <p:nvSpPr>
          <p:cNvPr id="19" name="Text 14"/>
          <p:cNvSpPr txBox="1"/>
          <p:nvPr/>
        </p:nvSpPr>
        <p:spPr>
          <a:xfrm>
            <a:off x="8522208" y="2450592"/>
            <a:ext cx="2962656"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Log Analytics workspace</a:t>
            </a:r>
            <a:endParaRPr lang="en-US" sz="1400" dirty="0"/>
          </a:p>
        </p:txBody>
      </p:sp>
      <p:sp>
        <p:nvSpPr>
          <p:cNvPr id="20" name="Text 15"/>
          <p:cNvSpPr txBox="1"/>
          <p:nvPr/>
        </p:nvSpPr>
        <p:spPr>
          <a:xfrm>
            <a:off x="8522208" y="2798064"/>
            <a:ext cx="2962656" cy="640080"/>
          </a:xfrm>
          <a:prstGeom prst="rect">
            <a:avLst/>
          </a:prstGeom>
          <a:noFill/>
          <a:ln/>
        </p:spPr>
        <p:txBody>
          <a:bodyPr wrap="square" lIns="0" tIns="0" rIns="0" bIns="0" rtlCol="0" anchor="t"/>
          <a:lstStyle/>
          <a:p>
            <a:pPr algn="l" indent="0" marL="0">
              <a:lnSpc>
                <a:spcPts val="1600"/>
              </a:lnSpc>
              <a:buNone/>
            </a:pPr>
            <a:r>
              <a:rPr lang="en-US" sz="1150" dirty="0">
                <a:solidFill>
                  <a:srgbClr val="AFB4BF"/>
                </a:solidFill>
                <a:latin typeface="Calibri" pitchFamily="34" charset="0"/>
                <a:ea typeface="Calibri" pitchFamily="34" charset="-122"/>
                <a:cs typeface="Calibri" pitchFamily="34" charset="-120"/>
              </a:rPr>
              <a:t>LAWmuler — the single store for all ingested machine and platform logs.</a:t>
            </a:r>
            <a:endParaRPr lang="en-US" sz="1150" dirty="0"/>
          </a:p>
        </p:txBody>
      </p:sp>
      <p:sp>
        <p:nvSpPr>
          <p:cNvPr id="21" name="Shape 16"/>
          <p:cNvSpPr/>
          <p:nvPr/>
        </p:nvSpPr>
        <p:spPr>
          <a:xfrm>
            <a:off x="566928" y="3730752"/>
            <a:ext cx="3584448" cy="1975104"/>
          </a:xfrm>
          <a:prstGeom prst="roundRect">
            <a:avLst>
              <a:gd name="adj" fmla="val 4630"/>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2" name="Shape 17"/>
          <p:cNvSpPr/>
          <p:nvPr/>
        </p:nvSpPr>
        <p:spPr>
          <a:xfrm>
            <a:off x="877824" y="4023360"/>
            <a:ext cx="530352" cy="530352"/>
          </a:xfrm>
          <a:prstGeom prst="ellipse">
            <a:avLst/>
          </a:prstGeom>
          <a:solidFill>
            <a:srgbClr val="7A3B0B"/>
          </a:solidFill>
          <a:ln w="12700">
            <a:solidFill>
              <a:srgbClr val="7A3B0B"/>
            </a:solidFill>
            <a:prstDash val="solid"/>
          </a:ln>
        </p:spPr>
      </p:sp>
      <p:pic>
        <p:nvPicPr>
          <p:cNvPr id="23" name="Image 3" descr="icons/cpu-w.png">    </p:cNvPr>
          <p:cNvPicPr>
            <a:picLocks noChangeAspect="1"/>
          </p:cNvPicPr>
          <p:nvPr/>
        </p:nvPicPr>
        <p:blipFill>
          <a:blip r:embed="rId4"/>
          <a:stretch>
            <a:fillRect/>
          </a:stretch>
        </p:blipFill>
        <p:spPr>
          <a:xfrm>
            <a:off x="1007760" y="4153296"/>
            <a:ext cx="270480" cy="270480"/>
          </a:xfrm>
          <a:prstGeom prst="rect">
            <a:avLst/>
          </a:prstGeom>
        </p:spPr>
      </p:pic>
      <p:sp>
        <p:nvSpPr>
          <p:cNvPr id="24" name="Text 18"/>
          <p:cNvSpPr txBox="1"/>
          <p:nvPr/>
        </p:nvSpPr>
        <p:spPr>
          <a:xfrm>
            <a:off x="877824" y="4663440"/>
            <a:ext cx="2962656"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Azure Monitor Agent</a:t>
            </a:r>
            <a:endParaRPr lang="en-US" sz="1400" dirty="0"/>
          </a:p>
        </p:txBody>
      </p:sp>
      <p:sp>
        <p:nvSpPr>
          <p:cNvPr id="25" name="Text 19"/>
          <p:cNvSpPr txBox="1"/>
          <p:nvPr/>
        </p:nvSpPr>
        <p:spPr>
          <a:xfrm>
            <a:off x="877824" y="5010912"/>
            <a:ext cx="2962656" cy="640080"/>
          </a:xfrm>
          <a:prstGeom prst="rect">
            <a:avLst/>
          </a:prstGeom>
          <a:noFill/>
          <a:ln/>
        </p:spPr>
        <p:txBody>
          <a:bodyPr wrap="square" lIns="0" tIns="0" rIns="0" bIns="0" rtlCol="0" anchor="t"/>
          <a:lstStyle/>
          <a:p>
            <a:pPr algn="l" indent="0" marL="0">
              <a:lnSpc>
                <a:spcPts val="1600"/>
              </a:lnSpc>
              <a:buNone/>
            </a:pPr>
            <a:r>
              <a:rPr lang="en-US" sz="1150" dirty="0">
                <a:solidFill>
                  <a:srgbClr val="AFB4BF"/>
                </a:solidFill>
                <a:latin typeface="Calibri" pitchFamily="34" charset="0"/>
                <a:ea typeface="Calibri" pitchFamily="34" charset="-122"/>
                <a:cs typeface="Calibri" pitchFamily="34" charset="-120"/>
              </a:rPr>
              <a:t>Modern unified agent that replaces the legacy MMA for log collection.</a:t>
            </a:r>
            <a:endParaRPr lang="en-US" sz="1150" dirty="0"/>
          </a:p>
        </p:txBody>
      </p:sp>
      <p:sp>
        <p:nvSpPr>
          <p:cNvPr id="26" name="Shape 20"/>
          <p:cNvSpPr/>
          <p:nvPr/>
        </p:nvSpPr>
        <p:spPr>
          <a:xfrm>
            <a:off x="4389120" y="3730752"/>
            <a:ext cx="3584448" cy="1975104"/>
          </a:xfrm>
          <a:prstGeom prst="roundRect">
            <a:avLst>
              <a:gd name="adj" fmla="val 4630"/>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7" name="Shape 21"/>
          <p:cNvSpPr/>
          <p:nvPr/>
        </p:nvSpPr>
        <p:spPr>
          <a:xfrm>
            <a:off x="4700016" y="4023360"/>
            <a:ext cx="530352" cy="530352"/>
          </a:xfrm>
          <a:prstGeom prst="ellipse">
            <a:avLst/>
          </a:prstGeom>
          <a:solidFill>
            <a:srgbClr val="F97316"/>
          </a:solidFill>
          <a:ln w="12700">
            <a:solidFill>
              <a:srgbClr val="F97316"/>
            </a:solidFill>
            <a:prstDash val="solid"/>
          </a:ln>
        </p:spPr>
      </p:sp>
      <p:pic>
        <p:nvPicPr>
          <p:cNvPr id="28" name="Image 4" descr="icons/filter-w.png">    </p:cNvPr>
          <p:cNvPicPr>
            <a:picLocks noChangeAspect="1"/>
          </p:cNvPicPr>
          <p:nvPr/>
        </p:nvPicPr>
        <p:blipFill>
          <a:blip r:embed="rId5"/>
          <a:stretch>
            <a:fillRect/>
          </a:stretch>
        </p:blipFill>
        <p:spPr>
          <a:xfrm>
            <a:off x="4829952" y="4153296"/>
            <a:ext cx="270480" cy="270480"/>
          </a:xfrm>
          <a:prstGeom prst="rect">
            <a:avLst/>
          </a:prstGeom>
        </p:spPr>
      </p:pic>
      <p:sp>
        <p:nvSpPr>
          <p:cNvPr id="29" name="Text 22"/>
          <p:cNvSpPr txBox="1"/>
          <p:nvPr/>
        </p:nvSpPr>
        <p:spPr>
          <a:xfrm>
            <a:off x="4700016" y="4663440"/>
            <a:ext cx="2962656"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Data Collection Rules</a:t>
            </a:r>
            <a:endParaRPr lang="en-US" sz="1400" dirty="0"/>
          </a:p>
        </p:txBody>
      </p:sp>
      <p:sp>
        <p:nvSpPr>
          <p:cNvPr id="30" name="Text 23"/>
          <p:cNvSpPr txBox="1"/>
          <p:nvPr/>
        </p:nvSpPr>
        <p:spPr>
          <a:xfrm>
            <a:off x="4700016" y="5010912"/>
            <a:ext cx="2962656" cy="640080"/>
          </a:xfrm>
          <a:prstGeom prst="rect">
            <a:avLst/>
          </a:prstGeom>
          <a:noFill/>
          <a:ln/>
        </p:spPr>
        <p:txBody>
          <a:bodyPr wrap="square" lIns="0" tIns="0" rIns="0" bIns="0" rtlCol="0" anchor="t"/>
          <a:lstStyle/>
          <a:p>
            <a:pPr algn="l" indent="0" marL="0">
              <a:lnSpc>
                <a:spcPts val="1600"/>
              </a:lnSpc>
              <a:buNone/>
            </a:pPr>
            <a:r>
              <a:rPr lang="en-US" sz="1150" dirty="0">
                <a:solidFill>
                  <a:srgbClr val="AFB4BF"/>
                </a:solidFill>
                <a:latin typeface="Calibri" pitchFamily="34" charset="0"/>
                <a:ea typeface="Calibri" pitchFamily="34" charset="-122"/>
                <a:cs typeface="Calibri" pitchFamily="34" charset="-120"/>
              </a:rPr>
              <a:t>mywindowsDCR and myubuntuDCRnew define what each agent actually sends.</a:t>
            </a:r>
            <a:endParaRPr lang="en-US" sz="1150" dirty="0"/>
          </a:p>
        </p:txBody>
      </p:sp>
      <p:sp>
        <p:nvSpPr>
          <p:cNvPr id="31" name="Shape 24"/>
          <p:cNvSpPr/>
          <p:nvPr/>
        </p:nvSpPr>
        <p:spPr>
          <a:xfrm>
            <a:off x="8211312" y="3730752"/>
            <a:ext cx="3584448" cy="1975104"/>
          </a:xfrm>
          <a:prstGeom prst="roundRect">
            <a:avLst>
              <a:gd name="adj" fmla="val 4630"/>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32" name="Shape 25"/>
          <p:cNvSpPr/>
          <p:nvPr/>
        </p:nvSpPr>
        <p:spPr>
          <a:xfrm>
            <a:off x="8522208" y="4023360"/>
            <a:ext cx="530352" cy="530352"/>
          </a:xfrm>
          <a:prstGeom prst="ellipse">
            <a:avLst/>
          </a:prstGeom>
          <a:solidFill>
            <a:srgbClr val="7A3B0B"/>
          </a:solidFill>
          <a:ln w="12700">
            <a:solidFill>
              <a:srgbClr val="7A3B0B"/>
            </a:solidFill>
            <a:prstDash val="solid"/>
          </a:ln>
        </p:spPr>
      </p:sp>
      <p:pic>
        <p:nvPicPr>
          <p:cNvPr id="33" name="Image 5" descr="icons/terminal-w.png">    </p:cNvPr>
          <p:cNvPicPr>
            <a:picLocks noChangeAspect="1"/>
          </p:cNvPicPr>
          <p:nvPr/>
        </p:nvPicPr>
        <p:blipFill>
          <a:blip r:embed="rId6"/>
          <a:stretch>
            <a:fillRect/>
          </a:stretch>
        </p:blipFill>
        <p:spPr>
          <a:xfrm>
            <a:off x="8652144" y="4153296"/>
            <a:ext cx="270480" cy="270480"/>
          </a:xfrm>
          <a:prstGeom prst="rect">
            <a:avLst/>
          </a:prstGeom>
        </p:spPr>
      </p:pic>
      <p:sp>
        <p:nvSpPr>
          <p:cNvPr id="34" name="Text 26"/>
          <p:cNvSpPr txBox="1"/>
          <p:nvPr/>
        </p:nvSpPr>
        <p:spPr>
          <a:xfrm>
            <a:off x="8522208" y="4663440"/>
            <a:ext cx="2962656"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Kusto Query Language</a:t>
            </a:r>
            <a:endParaRPr lang="en-US" sz="1400" dirty="0"/>
          </a:p>
        </p:txBody>
      </p:sp>
      <p:sp>
        <p:nvSpPr>
          <p:cNvPr id="35" name="Text 27"/>
          <p:cNvSpPr txBox="1"/>
          <p:nvPr/>
        </p:nvSpPr>
        <p:spPr>
          <a:xfrm>
            <a:off x="8522208" y="5010912"/>
            <a:ext cx="2962656" cy="640080"/>
          </a:xfrm>
          <a:prstGeom prst="rect">
            <a:avLst/>
          </a:prstGeom>
          <a:noFill/>
          <a:ln/>
        </p:spPr>
        <p:txBody>
          <a:bodyPr wrap="square" lIns="0" tIns="0" rIns="0" bIns="0" rtlCol="0" anchor="t"/>
          <a:lstStyle/>
          <a:p>
            <a:pPr algn="l" indent="0" marL="0">
              <a:lnSpc>
                <a:spcPts val="1600"/>
              </a:lnSpc>
              <a:buNone/>
            </a:pPr>
            <a:r>
              <a:rPr lang="en-US" sz="1150" dirty="0">
                <a:solidFill>
                  <a:srgbClr val="AFB4BF"/>
                </a:solidFill>
                <a:latin typeface="Calibri" pitchFamily="34" charset="0"/>
                <a:ea typeface="Calibri" pitchFamily="34" charset="-122"/>
                <a:cs typeface="Calibri" pitchFamily="34" charset="-120"/>
              </a:rPr>
              <a:t>Query language used to verify ingestion and extract security insight.</a:t>
            </a:r>
            <a:endParaRPr lang="en-US" sz="1150" dirty="0"/>
          </a:p>
        </p:txBody>
      </p:sp>
      <p:sp>
        <p:nvSpPr>
          <p:cNvPr id="36" name="Text 28"/>
          <p:cNvSpPr txBox="1"/>
          <p:nvPr/>
        </p:nvSpPr>
        <p:spPr>
          <a:xfrm>
            <a:off x="566928" y="5989320"/>
            <a:ext cx="10607040" cy="274320"/>
          </a:xfrm>
          <a:prstGeom prst="rect">
            <a:avLst/>
          </a:prstGeom>
          <a:noFill/>
          <a:ln/>
        </p:spPr>
        <p:txBody>
          <a:bodyPr wrap="square" lIns="0" tIns="0" rIns="0" bIns="0" rtlCol="0" anchor="ctr"/>
          <a:lstStyle/>
          <a:p>
            <a:pPr indent="0" marL="0">
              <a:buNone/>
            </a:pPr>
            <a:r>
              <a:rPr lang="en-US" sz="1150" i="1" dirty="0">
                <a:solidFill>
                  <a:srgbClr val="8D919C"/>
                </a:solidFill>
                <a:latin typeface="Calibri" pitchFamily="34" charset="0"/>
                <a:ea typeface="Calibri" pitchFamily="34" charset="-122"/>
                <a:cs typeface="Calibri" pitchFamily="34" charset="-120"/>
              </a:rPr>
              <a:t>Region: East US   ·   Subscription: Azure subscription 1   ·   Resource group: rgSIEM</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ARCHITECTURE</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Subscription, resource group and resource topology</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481328"/>
            <a:ext cx="11055096" cy="4443984"/>
          </a:xfrm>
          <a:prstGeom prst="roundRect">
            <a:avLst>
              <a:gd name="adj" fmla="val 1029"/>
            </a:avLst>
          </a:prstGeom>
          <a:solidFill>
            <a:srgbClr val="121419"/>
          </a:solidFill>
          <a:ln w="15875">
            <a:solidFill>
              <a:srgbClr val="F97316"/>
            </a:solidFill>
            <a:prstDash val="dash"/>
          </a:ln>
        </p:spPr>
      </p:sp>
      <p:pic>
        <p:nvPicPr>
          <p:cNvPr id="7" name="Image 0" descr="icons/cloud-o.png">    </p:cNvPr>
          <p:cNvPicPr>
            <a:picLocks noChangeAspect="1"/>
          </p:cNvPicPr>
          <p:nvPr/>
        </p:nvPicPr>
        <p:blipFill>
          <a:blip r:embed="rId1"/>
          <a:stretch>
            <a:fillRect/>
          </a:stretch>
        </p:blipFill>
        <p:spPr>
          <a:xfrm>
            <a:off x="804672" y="1673352"/>
            <a:ext cx="237744" cy="237744"/>
          </a:xfrm>
          <a:prstGeom prst="rect">
            <a:avLst/>
          </a:prstGeom>
        </p:spPr>
      </p:pic>
      <p:sp>
        <p:nvSpPr>
          <p:cNvPr id="8" name="Text 5"/>
          <p:cNvSpPr txBox="1"/>
          <p:nvPr/>
        </p:nvSpPr>
        <p:spPr>
          <a:xfrm>
            <a:off x="1115568" y="1636776"/>
            <a:ext cx="3657600" cy="310896"/>
          </a:xfrm>
          <a:prstGeom prst="rect">
            <a:avLst/>
          </a:prstGeom>
          <a:noFill/>
          <a:ln/>
        </p:spPr>
        <p:txBody>
          <a:bodyPr wrap="square" lIns="0" tIns="0" rIns="0" bIns="0" rtlCol="0" anchor="ctr"/>
          <a:lstStyle/>
          <a:p>
            <a:pPr indent="0" marL="0">
              <a:buNone/>
            </a:pPr>
            <a:r>
              <a:rPr lang="en-US" sz="1300" b="1" spc="60" kern="0" dirty="0">
                <a:solidFill>
                  <a:srgbClr val="F97316"/>
                </a:solidFill>
                <a:latin typeface="Calibri" pitchFamily="34" charset="0"/>
                <a:ea typeface="Calibri" pitchFamily="34" charset="-122"/>
                <a:cs typeface="Calibri" pitchFamily="34" charset="-120"/>
              </a:rPr>
              <a:t>Azure subscription 1</a:t>
            </a:r>
            <a:endParaRPr lang="en-US" sz="1300" dirty="0"/>
          </a:p>
        </p:txBody>
      </p:sp>
      <p:sp>
        <p:nvSpPr>
          <p:cNvPr id="9" name="Shape 6"/>
          <p:cNvSpPr/>
          <p:nvPr/>
        </p:nvSpPr>
        <p:spPr>
          <a:xfrm>
            <a:off x="10051999" y="1645920"/>
            <a:ext cx="1335024" cy="292608"/>
          </a:xfrm>
          <a:prstGeom prst="roundRect">
            <a:avLst>
              <a:gd name="adj" fmla="val 50000"/>
            </a:avLst>
          </a:prstGeom>
          <a:solidFill>
            <a:srgbClr val="2A1B0C"/>
          </a:solidFill>
          <a:ln w="12700">
            <a:solidFill>
              <a:srgbClr val="2A1B0C"/>
            </a:solidFill>
            <a:prstDash val="solid"/>
          </a:ln>
        </p:spPr>
      </p:sp>
      <p:sp>
        <p:nvSpPr>
          <p:cNvPr id="10" name="Text 7"/>
          <p:cNvSpPr txBox="1"/>
          <p:nvPr/>
        </p:nvSpPr>
        <p:spPr>
          <a:xfrm>
            <a:off x="10051999" y="1645920"/>
            <a:ext cx="1335024" cy="292608"/>
          </a:xfrm>
          <a:prstGeom prst="rect">
            <a:avLst/>
          </a:prstGeom>
          <a:noFill/>
          <a:ln/>
        </p:spPr>
        <p:txBody>
          <a:bodyPr wrap="square" lIns="0" tIns="0" rIns="0" bIns="0" rtlCol="0" anchor="ctr"/>
          <a:lstStyle/>
          <a:p>
            <a:pPr algn="ctr" indent="0" marL="0">
              <a:buNone/>
            </a:pPr>
            <a:r>
              <a:rPr lang="en-US" sz="900" b="1" spc="40" kern="0" dirty="0">
                <a:solidFill>
                  <a:srgbClr val="FFB454"/>
                </a:solidFill>
                <a:latin typeface="Calibri" pitchFamily="34" charset="0"/>
                <a:ea typeface="Calibri" pitchFamily="34" charset="-122"/>
                <a:cs typeface="Calibri" pitchFamily="34" charset="-120"/>
              </a:rPr>
              <a:t>REGION: EAST US</a:t>
            </a:r>
            <a:endParaRPr lang="en-US" sz="900" dirty="0"/>
          </a:p>
        </p:txBody>
      </p:sp>
      <p:sp>
        <p:nvSpPr>
          <p:cNvPr id="11" name="Shape 8"/>
          <p:cNvSpPr/>
          <p:nvPr/>
        </p:nvSpPr>
        <p:spPr>
          <a:xfrm>
            <a:off x="804672" y="2066544"/>
            <a:ext cx="10579608" cy="3639312"/>
          </a:xfrm>
          <a:prstGeom prst="roundRect">
            <a:avLst>
              <a:gd name="adj" fmla="val 1256"/>
            </a:avLst>
          </a:prstGeom>
          <a:solidFill>
            <a:srgbClr val="1E2129"/>
          </a:solidFill>
          <a:ln w="12700">
            <a:solidFill>
              <a:srgbClr val="3A3F4A"/>
            </a:solidFill>
            <a:prstDash val="solid"/>
          </a:ln>
        </p:spPr>
      </p:sp>
      <p:pic>
        <p:nvPicPr>
          <p:cNvPr id="12" name="Image 1" descr="icons/grid-a.png">    </p:cNvPr>
          <p:cNvPicPr>
            <a:picLocks noChangeAspect="1"/>
          </p:cNvPicPr>
          <p:nvPr/>
        </p:nvPicPr>
        <p:blipFill>
          <a:blip r:embed="rId2"/>
          <a:stretch>
            <a:fillRect/>
          </a:stretch>
        </p:blipFill>
        <p:spPr>
          <a:xfrm>
            <a:off x="1024128" y="2249424"/>
            <a:ext cx="219456" cy="219456"/>
          </a:xfrm>
          <a:prstGeom prst="rect">
            <a:avLst/>
          </a:prstGeom>
        </p:spPr>
      </p:pic>
      <p:sp>
        <p:nvSpPr>
          <p:cNvPr id="13" name="Text 9"/>
          <p:cNvSpPr txBox="1"/>
          <p:nvPr/>
        </p:nvSpPr>
        <p:spPr>
          <a:xfrm>
            <a:off x="1316736" y="2212848"/>
            <a:ext cx="457200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Resource group  ·  rgSIEM</a:t>
            </a:r>
            <a:endParaRPr lang="en-US" sz="1250" dirty="0"/>
          </a:p>
        </p:txBody>
      </p:sp>
      <p:sp>
        <p:nvSpPr>
          <p:cNvPr id="14" name="Text 10"/>
          <p:cNvSpPr txBox="1"/>
          <p:nvPr/>
        </p:nvSpPr>
        <p:spPr>
          <a:xfrm>
            <a:off x="1042416" y="2615184"/>
            <a:ext cx="3017520" cy="219456"/>
          </a:xfrm>
          <a:prstGeom prst="rect">
            <a:avLst/>
          </a:prstGeom>
          <a:noFill/>
          <a:ln/>
        </p:spPr>
        <p:txBody>
          <a:bodyPr wrap="square" lIns="0" tIns="0" rIns="0" bIns="0" rtlCol="0" anchor="ctr"/>
          <a:lstStyle/>
          <a:p>
            <a:pPr indent="0" marL="0">
              <a:buNone/>
            </a:pPr>
            <a:r>
              <a:rPr lang="en-US" sz="950" b="1" spc="180" kern="0" dirty="0">
                <a:solidFill>
                  <a:srgbClr val="8D919C"/>
                </a:solidFill>
                <a:latin typeface="Calibri" pitchFamily="34" charset="0"/>
                <a:ea typeface="Calibri" pitchFamily="34" charset="-122"/>
                <a:cs typeface="Calibri" pitchFamily="34" charset="-120"/>
              </a:rPr>
              <a:t>COMPUTE</a:t>
            </a:r>
            <a:endParaRPr lang="en-US" sz="950" dirty="0"/>
          </a:p>
        </p:txBody>
      </p:sp>
      <p:sp>
        <p:nvSpPr>
          <p:cNvPr id="15" name="Text 11"/>
          <p:cNvSpPr txBox="1"/>
          <p:nvPr/>
        </p:nvSpPr>
        <p:spPr>
          <a:xfrm>
            <a:off x="4608576" y="2615184"/>
            <a:ext cx="2926080" cy="219456"/>
          </a:xfrm>
          <a:prstGeom prst="rect">
            <a:avLst/>
          </a:prstGeom>
          <a:noFill/>
          <a:ln/>
        </p:spPr>
        <p:txBody>
          <a:bodyPr wrap="square" lIns="0" tIns="0" rIns="0" bIns="0" rtlCol="0" anchor="ctr"/>
          <a:lstStyle/>
          <a:p>
            <a:pPr indent="0" marL="0">
              <a:buNone/>
            </a:pPr>
            <a:r>
              <a:rPr lang="en-US" sz="950" b="1" spc="180" kern="0" dirty="0">
                <a:solidFill>
                  <a:srgbClr val="8D919C"/>
                </a:solidFill>
                <a:latin typeface="Calibri" pitchFamily="34" charset="0"/>
                <a:ea typeface="Calibri" pitchFamily="34" charset="-122"/>
                <a:cs typeface="Calibri" pitchFamily="34" charset="-120"/>
              </a:rPr>
              <a:t>COLLECTION</a:t>
            </a:r>
            <a:endParaRPr lang="en-US" sz="950" dirty="0"/>
          </a:p>
        </p:txBody>
      </p:sp>
      <p:sp>
        <p:nvSpPr>
          <p:cNvPr id="16" name="Text 12"/>
          <p:cNvSpPr txBox="1"/>
          <p:nvPr/>
        </p:nvSpPr>
        <p:spPr>
          <a:xfrm>
            <a:off x="7991856" y="2615184"/>
            <a:ext cx="3127248" cy="219456"/>
          </a:xfrm>
          <a:prstGeom prst="rect">
            <a:avLst/>
          </a:prstGeom>
          <a:noFill/>
          <a:ln/>
        </p:spPr>
        <p:txBody>
          <a:bodyPr wrap="square" lIns="0" tIns="0" rIns="0" bIns="0" rtlCol="0" anchor="ctr"/>
          <a:lstStyle/>
          <a:p>
            <a:pPr indent="0" marL="0">
              <a:buNone/>
            </a:pPr>
            <a:r>
              <a:rPr lang="en-US" sz="950" b="1" spc="180" kern="0" dirty="0">
                <a:solidFill>
                  <a:srgbClr val="8D919C"/>
                </a:solidFill>
                <a:latin typeface="Calibri" pitchFamily="34" charset="0"/>
                <a:ea typeface="Calibri" pitchFamily="34" charset="-122"/>
                <a:cs typeface="Calibri" pitchFamily="34" charset="-120"/>
              </a:rPr>
              <a:t>ANALYTICS &amp; SIEM</a:t>
            </a:r>
            <a:endParaRPr lang="en-US" sz="950" dirty="0"/>
          </a:p>
        </p:txBody>
      </p:sp>
      <p:sp>
        <p:nvSpPr>
          <p:cNvPr id="17" name="Shape 13"/>
          <p:cNvSpPr/>
          <p:nvPr/>
        </p:nvSpPr>
        <p:spPr>
          <a:xfrm>
            <a:off x="1042416" y="2926080"/>
            <a:ext cx="3017520" cy="896112"/>
          </a:xfrm>
          <a:prstGeom prst="roundRect">
            <a:avLst>
              <a:gd name="adj" fmla="val 10204"/>
            </a:avLst>
          </a:prstGeom>
          <a:solidFill>
            <a:srgbClr val="17191F"/>
          </a:solidFill>
          <a:ln w="9525">
            <a:solidFill>
              <a:srgbClr val="2E323B"/>
            </a:solidFill>
            <a:prstDash val="solid"/>
          </a:ln>
          <a:effectLst>
            <a:outerShdw sx="100000" sy="100000" kx="0" ky="0" algn="bl" rotWithShape="0" blurRad="177800" dist="38100" dir="5400000">
              <a:srgbClr val="000000">
                <a:alpha val="25000"/>
              </a:srgbClr>
            </a:outerShdw>
          </a:effectLst>
        </p:spPr>
      </p:sp>
      <p:sp>
        <p:nvSpPr>
          <p:cNvPr id="18" name="Shape 14"/>
          <p:cNvSpPr/>
          <p:nvPr/>
        </p:nvSpPr>
        <p:spPr>
          <a:xfrm>
            <a:off x="1225296" y="3136392"/>
            <a:ext cx="475488" cy="475488"/>
          </a:xfrm>
          <a:prstGeom prst="ellipse">
            <a:avLst/>
          </a:prstGeom>
          <a:solidFill>
            <a:srgbClr val="7A3B0B"/>
          </a:solidFill>
          <a:ln w="12700">
            <a:solidFill>
              <a:srgbClr val="7A3B0B"/>
            </a:solidFill>
            <a:prstDash val="solid"/>
          </a:ln>
        </p:spPr>
      </p:sp>
      <p:pic>
        <p:nvPicPr>
          <p:cNvPr id="19" name="Image 2" descr="icons/monitor-w.png">    </p:cNvPr>
          <p:cNvPicPr>
            <a:picLocks noChangeAspect="1"/>
          </p:cNvPicPr>
          <p:nvPr/>
        </p:nvPicPr>
        <p:blipFill>
          <a:blip r:embed="rId3"/>
          <a:stretch>
            <a:fillRect/>
          </a:stretch>
        </p:blipFill>
        <p:spPr>
          <a:xfrm>
            <a:off x="1341791" y="3252887"/>
            <a:ext cx="242499" cy="242499"/>
          </a:xfrm>
          <a:prstGeom prst="rect">
            <a:avLst/>
          </a:prstGeom>
        </p:spPr>
      </p:pic>
      <p:sp>
        <p:nvSpPr>
          <p:cNvPr id="20" name="Text 15"/>
          <p:cNvSpPr txBox="1"/>
          <p:nvPr/>
        </p:nvSpPr>
        <p:spPr>
          <a:xfrm>
            <a:off x="1828800" y="3099816"/>
            <a:ext cx="210312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WindowsVM</a:t>
            </a:r>
            <a:endParaRPr lang="en-US" sz="1250" dirty="0"/>
          </a:p>
        </p:txBody>
      </p:sp>
      <p:sp>
        <p:nvSpPr>
          <p:cNvPr id="21" name="Text 16"/>
          <p:cNvSpPr txBox="1"/>
          <p:nvPr/>
        </p:nvSpPr>
        <p:spPr>
          <a:xfrm>
            <a:off x="1828800" y="3364992"/>
            <a:ext cx="2139696"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Windows 11 Pro  ·  Standard_F1ads_v7</a:t>
            </a:r>
            <a:endParaRPr lang="en-US" sz="950" dirty="0"/>
          </a:p>
        </p:txBody>
      </p:sp>
      <p:sp>
        <p:nvSpPr>
          <p:cNvPr id="22" name="Shape 17"/>
          <p:cNvSpPr/>
          <p:nvPr/>
        </p:nvSpPr>
        <p:spPr>
          <a:xfrm>
            <a:off x="1042416" y="3986784"/>
            <a:ext cx="3017520" cy="896112"/>
          </a:xfrm>
          <a:prstGeom prst="roundRect">
            <a:avLst>
              <a:gd name="adj" fmla="val 10204"/>
            </a:avLst>
          </a:prstGeom>
          <a:solidFill>
            <a:srgbClr val="17191F"/>
          </a:solidFill>
          <a:ln w="9525">
            <a:solidFill>
              <a:srgbClr val="2E323B"/>
            </a:solidFill>
            <a:prstDash val="solid"/>
          </a:ln>
          <a:effectLst>
            <a:outerShdw sx="100000" sy="100000" kx="0" ky="0" algn="bl" rotWithShape="0" blurRad="177800" dist="38100" dir="5400000">
              <a:srgbClr val="000000">
                <a:alpha val="25000"/>
              </a:srgbClr>
            </a:outerShdw>
          </a:effectLst>
        </p:spPr>
      </p:sp>
      <p:sp>
        <p:nvSpPr>
          <p:cNvPr id="23" name="Shape 18"/>
          <p:cNvSpPr/>
          <p:nvPr/>
        </p:nvSpPr>
        <p:spPr>
          <a:xfrm>
            <a:off x="1225296" y="4197096"/>
            <a:ext cx="475488" cy="475488"/>
          </a:xfrm>
          <a:prstGeom prst="ellipse">
            <a:avLst/>
          </a:prstGeom>
          <a:solidFill>
            <a:srgbClr val="7A3B0B"/>
          </a:solidFill>
          <a:ln w="12700">
            <a:solidFill>
              <a:srgbClr val="7A3B0B"/>
            </a:solidFill>
            <a:prstDash val="solid"/>
          </a:ln>
        </p:spPr>
      </p:sp>
      <p:pic>
        <p:nvPicPr>
          <p:cNvPr id="24" name="Image 3" descr="icons/linux-w.png">    </p:cNvPr>
          <p:cNvPicPr>
            <a:picLocks noChangeAspect="1"/>
          </p:cNvPicPr>
          <p:nvPr/>
        </p:nvPicPr>
        <p:blipFill>
          <a:blip r:embed="rId4"/>
          <a:stretch>
            <a:fillRect/>
          </a:stretch>
        </p:blipFill>
        <p:spPr>
          <a:xfrm>
            <a:off x="1341791" y="4313591"/>
            <a:ext cx="242499" cy="242499"/>
          </a:xfrm>
          <a:prstGeom prst="rect">
            <a:avLst/>
          </a:prstGeom>
        </p:spPr>
      </p:pic>
      <p:sp>
        <p:nvSpPr>
          <p:cNvPr id="25" name="Text 19"/>
          <p:cNvSpPr txBox="1"/>
          <p:nvPr/>
        </p:nvSpPr>
        <p:spPr>
          <a:xfrm>
            <a:off x="1828800" y="4160520"/>
            <a:ext cx="210312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UbuntuVM</a:t>
            </a:r>
            <a:endParaRPr lang="en-US" sz="1250" dirty="0"/>
          </a:p>
        </p:txBody>
      </p:sp>
      <p:sp>
        <p:nvSpPr>
          <p:cNvPr id="26" name="Text 20"/>
          <p:cNvSpPr txBox="1"/>
          <p:nvPr/>
        </p:nvSpPr>
        <p:spPr>
          <a:xfrm>
            <a:off x="1828800" y="4425696"/>
            <a:ext cx="2139696"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Ubuntu 24  ·  Standard_D2alds_v7</a:t>
            </a:r>
            <a:endParaRPr lang="en-US" sz="950" dirty="0"/>
          </a:p>
        </p:txBody>
      </p:sp>
      <p:sp>
        <p:nvSpPr>
          <p:cNvPr id="27" name="Shape 21"/>
          <p:cNvSpPr/>
          <p:nvPr/>
        </p:nvSpPr>
        <p:spPr>
          <a:xfrm>
            <a:off x="4608576" y="2926080"/>
            <a:ext cx="2926080" cy="896112"/>
          </a:xfrm>
          <a:prstGeom prst="roundRect">
            <a:avLst>
              <a:gd name="adj" fmla="val 10204"/>
            </a:avLst>
          </a:prstGeom>
          <a:solidFill>
            <a:srgbClr val="17191F"/>
          </a:solidFill>
          <a:ln w="9525">
            <a:solidFill>
              <a:srgbClr val="2E323B"/>
            </a:solidFill>
            <a:prstDash val="solid"/>
          </a:ln>
          <a:effectLst>
            <a:outerShdw sx="100000" sy="100000" kx="0" ky="0" algn="bl" rotWithShape="0" blurRad="177800" dist="38100" dir="5400000">
              <a:srgbClr val="000000">
                <a:alpha val="25000"/>
              </a:srgbClr>
            </a:outerShdw>
          </a:effectLst>
        </p:spPr>
      </p:sp>
      <p:sp>
        <p:nvSpPr>
          <p:cNvPr id="28" name="Shape 22"/>
          <p:cNvSpPr/>
          <p:nvPr/>
        </p:nvSpPr>
        <p:spPr>
          <a:xfrm>
            <a:off x="4791456" y="3136392"/>
            <a:ext cx="475488" cy="475488"/>
          </a:xfrm>
          <a:prstGeom prst="ellipse">
            <a:avLst/>
          </a:prstGeom>
          <a:solidFill>
            <a:srgbClr val="F97316"/>
          </a:solidFill>
          <a:ln w="12700">
            <a:solidFill>
              <a:srgbClr val="F97316"/>
            </a:solidFill>
            <a:prstDash val="solid"/>
          </a:ln>
        </p:spPr>
      </p:sp>
      <p:pic>
        <p:nvPicPr>
          <p:cNvPr id="29" name="Image 4" descr="icons/filter-w.png">    </p:cNvPr>
          <p:cNvPicPr>
            <a:picLocks noChangeAspect="1"/>
          </p:cNvPicPr>
          <p:nvPr/>
        </p:nvPicPr>
        <p:blipFill>
          <a:blip r:embed="rId5"/>
          <a:stretch>
            <a:fillRect/>
          </a:stretch>
        </p:blipFill>
        <p:spPr>
          <a:xfrm>
            <a:off x="4907951" y="3252887"/>
            <a:ext cx="242499" cy="242499"/>
          </a:xfrm>
          <a:prstGeom prst="rect">
            <a:avLst/>
          </a:prstGeom>
        </p:spPr>
      </p:pic>
      <p:sp>
        <p:nvSpPr>
          <p:cNvPr id="30" name="Text 23"/>
          <p:cNvSpPr txBox="1"/>
          <p:nvPr/>
        </p:nvSpPr>
        <p:spPr>
          <a:xfrm>
            <a:off x="5394960" y="3099816"/>
            <a:ext cx="201168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mywindowsDCR</a:t>
            </a:r>
            <a:endParaRPr lang="en-US" sz="1200" dirty="0"/>
          </a:p>
        </p:txBody>
      </p:sp>
      <p:sp>
        <p:nvSpPr>
          <p:cNvPr id="31" name="Text 24"/>
          <p:cNvSpPr txBox="1"/>
          <p:nvPr/>
        </p:nvSpPr>
        <p:spPr>
          <a:xfrm>
            <a:off x="5394960" y="3364992"/>
            <a:ext cx="2048256"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Security events  →  workspace</a:t>
            </a:r>
            <a:endParaRPr lang="en-US" sz="950" dirty="0"/>
          </a:p>
        </p:txBody>
      </p:sp>
      <p:sp>
        <p:nvSpPr>
          <p:cNvPr id="32" name="Shape 25"/>
          <p:cNvSpPr/>
          <p:nvPr/>
        </p:nvSpPr>
        <p:spPr>
          <a:xfrm>
            <a:off x="4608576" y="3986784"/>
            <a:ext cx="2926080" cy="896112"/>
          </a:xfrm>
          <a:prstGeom prst="roundRect">
            <a:avLst>
              <a:gd name="adj" fmla="val 10204"/>
            </a:avLst>
          </a:prstGeom>
          <a:solidFill>
            <a:srgbClr val="17191F"/>
          </a:solidFill>
          <a:ln w="9525">
            <a:solidFill>
              <a:srgbClr val="2E323B"/>
            </a:solidFill>
            <a:prstDash val="solid"/>
          </a:ln>
          <a:effectLst>
            <a:outerShdw sx="100000" sy="100000" kx="0" ky="0" algn="bl" rotWithShape="0" blurRad="177800" dist="38100" dir="5400000">
              <a:srgbClr val="000000">
                <a:alpha val="25000"/>
              </a:srgbClr>
            </a:outerShdw>
          </a:effectLst>
        </p:spPr>
      </p:sp>
      <p:sp>
        <p:nvSpPr>
          <p:cNvPr id="33" name="Shape 26"/>
          <p:cNvSpPr/>
          <p:nvPr/>
        </p:nvSpPr>
        <p:spPr>
          <a:xfrm>
            <a:off x="4791456" y="4197096"/>
            <a:ext cx="475488" cy="475488"/>
          </a:xfrm>
          <a:prstGeom prst="ellipse">
            <a:avLst/>
          </a:prstGeom>
          <a:solidFill>
            <a:srgbClr val="F97316"/>
          </a:solidFill>
          <a:ln w="12700">
            <a:solidFill>
              <a:srgbClr val="F97316"/>
            </a:solidFill>
            <a:prstDash val="solid"/>
          </a:ln>
        </p:spPr>
      </p:sp>
      <p:pic>
        <p:nvPicPr>
          <p:cNvPr id="34" name="Image 5" descr="icons/filter-w.png">    </p:cNvPr>
          <p:cNvPicPr>
            <a:picLocks noChangeAspect="1"/>
          </p:cNvPicPr>
          <p:nvPr/>
        </p:nvPicPr>
        <p:blipFill>
          <a:blip r:embed="rId6"/>
          <a:stretch>
            <a:fillRect/>
          </a:stretch>
        </p:blipFill>
        <p:spPr>
          <a:xfrm>
            <a:off x="4907951" y="4313591"/>
            <a:ext cx="242499" cy="242499"/>
          </a:xfrm>
          <a:prstGeom prst="rect">
            <a:avLst/>
          </a:prstGeom>
        </p:spPr>
      </p:pic>
      <p:sp>
        <p:nvSpPr>
          <p:cNvPr id="35" name="Text 27"/>
          <p:cNvSpPr txBox="1"/>
          <p:nvPr/>
        </p:nvSpPr>
        <p:spPr>
          <a:xfrm>
            <a:off x="5394960" y="4160520"/>
            <a:ext cx="201168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myubuntuDCRnew</a:t>
            </a:r>
            <a:endParaRPr lang="en-US" sz="1200" dirty="0"/>
          </a:p>
        </p:txBody>
      </p:sp>
      <p:sp>
        <p:nvSpPr>
          <p:cNvPr id="36" name="Text 28"/>
          <p:cNvSpPr txBox="1"/>
          <p:nvPr/>
        </p:nvSpPr>
        <p:spPr>
          <a:xfrm>
            <a:off x="5394960" y="4425696"/>
            <a:ext cx="2048256"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Syslog facilities  →  workspace</a:t>
            </a:r>
            <a:endParaRPr lang="en-US" sz="950" dirty="0"/>
          </a:p>
        </p:txBody>
      </p:sp>
      <p:sp>
        <p:nvSpPr>
          <p:cNvPr id="37" name="Text 29"/>
          <p:cNvSpPr txBox="1"/>
          <p:nvPr/>
        </p:nvSpPr>
        <p:spPr>
          <a:xfrm>
            <a:off x="4608576" y="4992624"/>
            <a:ext cx="2926080" cy="256032"/>
          </a:xfrm>
          <a:prstGeom prst="rect">
            <a:avLst/>
          </a:prstGeom>
          <a:noFill/>
          <a:ln/>
        </p:spPr>
        <p:txBody>
          <a:bodyPr wrap="square" lIns="0" tIns="0" rIns="0" bIns="0" rtlCol="0" anchor="ctr"/>
          <a:lstStyle/>
          <a:p>
            <a:pPr indent="0" marL="0">
              <a:buNone/>
            </a:pPr>
            <a:r>
              <a:rPr lang="en-US" sz="950" i="1" dirty="0">
                <a:solidFill>
                  <a:srgbClr val="8D919C"/>
                </a:solidFill>
                <a:latin typeface="Calibri" pitchFamily="34" charset="0"/>
                <a:ea typeface="Calibri" pitchFamily="34" charset="-122"/>
                <a:cs typeface="Calibri" pitchFamily="34" charset="-120"/>
              </a:rPr>
              <a:t>Azure Monitor Agent installed on both machines</a:t>
            </a:r>
            <a:endParaRPr lang="en-US" sz="950" dirty="0"/>
          </a:p>
        </p:txBody>
      </p:sp>
      <p:sp>
        <p:nvSpPr>
          <p:cNvPr id="38" name="Shape 30"/>
          <p:cNvSpPr/>
          <p:nvPr/>
        </p:nvSpPr>
        <p:spPr>
          <a:xfrm>
            <a:off x="7991856" y="2926080"/>
            <a:ext cx="3127248" cy="1956816"/>
          </a:xfrm>
          <a:prstGeom prst="roundRect">
            <a:avLst>
              <a:gd name="adj" fmla="val 3738"/>
            </a:avLst>
          </a:prstGeom>
          <a:solidFill>
            <a:srgbClr val="17191F"/>
          </a:solidFill>
          <a:ln w="12700">
            <a:solidFill>
              <a:srgbClr val="F97316"/>
            </a:solidFill>
            <a:prstDash val="solid"/>
          </a:ln>
          <a:effectLst>
            <a:outerShdw sx="100000" sy="100000" kx="0" ky="0" algn="bl" rotWithShape="0" blurRad="177800" dist="38100" dir="5400000">
              <a:srgbClr val="000000">
                <a:alpha val="28000"/>
              </a:srgbClr>
            </a:outerShdw>
          </a:effectLst>
        </p:spPr>
      </p:sp>
      <p:sp>
        <p:nvSpPr>
          <p:cNvPr id="39" name="Shape 31"/>
          <p:cNvSpPr/>
          <p:nvPr/>
        </p:nvSpPr>
        <p:spPr>
          <a:xfrm>
            <a:off x="8193024" y="3108960"/>
            <a:ext cx="475488" cy="475488"/>
          </a:xfrm>
          <a:prstGeom prst="ellipse">
            <a:avLst/>
          </a:prstGeom>
          <a:solidFill>
            <a:srgbClr val="F97316"/>
          </a:solidFill>
          <a:ln w="12700">
            <a:solidFill>
              <a:srgbClr val="F97316"/>
            </a:solidFill>
            <a:prstDash val="solid"/>
          </a:ln>
        </p:spPr>
      </p:sp>
      <p:pic>
        <p:nvPicPr>
          <p:cNvPr id="40" name="Image 6" descr="icons/database-w.png">    </p:cNvPr>
          <p:cNvPicPr>
            <a:picLocks noChangeAspect="1"/>
          </p:cNvPicPr>
          <p:nvPr/>
        </p:nvPicPr>
        <p:blipFill>
          <a:blip r:embed="rId7"/>
          <a:stretch>
            <a:fillRect/>
          </a:stretch>
        </p:blipFill>
        <p:spPr>
          <a:xfrm>
            <a:off x="8309519" y="3225455"/>
            <a:ext cx="242499" cy="242499"/>
          </a:xfrm>
          <a:prstGeom prst="rect">
            <a:avLst/>
          </a:prstGeom>
        </p:spPr>
      </p:pic>
      <p:sp>
        <p:nvSpPr>
          <p:cNvPr id="41" name="Text 32"/>
          <p:cNvSpPr txBox="1"/>
          <p:nvPr/>
        </p:nvSpPr>
        <p:spPr>
          <a:xfrm>
            <a:off x="8796528" y="3090672"/>
            <a:ext cx="210312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LAWmuler</a:t>
            </a:r>
            <a:endParaRPr lang="en-US" sz="1250" dirty="0"/>
          </a:p>
        </p:txBody>
      </p:sp>
      <p:sp>
        <p:nvSpPr>
          <p:cNvPr id="42" name="Text 33"/>
          <p:cNvSpPr txBox="1"/>
          <p:nvPr/>
        </p:nvSpPr>
        <p:spPr>
          <a:xfrm>
            <a:off x="8796528" y="3346704"/>
            <a:ext cx="2194560" cy="237744"/>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Log Analytics workspace</a:t>
            </a:r>
            <a:endParaRPr lang="en-US" sz="950" dirty="0"/>
          </a:p>
        </p:txBody>
      </p:sp>
      <p:sp>
        <p:nvSpPr>
          <p:cNvPr id="43" name="Shape 34"/>
          <p:cNvSpPr/>
          <p:nvPr/>
        </p:nvSpPr>
        <p:spPr>
          <a:xfrm>
            <a:off x="8193024" y="3730752"/>
            <a:ext cx="2724912" cy="932688"/>
          </a:xfrm>
          <a:prstGeom prst="roundRect">
            <a:avLst>
              <a:gd name="adj" fmla="val 7843"/>
            </a:avLst>
          </a:prstGeom>
          <a:solidFill>
            <a:srgbClr val="F97316"/>
          </a:solidFill>
          <a:ln w="12700">
            <a:solidFill>
              <a:srgbClr val="F97316"/>
            </a:solidFill>
            <a:prstDash val="solid"/>
          </a:ln>
        </p:spPr>
      </p:sp>
      <p:pic>
        <p:nvPicPr>
          <p:cNvPr id="44" name="Image 7" descr="icons/shield-n.png">    </p:cNvPr>
          <p:cNvPicPr>
            <a:picLocks noChangeAspect="1"/>
          </p:cNvPicPr>
          <p:nvPr/>
        </p:nvPicPr>
        <p:blipFill>
          <a:blip r:embed="rId8"/>
          <a:stretch>
            <a:fillRect/>
          </a:stretch>
        </p:blipFill>
        <p:spPr>
          <a:xfrm>
            <a:off x="8375904" y="3931920"/>
            <a:ext cx="274320" cy="274320"/>
          </a:xfrm>
          <a:prstGeom prst="rect">
            <a:avLst/>
          </a:prstGeom>
        </p:spPr>
      </p:pic>
      <p:sp>
        <p:nvSpPr>
          <p:cNvPr id="45" name="Text 35"/>
          <p:cNvSpPr txBox="1"/>
          <p:nvPr/>
        </p:nvSpPr>
        <p:spPr>
          <a:xfrm>
            <a:off x="8778240" y="3877056"/>
            <a:ext cx="2011680" cy="256032"/>
          </a:xfrm>
          <a:prstGeom prst="rect">
            <a:avLst/>
          </a:prstGeom>
          <a:noFill/>
          <a:ln/>
        </p:spPr>
        <p:txBody>
          <a:bodyPr wrap="square" lIns="0" tIns="0" rIns="0" bIns="0" rtlCol="0" anchor="ctr"/>
          <a:lstStyle/>
          <a:p>
            <a:pPr indent="0" marL="0">
              <a:buNone/>
            </a:pPr>
            <a:r>
              <a:rPr lang="en-US" sz="1250" b="1" dirty="0">
                <a:solidFill>
                  <a:srgbClr val="1A0E03"/>
                </a:solidFill>
                <a:latin typeface="Calibri" pitchFamily="34" charset="0"/>
                <a:ea typeface="Calibri" pitchFamily="34" charset="-122"/>
                <a:cs typeface="Calibri" pitchFamily="34" charset="-120"/>
              </a:rPr>
              <a:t>Microsoft Sentinel</a:t>
            </a:r>
            <a:endParaRPr lang="en-US" sz="1250" dirty="0"/>
          </a:p>
        </p:txBody>
      </p:sp>
      <p:sp>
        <p:nvSpPr>
          <p:cNvPr id="46" name="Text 36"/>
          <p:cNvSpPr txBox="1"/>
          <p:nvPr/>
        </p:nvSpPr>
        <p:spPr>
          <a:xfrm>
            <a:off x="8778240" y="4151376"/>
            <a:ext cx="2103120" cy="237744"/>
          </a:xfrm>
          <a:prstGeom prst="rect">
            <a:avLst/>
          </a:prstGeom>
          <a:noFill/>
          <a:ln/>
        </p:spPr>
        <p:txBody>
          <a:bodyPr wrap="square" lIns="0" tIns="0" rIns="0" bIns="0" rtlCol="0" anchor="ctr"/>
          <a:lstStyle/>
          <a:p>
            <a:pPr indent="0" marL="0">
              <a:buNone/>
            </a:pPr>
            <a:r>
              <a:rPr lang="en-US" sz="950" dirty="0">
                <a:solidFill>
                  <a:srgbClr val="3D2307"/>
                </a:solidFill>
                <a:latin typeface="Calibri" pitchFamily="34" charset="0"/>
                <a:ea typeface="Calibri" pitchFamily="34" charset="-122"/>
                <a:cs typeface="Calibri" pitchFamily="34" charset="-120"/>
              </a:rPr>
              <a:t>SecurityInsights (lawmuler)</a:t>
            </a:r>
            <a:endParaRPr lang="en-US" sz="950" dirty="0"/>
          </a:p>
        </p:txBody>
      </p:sp>
      <p:sp>
        <p:nvSpPr>
          <p:cNvPr id="47" name="Text 37"/>
          <p:cNvSpPr txBox="1"/>
          <p:nvPr/>
        </p:nvSpPr>
        <p:spPr>
          <a:xfrm>
            <a:off x="7991856" y="4992624"/>
            <a:ext cx="3127248" cy="256032"/>
          </a:xfrm>
          <a:prstGeom prst="rect">
            <a:avLst/>
          </a:prstGeom>
          <a:noFill/>
          <a:ln/>
        </p:spPr>
        <p:txBody>
          <a:bodyPr wrap="square" lIns="0" tIns="0" rIns="0" bIns="0" rtlCol="0" anchor="ctr"/>
          <a:lstStyle/>
          <a:p>
            <a:pPr indent="0" marL="0">
              <a:buNone/>
            </a:pPr>
            <a:r>
              <a:rPr lang="en-US" sz="950" i="1" dirty="0">
                <a:solidFill>
                  <a:srgbClr val="8D919C"/>
                </a:solidFill>
                <a:latin typeface="Calibri" pitchFamily="34" charset="0"/>
                <a:ea typeface="Calibri" pitchFamily="34" charset="-122"/>
                <a:cs typeface="Calibri" pitchFamily="34" charset="-120"/>
              </a:rPr>
              <a:t>Tables: SecurityEvent  ·  Syslog  ·  AzureActivity</a:t>
            </a:r>
            <a:endParaRPr lang="en-US" sz="950" dirty="0"/>
          </a:p>
        </p:txBody>
      </p:sp>
      <p:sp>
        <p:nvSpPr>
          <p:cNvPr id="48" name="Shape 38"/>
          <p:cNvSpPr/>
          <p:nvPr/>
        </p:nvSpPr>
        <p:spPr>
          <a:xfrm>
            <a:off x="4114800" y="3822192"/>
            <a:ext cx="402336" cy="0"/>
          </a:xfrm>
          <a:prstGeom prst="line">
            <a:avLst/>
          </a:prstGeom>
          <a:noFill/>
          <a:ln w="22225">
            <a:solidFill>
              <a:srgbClr val="F97316"/>
            </a:solidFill>
            <a:prstDash val="solid"/>
            <a:tailEnd type="triangle"/>
          </a:ln>
        </p:spPr>
      </p:sp>
      <p:sp>
        <p:nvSpPr>
          <p:cNvPr id="49" name="Shape 39"/>
          <p:cNvSpPr/>
          <p:nvPr/>
        </p:nvSpPr>
        <p:spPr>
          <a:xfrm>
            <a:off x="7589520" y="3822192"/>
            <a:ext cx="402336" cy="0"/>
          </a:xfrm>
          <a:prstGeom prst="line">
            <a:avLst/>
          </a:prstGeom>
          <a:noFill/>
          <a:ln w="22225">
            <a:solidFill>
              <a:srgbClr val="F97316"/>
            </a:solidFill>
            <a:prstDash val="solid"/>
            <a:tailEnd type="triangle"/>
          </a:ln>
        </p:spPr>
      </p:sp>
      <p:sp>
        <p:nvSpPr>
          <p:cNvPr id="50" name="Text 40"/>
          <p:cNvSpPr txBox="1"/>
          <p:nvPr/>
        </p:nvSpPr>
        <p:spPr>
          <a:xfrm>
            <a:off x="1042416" y="5248656"/>
            <a:ext cx="182880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Supporting infrastructure</a:t>
            </a:r>
            <a:endParaRPr lang="en-US" sz="1000" dirty="0"/>
          </a:p>
        </p:txBody>
      </p:sp>
      <p:sp>
        <p:nvSpPr>
          <p:cNvPr id="51" name="Shape 41"/>
          <p:cNvSpPr/>
          <p:nvPr/>
        </p:nvSpPr>
        <p:spPr>
          <a:xfrm>
            <a:off x="2926080" y="5248656"/>
            <a:ext cx="1375258" cy="292608"/>
          </a:xfrm>
          <a:prstGeom prst="roundRect">
            <a:avLst>
              <a:gd name="adj" fmla="val 50000"/>
            </a:avLst>
          </a:prstGeom>
          <a:solidFill>
            <a:srgbClr val="24272F"/>
          </a:solidFill>
          <a:ln w="12700">
            <a:solidFill>
              <a:srgbClr val="24272F"/>
            </a:solidFill>
            <a:prstDash val="solid"/>
          </a:ln>
        </p:spPr>
      </p:sp>
      <p:sp>
        <p:nvSpPr>
          <p:cNvPr id="52" name="Text 42"/>
          <p:cNvSpPr txBox="1"/>
          <p:nvPr/>
        </p:nvSpPr>
        <p:spPr>
          <a:xfrm>
            <a:off x="2926080" y="5248656"/>
            <a:ext cx="1375258" cy="292608"/>
          </a:xfrm>
          <a:prstGeom prst="rect">
            <a:avLst/>
          </a:prstGeom>
          <a:noFill/>
          <a:ln/>
        </p:spPr>
        <p:txBody>
          <a:bodyPr wrap="square" lIns="0" tIns="0" rIns="0" bIns="0" rtlCol="0" anchor="ctr"/>
          <a:lstStyle/>
          <a:p>
            <a:pPr algn="ctr" indent="0" marL="0">
              <a:buNone/>
            </a:pPr>
            <a:r>
              <a:rPr lang="en-US" sz="900" b="1" spc="40" kern="0" dirty="0">
                <a:solidFill>
                  <a:srgbClr val="D8DBE3"/>
                </a:solidFill>
                <a:latin typeface="Calibri" pitchFamily="34" charset="0"/>
                <a:ea typeface="Calibri" pitchFamily="34" charset="-122"/>
                <a:cs typeface="Calibri" pitchFamily="34" charset="-120"/>
              </a:rPr>
              <a:t>vnet-eastus-1</a:t>
            </a:r>
            <a:endParaRPr lang="en-US" sz="900" dirty="0"/>
          </a:p>
        </p:txBody>
      </p:sp>
      <p:sp>
        <p:nvSpPr>
          <p:cNvPr id="53" name="Shape 43"/>
          <p:cNvSpPr/>
          <p:nvPr/>
        </p:nvSpPr>
        <p:spPr>
          <a:xfrm>
            <a:off x="4420210" y="5248656"/>
            <a:ext cx="892454" cy="292608"/>
          </a:xfrm>
          <a:prstGeom prst="roundRect">
            <a:avLst>
              <a:gd name="adj" fmla="val 50000"/>
            </a:avLst>
          </a:prstGeom>
          <a:solidFill>
            <a:srgbClr val="24272F"/>
          </a:solidFill>
          <a:ln w="12700">
            <a:solidFill>
              <a:srgbClr val="24272F"/>
            </a:solidFill>
            <a:prstDash val="solid"/>
          </a:ln>
        </p:spPr>
      </p:sp>
      <p:sp>
        <p:nvSpPr>
          <p:cNvPr id="54" name="Text 44"/>
          <p:cNvSpPr txBox="1"/>
          <p:nvPr/>
        </p:nvSpPr>
        <p:spPr>
          <a:xfrm>
            <a:off x="4420210" y="5248656"/>
            <a:ext cx="892454" cy="292608"/>
          </a:xfrm>
          <a:prstGeom prst="rect">
            <a:avLst/>
          </a:prstGeom>
          <a:noFill/>
          <a:ln/>
        </p:spPr>
        <p:txBody>
          <a:bodyPr wrap="square" lIns="0" tIns="0" rIns="0" bIns="0" rtlCol="0" anchor="ctr"/>
          <a:lstStyle/>
          <a:p>
            <a:pPr algn="ctr" indent="0" marL="0">
              <a:buNone/>
            </a:pPr>
            <a:r>
              <a:rPr lang="en-US" sz="900" b="1" spc="40" kern="0" dirty="0">
                <a:solidFill>
                  <a:srgbClr val="D8DBE3"/>
                </a:solidFill>
                <a:latin typeface="Calibri" pitchFamily="34" charset="0"/>
                <a:ea typeface="Calibri" pitchFamily="34" charset="-122"/>
                <a:cs typeface="Calibri" pitchFamily="34" charset="-120"/>
              </a:rPr>
              <a:t>Bastion</a:t>
            </a:r>
            <a:endParaRPr lang="en-US" sz="900" dirty="0"/>
          </a:p>
        </p:txBody>
      </p:sp>
      <p:sp>
        <p:nvSpPr>
          <p:cNvPr id="55" name="Shape 45"/>
          <p:cNvSpPr/>
          <p:nvPr/>
        </p:nvSpPr>
        <p:spPr>
          <a:xfrm>
            <a:off x="5431536" y="5248656"/>
            <a:ext cx="2099462" cy="292608"/>
          </a:xfrm>
          <a:prstGeom prst="roundRect">
            <a:avLst>
              <a:gd name="adj" fmla="val 50000"/>
            </a:avLst>
          </a:prstGeom>
          <a:solidFill>
            <a:srgbClr val="24272F"/>
          </a:solidFill>
          <a:ln w="12700">
            <a:solidFill>
              <a:srgbClr val="24272F"/>
            </a:solidFill>
            <a:prstDash val="solid"/>
          </a:ln>
        </p:spPr>
      </p:sp>
      <p:sp>
        <p:nvSpPr>
          <p:cNvPr id="56" name="Text 46"/>
          <p:cNvSpPr txBox="1"/>
          <p:nvPr/>
        </p:nvSpPr>
        <p:spPr>
          <a:xfrm>
            <a:off x="5431536" y="5248656"/>
            <a:ext cx="2099462" cy="292608"/>
          </a:xfrm>
          <a:prstGeom prst="rect">
            <a:avLst/>
          </a:prstGeom>
          <a:noFill/>
          <a:ln/>
        </p:spPr>
        <p:txBody>
          <a:bodyPr wrap="square" lIns="0" tIns="0" rIns="0" bIns="0" rtlCol="0" anchor="ctr"/>
          <a:lstStyle/>
          <a:p>
            <a:pPr algn="ctr" indent="0" marL="0">
              <a:buNone/>
            </a:pPr>
            <a:r>
              <a:rPr lang="en-US" sz="900" b="1" spc="40" kern="0" dirty="0">
                <a:solidFill>
                  <a:srgbClr val="D8DBE3"/>
                </a:solidFill>
                <a:latin typeface="Calibri" pitchFamily="34" charset="0"/>
                <a:ea typeface="Calibri" pitchFamily="34" charset="-122"/>
                <a:cs typeface="Calibri" pitchFamily="34" charset="-120"/>
              </a:rPr>
              <a:t>Network security group</a:t>
            </a:r>
            <a:endParaRPr lang="en-US" sz="900" dirty="0"/>
          </a:p>
        </p:txBody>
      </p:sp>
      <p:sp>
        <p:nvSpPr>
          <p:cNvPr id="57" name="Shape 47"/>
          <p:cNvSpPr/>
          <p:nvPr/>
        </p:nvSpPr>
        <p:spPr>
          <a:xfrm>
            <a:off x="7649870" y="5248656"/>
            <a:ext cx="1053389" cy="292608"/>
          </a:xfrm>
          <a:prstGeom prst="roundRect">
            <a:avLst>
              <a:gd name="adj" fmla="val 50000"/>
            </a:avLst>
          </a:prstGeom>
          <a:solidFill>
            <a:srgbClr val="24272F"/>
          </a:solidFill>
          <a:ln w="12700">
            <a:solidFill>
              <a:srgbClr val="24272F"/>
            </a:solidFill>
            <a:prstDash val="solid"/>
          </a:ln>
        </p:spPr>
      </p:sp>
      <p:sp>
        <p:nvSpPr>
          <p:cNvPr id="58" name="Text 48"/>
          <p:cNvSpPr txBox="1"/>
          <p:nvPr/>
        </p:nvSpPr>
        <p:spPr>
          <a:xfrm>
            <a:off x="7649870" y="5248656"/>
            <a:ext cx="1053389" cy="292608"/>
          </a:xfrm>
          <a:prstGeom prst="rect">
            <a:avLst/>
          </a:prstGeom>
          <a:noFill/>
          <a:ln/>
        </p:spPr>
        <p:txBody>
          <a:bodyPr wrap="square" lIns="0" tIns="0" rIns="0" bIns="0" rtlCol="0" anchor="ctr"/>
          <a:lstStyle/>
          <a:p>
            <a:pPr algn="ctr" indent="0" marL="0">
              <a:buNone/>
            </a:pPr>
            <a:r>
              <a:rPr lang="en-US" sz="900" b="1" spc="40" kern="0" dirty="0">
                <a:solidFill>
                  <a:srgbClr val="D8DBE3"/>
                </a:solidFill>
                <a:latin typeface="Calibri" pitchFamily="34" charset="0"/>
                <a:ea typeface="Calibri" pitchFamily="34" charset="-122"/>
                <a:cs typeface="Calibri" pitchFamily="34" charset="-120"/>
              </a:rPr>
              <a:t>Public IP</a:t>
            </a:r>
            <a:endParaRPr lang="en-US" sz="900" dirty="0"/>
          </a:p>
        </p:txBody>
      </p:sp>
      <p:sp>
        <p:nvSpPr>
          <p:cNvPr id="59" name="Shape 49"/>
          <p:cNvSpPr/>
          <p:nvPr/>
        </p:nvSpPr>
        <p:spPr>
          <a:xfrm>
            <a:off x="8822131" y="5248656"/>
            <a:ext cx="892454" cy="292608"/>
          </a:xfrm>
          <a:prstGeom prst="roundRect">
            <a:avLst>
              <a:gd name="adj" fmla="val 50000"/>
            </a:avLst>
          </a:prstGeom>
          <a:solidFill>
            <a:srgbClr val="24272F"/>
          </a:solidFill>
          <a:ln w="12700">
            <a:solidFill>
              <a:srgbClr val="24272F"/>
            </a:solidFill>
            <a:prstDash val="solid"/>
          </a:ln>
        </p:spPr>
      </p:sp>
      <p:sp>
        <p:nvSpPr>
          <p:cNvPr id="60" name="Text 50"/>
          <p:cNvSpPr txBox="1"/>
          <p:nvPr/>
        </p:nvSpPr>
        <p:spPr>
          <a:xfrm>
            <a:off x="8822131" y="5248656"/>
            <a:ext cx="892454" cy="292608"/>
          </a:xfrm>
          <a:prstGeom prst="rect">
            <a:avLst/>
          </a:prstGeom>
          <a:noFill/>
          <a:ln/>
        </p:spPr>
        <p:txBody>
          <a:bodyPr wrap="square" lIns="0" tIns="0" rIns="0" bIns="0" rtlCol="0" anchor="ctr"/>
          <a:lstStyle/>
          <a:p>
            <a:pPr algn="ctr" indent="0" marL="0">
              <a:buNone/>
            </a:pPr>
            <a:r>
              <a:rPr lang="en-US" sz="900" b="1" spc="40" kern="0" dirty="0">
                <a:solidFill>
                  <a:srgbClr val="D8DBE3"/>
                </a:solidFill>
                <a:latin typeface="Calibri" pitchFamily="34" charset="0"/>
                <a:ea typeface="Calibri" pitchFamily="34" charset="-122"/>
                <a:cs typeface="Calibri" pitchFamily="34" charset="-120"/>
              </a:rPr>
              <a:t>SSH key</a:t>
            </a:r>
            <a:endParaRPr lang="en-US" sz="900" dirty="0"/>
          </a:p>
        </p:txBody>
      </p:sp>
      <p:sp>
        <p:nvSpPr>
          <p:cNvPr id="61" name="Shape 51"/>
          <p:cNvSpPr/>
          <p:nvPr/>
        </p:nvSpPr>
        <p:spPr>
          <a:xfrm>
            <a:off x="9833458" y="5248656"/>
            <a:ext cx="1375258" cy="292608"/>
          </a:xfrm>
          <a:prstGeom prst="roundRect">
            <a:avLst>
              <a:gd name="adj" fmla="val 50000"/>
            </a:avLst>
          </a:prstGeom>
          <a:solidFill>
            <a:srgbClr val="24272F"/>
          </a:solidFill>
          <a:ln w="12700">
            <a:solidFill>
              <a:srgbClr val="24272F"/>
            </a:solidFill>
            <a:prstDash val="solid"/>
          </a:ln>
        </p:spPr>
      </p:sp>
      <p:sp>
        <p:nvSpPr>
          <p:cNvPr id="62" name="Text 52"/>
          <p:cNvSpPr txBox="1"/>
          <p:nvPr/>
        </p:nvSpPr>
        <p:spPr>
          <a:xfrm>
            <a:off x="9833458" y="5248656"/>
            <a:ext cx="1375258" cy="292608"/>
          </a:xfrm>
          <a:prstGeom prst="rect">
            <a:avLst/>
          </a:prstGeom>
          <a:noFill/>
          <a:ln/>
        </p:spPr>
        <p:txBody>
          <a:bodyPr wrap="square" lIns="0" tIns="0" rIns="0" bIns="0" rtlCol="0" anchor="ctr"/>
          <a:lstStyle/>
          <a:p>
            <a:pPr algn="ctr" indent="0" marL="0">
              <a:buNone/>
            </a:pPr>
            <a:r>
              <a:rPr lang="en-US" sz="900" b="1" spc="40" kern="0" dirty="0">
                <a:solidFill>
                  <a:srgbClr val="D8DBE3"/>
                </a:solidFill>
                <a:latin typeface="Calibri" pitchFamily="34" charset="0"/>
                <a:ea typeface="Calibri" pitchFamily="34" charset="-122"/>
                <a:cs typeface="Calibri" pitchFamily="34" charset="-120"/>
              </a:rPr>
              <a:t>Managed disks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METHOD</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End-to-end deployment workflow</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6</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1600200" y="2084832"/>
            <a:ext cx="9070848" cy="0"/>
          </a:xfrm>
          <a:prstGeom prst="line">
            <a:avLst/>
          </a:prstGeom>
          <a:noFill/>
          <a:ln w="19050">
            <a:solidFill>
              <a:srgbClr val="454B57"/>
            </a:solidFill>
            <a:prstDash val="sysDot"/>
          </a:ln>
        </p:spPr>
      </p:sp>
      <p:sp>
        <p:nvSpPr>
          <p:cNvPr id="7" name="Shape 5"/>
          <p:cNvSpPr/>
          <p:nvPr/>
        </p:nvSpPr>
        <p:spPr>
          <a:xfrm>
            <a:off x="1316736" y="1801368"/>
            <a:ext cx="566928" cy="566928"/>
          </a:xfrm>
          <a:prstGeom prst="ellipse">
            <a:avLst/>
          </a:prstGeom>
          <a:solidFill>
            <a:srgbClr val="F97316"/>
          </a:solidFill>
          <a:ln w="38100">
            <a:solidFill>
              <a:srgbClr val="0D0E11"/>
            </a:solidFill>
            <a:prstDash val="solid"/>
          </a:ln>
        </p:spPr>
      </p:sp>
      <p:sp>
        <p:nvSpPr>
          <p:cNvPr id="8" name="Text 6"/>
          <p:cNvSpPr txBox="1"/>
          <p:nvPr/>
        </p:nvSpPr>
        <p:spPr>
          <a:xfrm>
            <a:off x="1316736" y="1801368"/>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Shape 7"/>
          <p:cNvSpPr/>
          <p:nvPr/>
        </p:nvSpPr>
        <p:spPr>
          <a:xfrm>
            <a:off x="566928" y="2615184"/>
            <a:ext cx="2066544" cy="2139696"/>
          </a:xfrm>
          <a:prstGeom prst="roundRect">
            <a:avLst>
              <a:gd name="adj" fmla="val 4425"/>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0" name="Text 8"/>
          <p:cNvSpPr txBox="1"/>
          <p:nvPr/>
        </p:nvSpPr>
        <p:spPr>
          <a:xfrm>
            <a:off x="749808" y="2816352"/>
            <a:ext cx="1700784"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Foundation</a:t>
            </a:r>
            <a:endParaRPr lang="en-US" sz="1350" dirty="0"/>
          </a:p>
        </p:txBody>
      </p:sp>
      <p:sp>
        <p:nvSpPr>
          <p:cNvPr id="11" name="Text 9"/>
          <p:cNvSpPr txBox="1"/>
          <p:nvPr/>
        </p:nvSpPr>
        <p:spPr>
          <a:xfrm>
            <a:off x="768096" y="3218688"/>
            <a:ext cx="1664208" cy="1737360"/>
          </a:xfrm>
          <a:prstGeom prst="rect">
            <a:avLst/>
          </a:prstGeom>
          <a:noFill/>
          <a:ln/>
        </p:spPr>
        <p:txBody>
          <a:bodyPr wrap="square" lIns="0" tIns="0" rIns="0" bIns="0" rtlCol="0" anchor="t"/>
          <a:lstStyle/>
          <a:p>
            <a:pPr algn="l" indent="0" marL="0">
              <a:lnSpc>
                <a:spcPts val="1550"/>
              </a:lnSpc>
              <a:buNone/>
            </a:pPr>
            <a:r>
              <a:rPr lang="en-US" sz="1100" dirty="0">
                <a:solidFill>
                  <a:srgbClr val="AFB4BF"/>
                </a:solidFill>
                <a:latin typeface="Calibri" pitchFamily="34" charset="0"/>
                <a:ea typeface="Calibri" pitchFamily="34" charset="-122"/>
                <a:cs typeface="Calibri" pitchFamily="34" charset="-120"/>
              </a:rPr>
              <a:t>Create the rgSIEM resource group and the LAWmuler Log Analytics workspace in East US.</a:t>
            </a:r>
            <a:endParaRPr lang="en-US" sz="1100" dirty="0"/>
          </a:p>
        </p:txBody>
      </p:sp>
      <p:sp>
        <p:nvSpPr>
          <p:cNvPr id="12" name="Shape 10"/>
          <p:cNvSpPr/>
          <p:nvPr/>
        </p:nvSpPr>
        <p:spPr>
          <a:xfrm>
            <a:off x="3584448" y="1801368"/>
            <a:ext cx="566928" cy="566928"/>
          </a:xfrm>
          <a:prstGeom prst="ellipse">
            <a:avLst/>
          </a:prstGeom>
          <a:solidFill>
            <a:srgbClr val="F97316"/>
          </a:solidFill>
          <a:ln w="38100">
            <a:solidFill>
              <a:srgbClr val="0D0E11"/>
            </a:solidFill>
            <a:prstDash val="solid"/>
          </a:ln>
        </p:spPr>
      </p:sp>
      <p:sp>
        <p:nvSpPr>
          <p:cNvPr id="13" name="Text 11"/>
          <p:cNvSpPr txBox="1"/>
          <p:nvPr/>
        </p:nvSpPr>
        <p:spPr>
          <a:xfrm>
            <a:off x="3584448" y="1801368"/>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4" name="Shape 12"/>
          <p:cNvSpPr/>
          <p:nvPr/>
        </p:nvSpPr>
        <p:spPr>
          <a:xfrm>
            <a:off x="2834640" y="2615184"/>
            <a:ext cx="2066544" cy="2139696"/>
          </a:xfrm>
          <a:prstGeom prst="roundRect">
            <a:avLst>
              <a:gd name="adj" fmla="val 4425"/>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5" name="Text 13"/>
          <p:cNvSpPr txBox="1"/>
          <p:nvPr/>
        </p:nvSpPr>
        <p:spPr>
          <a:xfrm>
            <a:off x="3017520" y="2816352"/>
            <a:ext cx="1700784"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Compute</a:t>
            </a:r>
            <a:endParaRPr lang="en-US" sz="1350" dirty="0"/>
          </a:p>
        </p:txBody>
      </p:sp>
      <p:sp>
        <p:nvSpPr>
          <p:cNvPr id="16" name="Text 14"/>
          <p:cNvSpPr txBox="1"/>
          <p:nvPr/>
        </p:nvSpPr>
        <p:spPr>
          <a:xfrm>
            <a:off x="3035808" y="3218688"/>
            <a:ext cx="1664208" cy="1737360"/>
          </a:xfrm>
          <a:prstGeom prst="rect">
            <a:avLst/>
          </a:prstGeom>
          <a:noFill/>
          <a:ln/>
        </p:spPr>
        <p:txBody>
          <a:bodyPr wrap="square" lIns="0" tIns="0" rIns="0" bIns="0" rtlCol="0" anchor="t"/>
          <a:lstStyle/>
          <a:p>
            <a:pPr algn="l" indent="0" marL="0">
              <a:lnSpc>
                <a:spcPts val="1550"/>
              </a:lnSpc>
              <a:buNone/>
            </a:pPr>
            <a:r>
              <a:rPr lang="en-US" sz="1100" dirty="0">
                <a:solidFill>
                  <a:srgbClr val="AFB4BF"/>
                </a:solidFill>
                <a:latin typeface="Calibri" pitchFamily="34" charset="0"/>
                <a:ea typeface="Calibri" pitchFamily="34" charset="-122"/>
                <a:cs typeface="Calibri" pitchFamily="34" charset="-120"/>
              </a:rPr>
              <a:t>Provision WindowsVM and UbuntuVM into the same resource group and the same region.</a:t>
            </a:r>
            <a:endParaRPr lang="en-US" sz="1100" dirty="0"/>
          </a:p>
        </p:txBody>
      </p:sp>
      <p:sp>
        <p:nvSpPr>
          <p:cNvPr id="17" name="Shape 15"/>
          <p:cNvSpPr/>
          <p:nvPr/>
        </p:nvSpPr>
        <p:spPr>
          <a:xfrm>
            <a:off x="5852160" y="1801368"/>
            <a:ext cx="566928" cy="566928"/>
          </a:xfrm>
          <a:prstGeom prst="ellipse">
            <a:avLst/>
          </a:prstGeom>
          <a:solidFill>
            <a:srgbClr val="F97316"/>
          </a:solidFill>
          <a:ln w="38100">
            <a:solidFill>
              <a:srgbClr val="0D0E11"/>
            </a:solidFill>
            <a:prstDash val="solid"/>
          </a:ln>
        </p:spPr>
      </p:sp>
      <p:sp>
        <p:nvSpPr>
          <p:cNvPr id="18" name="Text 16"/>
          <p:cNvSpPr txBox="1"/>
          <p:nvPr/>
        </p:nvSpPr>
        <p:spPr>
          <a:xfrm>
            <a:off x="5852160" y="1801368"/>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9" name="Shape 17"/>
          <p:cNvSpPr/>
          <p:nvPr/>
        </p:nvSpPr>
        <p:spPr>
          <a:xfrm>
            <a:off x="5102352" y="2615184"/>
            <a:ext cx="2066544" cy="2139696"/>
          </a:xfrm>
          <a:prstGeom prst="roundRect">
            <a:avLst>
              <a:gd name="adj" fmla="val 4425"/>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0" name="Text 18"/>
          <p:cNvSpPr txBox="1"/>
          <p:nvPr/>
        </p:nvSpPr>
        <p:spPr>
          <a:xfrm>
            <a:off x="5285232" y="2816352"/>
            <a:ext cx="1700784"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Enable SIEM</a:t>
            </a:r>
            <a:endParaRPr lang="en-US" sz="1350" dirty="0"/>
          </a:p>
        </p:txBody>
      </p:sp>
      <p:sp>
        <p:nvSpPr>
          <p:cNvPr id="21" name="Text 19"/>
          <p:cNvSpPr txBox="1"/>
          <p:nvPr/>
        </p:nvSpPr>
        <p:spPr>
          <a:xfrm>
            <a:off x="5303520" y="3218688"/>
            <a:ext cx="1664208" cy="1737360"/>
          </a:xfrm>
          <a:prstGeom prst="rect">
            <a:avLst/>
          </a:prstGeom>
          <a:noFill/>
          <a:ln/>
        </p:spPr>
        <p:txBody>
          <a:bodyPr wrap="square" lIns="0" tIns="0" rIns="0" bIns="0" rtlCol="0" anchor="t"/>
          <a:lstStyle/>
          <a:p>
            <a:pPr algn="l" indent="0" marL="0">
              <a:lnSpc>
                <a:spcPts val="1550"/>
              </a:lnSpc>
              <a:buNone/>
            </a:pPr>
            <a:r>
              <a:rPr lang="en-US" sz="1100" dirty="0">
                <a:solidFill>
                  <a:srgbClr val="AFB4BF"/>
                </a:solidFill>
                <a:latin typeface="Calibri" pitchFamily="34" charset="0"/>
                <a:ea typeface="Calibri" pitchFamily="34" charset="-122"/>
                <a:cs typeface="Calibri" pitchFamily="34" charset="-120"/>
              </a:rPr>
              <a:t>Turn on Microsoft Sentinel against the workspace to add security analytics.</a:t>
            </a:r>
            <a:endParaRPr lang="en-US" sz="1100" dirty="0"/>
          </a:p>
        </p:txBody>
      </p:sp>
      <p:sp>
        <p:nvSpPr>
          <p:cNvPr id="22" name="Shape 20"/>
          <p:cNvSpPr/>
          <p:nvPr/>
        </p:nvSpPr>
        <p:spPr>
          <a:xfrm>
            <a:off x="8119872" y="1801368"/>
            <a:ext cx="566928" cy="566928"/>
          </a:xfrm>
          <a:prstGeom prst="ellipse">
            <a:avLst/>
          </a:prstGeom>
          <a:solidFill>
            <a:srgbClr val="F97316"/>
          </a:solidFill>
          <a:ln w="38100">
            <a:solidFill>
              <a:srgbClr val="0D0E11"/>
            </a:solidFill>
            <a:prstDash val="solid"/>
          </a:ln>
        </p:spPr>
      </p:sp>
      <p:sp>
        <p:nvSpPr>
          <p:cNvPr id="23" name="Text 21"/>
          <p:cNvSpPr txBox="1"/>
          <p:nvPr/>
        </p:nvSpPr>
        <p:spPr>
          <a:xfrm>
            <a:off x="8119872" y="1801368"/>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4" name="Shape 22"/>
          <p:cNvSpPr/>
          <p:nvPr/>
        </p:nvSpPr>
        <p:spPr>
          <a:xfrm>
            <a:off x="7370064" y="2615184"/>
            <a:ext cx="2066544" cy="2139696"/>
          </a:xfrm>
          <a:prstGeom prst="roundRect">
            <a:avLst>
              <a:gd name="adj" fmla="val 4425"/>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5" name="Text 23"/>
          <p:cNvSpPr txBox="1"/>
          <p:nvPr/>
        </p:nvSpPr>
        <p:spPr>
          <a:xfrm>
            <a:off x="7552944" y="2816352"/>
            <a:ext cx="1700784"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Ingest</a:t>
            </a:r>
            <a:endParaRPr lang="en-US" sz="1350" dirty="0"/>
          </a:p>
        </p:txBody>
      </p:sp>
      <p:sp>
        <p:nvSpPr>
          <p:cNvPr id="26" name="Text 24"/>
          <p:cNvSpPr txBox="1"/>
          <p:nvPr/>
        </p:nvSpPr>
        <p:spPr>
          <a:xfrm>
            <a:off x="7571232" y="3218688"/>
            <a:ext cx="1664208" cy="1737360"/>
          </a:xfrm>
          <a:prstGeom prst="rect">
            <a:avLst/>
          </a:prstGeom>
          <a:noFill/>
          <a:ln/>
        </p:spPr>
        <p:txBody>
          <a:bodyPr wrap="square" lIns="0" tIns="0" rIns="0" bIns="0" rtlCol="0" anchor="t"/>
          <a:lstStyle/>
          <a:p>
            <a:pPr algn="l" indent="0" marL="0">
              <a:lnSpc>
                <a:spcPts val="1550"/>
              </a:lnSpc>
              <a:buNone/>
            </a:pPr>
            <a:r>
              <a:rPr lang="en-US" sz="1100" dirty="0">
                <a:solidFill>
                  <a:srgbClr val="AFB4BF"/>
                </a:solidFill>
                <a:latin typeface="Calibri" pitchFamily="34" charset="0"/>
                <a:ea typeface="Calibri" pitchFamily="34" charset="-122"/>
                <a:cs typeface="Calibri" pitchFamily="34" charset="-120"/>
              </a:rPr>
              <a:t>Install Azure Activity, Windows Security Events and Syslog connectors, then bind Data Collection Rules to the Azure Monitor Agent.</a:t>
            </a:r>
            <a:endParaRPr lang="en-US" sz="1100" dirty="0"/>
          </a:p>
        </p:txBody>
      </p:sp>
      <p:sp>
        <p:nvSpPr>
          <p:cNvPr id="27" name="Shape 25"/>
          <p:cNvSpPr/>
          <p:nvPr/>
        </p:nvSpPr>
        <p:spPr>
          <a:xfrm>
            <a:off x="10387584" y="1801368"/>
            <a:ext cx="566928" cy="566928"/>
          </a:xfrm>
          <a:prstGeom prst="ellipse">
            <a:avLst/>
          </a:prstGeom>
          <a:solidFill>
            <a:srgbClr val="FFB454"/>
          </a:solidFill>
          <a:ln w="38100">
            <a:solidFill>
              <a:srgbClr val="0D0E11"/>
            </a:solidFill>
            <a:prstDash val="solid"/>
          </a:ln>
        </p:spPr>
      </p:sp>
      <p:sp>
        <p:nvSpPr>
          <p:cNvPr id="28" name="Text 26"/>
          <p:cNvSpPr txBox="1"/>
          <p:nvPr/>
        </p:nvSpPr>
        <p:spPr>
          <a:xfrm>
            <a:off x="10387584" y="1801368"/>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29" name="Shape 27"/>
          <p:cNvSpPr/>
          <p:nvPr/>
        </p:nvSpPr>
        <p:spPr>
          <a:xfrm>
            <a:off x="9637776" y="2615184"/>
            <a:ext cx="2066544" cy="2139696"/>
          </a:xfrm>
          <a:prstGeom prst="roundRect">
            <a:avLst>
              <a:gd name="adj" fmla="val 4425"/>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30" name="Text 28"/>
          <p:cNvSpPr txBox="1"/>
          <p:nvPr/>
        </p:nvSpPr>
        <p:spPr>
          <a:xfrm>
            <a:off x="9820656" y="2816352"/>
            <a:ext cx="1700784"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Verify</a:t>
            </a:r>
            <a:endParaRPr lang="en-US" sz="1350" dirty="0"/>
          </a:p>
        </p:txBody>
      </p:sp>
      <p:sp>
        <p:nvSpPr>
          <p:cNvPr id="31" name="Text 29"/>
          <p:cNvSpPr txBox="1"/>
          <p:nvPr/>
        </p:nvSpPr>
        <p:spPr>
          <a:xfrm>
            <a:off x="9838944" y="3218688"/>
            <a:ext cx="1664208" cy="1737360"/>
          </a:xfrm>
          <a:prstGeom prst="rect">
            <a:avLst/>
          </a:prstGeom>
          <a:noFill/>
          <a:ln/>
        </p:spPr>
        <p:txBody>
          <a:bodyPr wrap="square" lIns="0" tIns="0" rIns="0" bIns="0" rtlCol="0" anchor="t"/>
          <a:lstStyle/>
          <a:p>
            <a:pPr algn="l" indent="0" marL="0">
              <a:lnSpc>
                <a:spcPts val="1550"/>
              </a:lnSpc>
              <a:buNone/>
            </a:pPr>
            <a:r>
              <a:rPr lang="en-US" sz="1100" dirty="0">
                <a:solidFill>
                  <a:srgbClr val="AFB4BF"/>
                </a:solidFill>
                <a:latin typeface="Calibri" pitchFamily="34" charset="0"/>
                <a:ea typeface="Calibri" pitchFamily="34" charset="-122"/>
                <a:cs typeface="Calibri" pitchFamily="34" charset="-120"/>
              </a:rPr>
              <a:t>Run KQL queries against SecurityEvent and Syslog to confirm events are arriving.</a:t>
            </a:r>
            <a:endParaRPr lang="en-US" sz="1100" dirty="0"/>
          </a:p>
        </p:txBody>
      </p:sp>
      <p:sp>
        <p:nvSpPr>
          <p:cNvPr id="32" name="Shape 30"/>
          <p:cNvSpPr/>
          <p:nvPr/>
        </p:nvSpPr>
        <p:spPr>
          <a:xfrm>
            <a:off x="566928" y="5084064"/>
            <a:ext cx="11055096" cy="859536"/>
          </a:xfrm>
          <a:prstGeom prst="roundRect">
            <a:avLst>
              <a:gd name="adj" fmla="val 10638"/>
            </a:avLst>
          </a:prstGeom>
          <a:solidFill>
            <a:srgbClr val="1E2129"/>
          </a:solidFill>
          <a:ln w="9525">
            <a:solidFill>
              <a:srgbClr val="2E323B"/>
            </a:solidFill>
            <a:prstDash val="solid"/>
          </a:ln>
        </p:spPr>
      </p:sp>
      <p:pic>
        <p:nvPicPr>
          <p:cNvPr id="33" name="Image 0" descr="icons/alert-o.png">    </p:cNvPr>
          <p:cNvPicPr>
            <a:picLocks noChangeAspect="1"/>
          </p:cNvPicPr>
          <p:nvPr/>
        </p:nvPicPr>
        <p:blipFill>
          <a:blip r:embed="rId1"/>
          <a:stretch>
            <a:fillRect/>
          </a:stretch>
        </p:blipFill>
        <p:spPr>
          <a:xfrm>
            <a:off x="859536" y="5394960"/>
            <a:ext cx="237744" cy="237744"/>
          </a:xfrm>
          <a:prstGeom prst="rect">
            <a:avLst/>
          </a:prstGeom>
        </p:spPr>
      </p:pic>
      <p:sp>
        <p:nvSpPr>
          <p:cNvPr id="34" name="Text 31"/>
          <p:cNvSpPr txBox="1"/>
          <p:nvPr/>
        </p:nvSpPr>
        <p:spPr>
          <a:xfrm>
            <a:off x="1261872" y="5084064"/>
            <a:ext cx="10058400" cy="859536"/>
          </a:xfrm>
          <a:prstGeom prst="rect">
            <a:avLst/>
          </a:prstGeom>
          <a:noFill/>
          <a:ln/>
        </p:spPr>
        <p:txBody>
          <a:bodyPr wrap="square" lIns="0" tIns="0" rIns="0" bIns="0" rtlCol="0" anchor="ctr"/>
          <a:lstStyle/>
          <a:p>
            <a:pPr indent="0" marL="0">
              <a:lnSpc>
                <a:spcPts val="1700"/>
              </a:lnSpc>
              <a:buNone/>
            </a:pPr>
            <a:r>
              <a:rPr lang="en-US" sz="1200" dirty="0">
                <a:solidFill>
                  <a:srgbClr val="C6CAD3"/>
                </a:solidFill>
                <a:latin typeface="Calibri" pitchFamily="34" charset="0"/>
                <a:ea typeface="Calibri" pitchFamily="34" charset="-122"/>
                <a:cs typeface="Calibri" pitchFamily="34" charset="-120"/>
              </a:rPr>
              <a:t>Design rule applied throughout: the virtual machines and the Log Analytics workspace are deployed in the same Azure region to minimise latency and avoid cross-region data egress.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FOUNDATION</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Resource group: rgSIEM</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499616"/>
            <a:ext cx="5897880" cy="4434840"/>
          </a:xfrm>
          <a:prstGeom prst="roundRect">
            <a:avLst>
              <a:gd name="adj" fmla="val 1856"/>
            </a:avLst>
          </a:prstGeom>
          <a:solidFill>
            <a:srgbClr val="1B1E24"/>
          </a:solidFill>
          <a:ln w="11430">
            <a:solidFill>
              <a:srgbClr val="3A3F4A"/>
            </a:solidFill>
            <a:prstDash val="solid"/>
          </a:ln>
          <a:effectLst>
            <a:outerShdw sx="100000" sy="100000" kx="0" ky="0" algn="bl" rotWithShape="0" blurRad="228600" dist="38100" dir="5400000">
              <a:srgbClr val="000000">
                <a:alpha val="34000"/>
              </a:srgbClr>
            </a:outerShdw>
          </a:effectLst>
        </p:spPr>
      </p:sp>
      <p:pic>
        <p:nvPicPr>
          <p:cNvPr id="7" name="Image 0" descr="img/image1.png">    </p:cNvPr>
          <p:cNvPicPr>
            <a:picLocks noChangeAspect="1"/>
          </p:cNvPicPr>
          <p:nvPr/>
        </p:nvPicPr>
        <p:blipFill>
          <a:blip r:embed="rId1"/>
          <a:stretch>
            <a:fillRect/>
          </a:stretch>
        </p:blipFill>
        <p:spPr>
          <a:xfrm>
            <a:off x="658368" y="1591056"/>
            <a:ext cx="5715000" cy="4251960"/>
          </a:xfrm>
          <a:prstGeom prst="rect">
            <a:avLst/>
          </a:prstGeom>
        </p:spPr>
      </p:pic>
      <p:sp>
        <p:nvSpPr>
          <p:cNvPr id="8" name="Shape 5"/>
          <p:cNvSpPr/>
          <p:nvPr/>
        </p:nvSpPr>
        <p:spPr>
          <a:xfrm>
            <a:off x="6986016" y="1591056"/>
            <a:ext cx="4636008" cy="2596896"/>
          </a:xfrm>
          <a:prstGeom prst="roundRect">
            <a:avLst>
              <a:gd name="adj" fmla="val 3521"/>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9" name="Text 6"/>
          <p:cNvSpPr txBox="1"/>
          <p:nvPr/>
        </p:nvSpPr>
        <p:spPr>
          <a:xfrm>
            <a:off x="7278624" y="1847088"/>
            <a:ext cx="4050792"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Core SIEM resources</a:t>
            </a:r>
            <a:endParaRPr lang="en-US" sz="1350" dirty="0"/>
          </a:p>
        </p:txBody>
      </p:sp>
      <p:sp>
        <p:nvSpPr>
          <p:cNvPr id="10" name="Shape 7"/>
          <p:cNvSpPr/>
          <p:nvPr/>
        </p:nvSpPr>
        <p:spPr>
          <a:xfrm>
            <a:off x="7296912" y="2331720"/>
            <a:ext cx="128016" cy="128016"/>
          </a:xfrm>
          <a:prstGeom prst="ellipse">
            <a:avLst/>
          </a:prstGeom>
          <a:solidFill>
            <a:srgbClr val="FFB454"/>
          </a:solidFill>
          <a:ln w="12700">
            <a:solidFill>
              <a:srgbClr val="FFB454"/>
            </a:solidFill>
            <a:prstDash val="solid"/>
          </a:ln>
        </p:spPr>
      </p:sp>
      <p:sp>
        <p:nvSpPr>
          <p:cNvPr id="11" name="Text 8"/>
          <p:cNvSpPr txBox="1"/>
          <p:nvPr/>
        </p:nvSpPr>
        <p:spPr>
          <a:xfrm>
            <a:off x="7552944" y="2231136"/>
            <a:ext cx="3721608"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LAWmuler</a:t>
            </a:r>
            <a:endParaRPr lang="en-US" sz="1150" dirty="0"/>
          </a:p>
        </p:txBody>
      </p:sp>
      <p:sp>
        <p:nvSpPr>
          <p:cNvPr id="12" name="Text 9"/>
          <p:cNvSpPr txBox="1"/>
          <p:nvPr/>
        </p:nvSpPr>
        <p:spPr>
          <a:xfrm>
            <a:off x="7552944" y="2432304"/>
            <a:ext cx="3721608" cy="219456"/>
          </a:xfrm>
          <a:prstGeom prst="rect">
            <a:avLst/>
          </a:prstGeom>
          <a:noFill/>
          <a:ln/>
        </p:spPr>
        <p:txBody>
          <a:bodyPr wrap="square" lIns="0" tIns="0" rIns="0" bIns="0" rtlCol="0" anchor="ctr"/>
          <a:lstStyle/>
          <a:p>
            <a:pPr indent="0" marL="0">
              <a:buNone/>
            </a:pPr>
            <a:r>
              <a:rPr lang="en-US" sz="1000" dirty="0">
                <a:solidFill>
                  <a:srgbClr val="8D919C"/>
                </a:solidFill>
                <a:latin typeface="Calibri" pitchFamily="34" charset="0"/>
                <a:ea typeface="Calibri" pitchFamily="34" charset="-122"/>
                <a:cs typeface="Calibri" pitchFamily="34" charset="-120"/>
              </a:rPr>
              <a:t>Log Analytics workspace</a:t>
            </a:r>
            <a:endParaRPr lang="en-US" sz="1000" dirty="0"/>
          </a:p>
        </p:txBody>
      </p:sp>
      <p:sp>
        <p:nvSpPr>
          <p:cNvPr id="13" name="Shape 10"/>
          <p:cNvSpPr/>
          <p:nvPr/>
        </p:nvSpPr>
        <p:spPr>
          <a:xfrm>
            <a:off x="7296912" y="2788920"/>
            <a:ext cx="128016" cy="128016"/>
          </a:xfrm>
          <a:prstGeom prst="ellipse">
            <a:avLst/>
          </a:prstGeom>
          <a:solidFill>
            <a:srgbClr val="FFB454"/>
          </a:solidFill>
          <a:ln w="12700">
            <a:solidFill>
              <a:srgbClr val="FFB454"/>
            </a:solidFill>
            <a:prstDash val="solid"/>
          </a:ln>
        </p:spPr>
      </p:sp>
      <p:sp>
        <p:nvSpPr>
          <p:cNvPr id="14" name="Text 11"/>
          <p:cNvSpPr txBox="1"/>
          <p:nvPr/>
        </p:nvSpPr>
        <p:spPr>
          <a:xfrm>
            <a:off x="7552944" y="2688336"/>
            <a:ext cx="3721608"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SecurityInsights (lawmuler)</a:t>
            </a:r>
            <a:endParaRPr lang="en-US" sz="1150" dirty="0"/>
          </a:p>
        </p:txBody>
      </p:sp>
      <p:sp>
        <p:nvSpPr>
          <p:cNvPr id="15" name="Text 12"/>
          <p:cNvSpPr txBox="1"/>
          <p:nvPr/>
        </p:nvSpPr>
        <p:spPr>
          <a:xfrm>
            <a:off x="7552944" y="2889504"/>
            <a:ext cx="3721608" cy="219456"/>
          </a:xfrm>
          <a:prstGeom prst="rect">
            <a:avLst/>
          </a:prstGeom>
          <a:noFill/>
          <a:ln/>
        </p:spPr>
        <p:txBody>
          <a:bodyPr wrap="square" lIns="0" tIns="0" rIns="0" bIns="0" rtlCol="0" anchor="ctr"/>
          <a:lstStyle/>
          <a:p>
            <a:pPr indent="0" marL="0">
              <a:buNone/>
            </a:pPr>
            <a:r>
              <a:rPr lang="en-US" sz="1000" dirty="0">
                <a:solidFill>
                  <a:srgbClr val="8D919C"/>
                </a:solidFill>
                <a:latin typeface="Calibri" pitchFamily="34" charset="0"/>
                <a:ea typeface="Calibri" pitchFamily="34" charset="-122"/>
                <a:cs typeface="Calibri" pitchFamily="34" charset="-120"/>
              </a:rPr>
              <a:t>Microsoft Sentinel solution</a:t>
            </a:r>
            <a:endParaRPr lang="en-US" sz="1000" dirty="0"/>
          </a:p>
        </p:txBody>
      </p:sp>
      <p:sp>
        <p:nvSpPr>
          <p:cNvPr id="16" name="Shape 13"/>
          <p:cNvSpPr/>
          <p:nvPr/>
        </p:nvSpPr>
        <p:spPr>
          <a:xfrm>
            <a:off x="7296912" y="3246120"/>
            <a:ext cx="128016" cy="128016"/>
          </a:xfrm>
          <a:prstGeom prst="ellipse">
            <a:avLst/>
          </a:prstGeom>
          <a:solidFill>
            <a:srgbClr val="FFB454"/>
          </a:solidFill>
          <a:ln w="12700">
            <a:solidFill>
              <a:srgbClr val="FFB454"/>
            </a:solidFill>
            <a:prstDash val="solid"/>
          </a:ln>
        </p:spPr>
      </p:sp>
      <p:sp>
        <p:nvSpPr>
          <p:cNvPr id="17" name="Text 14"/>
          <p:cNvSpPr txBox="1"/>
          <p:nvPr/>
        </p:nvSpPr>
        <p:spPr>
          <a:xfrm>
            <a:off x="7552944" y="3145536"/>
            <a:ext cx="3721608"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mywindowsDCR / myubuntuDCRnew</a:t>
            </a:r>
            <a:endParaRPr lang="en-US" sz="1150" dirty="0"/>
          </a:p>
        </p:txBody>
      </p:sp>
      <p:sp>
        <p:nvSpPr>
          <p:cNvPr id="18" name="Text 15"/>
          <p:cNvSpPr txBox="1"/>
          <p:nvPr/>
        </p:nvSpPr>
        <p:spPr>
          <a:xfrm>
            <a:off x="7552944" y="3346704"/>
            <a:ext cx="3721608" cy="219456"/>
          </a:xfrm>
          <a:prstGeom prst="rect">
            <a:avLst/>
          </a:prstGeom>
          <a:noFill/>
          <a:ln/>
        </p:spPr>
        <p:txBody>
          <a:bodyPr wrap="square" lIns="0" tIns="0" rIns="0" bIns="0" rtlCol="0" anchor="ctr"/>
          <a:lstStyle/>
          <a:p>
            <a:pPr indent="0" marL="0">
              <a:buNone/>
            </a:pPr>
            <a:r>
              <a:rPr lang="en-US" sz="1000" dirty="0">
                <a:solidFill>
                  <a:srgbClr val="8D919C"/>
                </a:solidFill>
                <a:latin typeface="Calibri" pitchFamily="34" charset="0"/>
                <a:ea typeface="Calibri" pitchFamily="34" charset="-122"/>
                <a:cs typeface="Calibri" pitchFamily="34" charset="-120"/>
              </a:rPr>
              <a:t>Data collection rules</a:t>
            </a:r>
            <a:endParaRPr lang="en-US" sz="1000" dirty="0"/>
          </a:p>
        </p:txBody>
      </p:sp>
      <p:sp>
        <p:nvSpPr>
          <p:cNvPr id="19" name="Shape 16"/>
          <p:cNvSpPr/>
          <p:nvPr/>
        </p:nvSpPr>
        <p:spPr>
          <a:xfrm>
            <a:off x="7296912" y="3703320"/>
            <a:ext cx="128016" cy="128016"/>
          </a:xfrm>
          <a:prstGeom prst="ellipse">
            <a:avLst/>
          </a:prstGeom>
          <a:solidFill>
            <a:srgbClr val="FFB454"/>
          </a:solidFill>
          <a:ln w="12700">
            <a:solidFill>
              <a:srgbClr val="FFB454"/>
            </a:solidFill>
            <a:prstDash val="solid"/>
          </a:ln>
        </p:spPr>
      </p:sp>
      <p:sp>
        <p:nvSpPr>
          <p:cNvPr id="20" name="Text 17"/>
          <p:cNvSpPr txBox="1"/>
          <p:nvPr/>
        </p:nvSpPr>
        <p:spPr>
          <a:xfrm>
            <a:off x="7552944" y="3602736"/>
            <a:ext cx="3721608"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UbuntuVM  ·  WindowsVM</a:t>
            </a:r>
            <a:endParaRPr lang="en-US" sz="1150" dirty="0"/>
          </a:p>
        </p:txBody>
      </p:sp>
      <p:sp>
        <p:nvSpPr>
          <p:cNvPr id="21" name="Text 18"/>
          <p:cNvSpPr txBox="1"/>
          <p:nvPr/>
        </p:nvSpPr>
        <p:spPr>
          <a:xfrm>
            <a:off x="7552944" y="3803904"/>
            <a:ext cx="3721608" cy="219456"/>
          </a:xfrm>
          <a:prstGeom prst="rect">
            <a:avLst/>
          </a:prstGeom>
          <a:noFill/>
          <a:ln/>
        </p:spPr>
        <p:txBody>
          <a:bodyPr wrap="square" lIns="0" tIns="0" rIns="0" bIns="0" rtlCol="0" anchor="ctr"/>
          <a:lstStyle/>
          <a:p>
            <a:pPr indent="0" marL="0">
              <a:buNone/>
            </a:pPr>
            <a:r>
              <a:rPr lang="en-US" sz="1000" dirty="0">
                <a:solidFill>
                  <a:srgbClr val="8D919C"/>
                </a:solidFill>
                <a:latin typeface="Calibri" pitchFamily="34" charset="0"/>
                <a:ea typeface="Calibri" pitchFamily="34" charset="-122"/>
                <a:cs typeface="Calibri" pitchFamily="34" charset="-120"/>
              </a:rPr>
              <a:t>Virtual machines</a:t>
            </a:r>
            <a:endParaRPr lang="en-US" sz="1000" dirty="0"/>
          </a:p>
        </p:txBody>
      </p:sp>
      <p:sp>
        <p:nvSpPr>
          <p:cNvPr id="22" name="Shape 19"/>
          <p:cNvSpPr/>
          <p:nvPr/>
        </p:nvSpPr>
        <p:spPr>
          <a:xfrm>
            <a:off x="6986016" y="4334256"/>
            <a:ext cx="4636008" cy="1508760"/>
          </a:xfrm>
          <a:prstGeom prst="roundRect">
            <a:avLst>
              <a:gd name="adj" fmla="val 6061"/>
            </a:avLst>
          </a:prstGeom>
          <a:solidFill>
            <a:srgbClr val="24160A"/>
          </a:solidFill>
          <a:ln w="9525">
            <a:solidFill>
              <a:srgbClr val="5C3512"/>
            </a:solidFill>
            <a:prstDash val="solid"/>
          </a:ln>
          <a:effectLst>
            <a:outerShdw sx="100000" sy="100000" kx="0" ky="0" algn="bl" rotWithShape="0" blurRad="177800" dist="38100" dir="5400000">
              <a:srgbClr val="000000">
                <a:alpha val="27000"/>
              </a:srgbClr>
            </a:outerShdw>
          </a:effectLst>
        </p:spPr>
      </p:sp>
      <p:pic>
        <p:nvPicPr>
          <p:cNvPr id="23" name="Image 1" descr="icons/book-a.png">    </p:cNvPr>
          <p:cNvPicPr>
            <a:picLocks noChangeAspect="1"/>
          </p:cNvPicPr>
          <p:nvPr/>
        </p:nvPicPr>
        <p:blipFill>
          <a:blip r:embed="rId2"/>
          <a:stretch>
            <a:fillRect/>
          </a:stretch>
        </p:blipFill>
        <p:spPr>
          <a:xfrm>
            <a:off x="7296912" y="4553712"/>
            <a:ext cx="237744" cy="237744"/>
          </a:xfrm>
          <a:prstGeom prst="rect">
            <a:avLst/>
          </a:prstGeom>
        </p:spPr>
      </p:pic>
      <p:sp>
        <p:nvSpPr>
          <p:cNvPr id="24" name="Text 20"/>
          <p:cNvSpPr txBox="1"/>
          <p:nvPr/>
        </p:nvSpPr>
        <p:spPr>
          <a:xfrm>
            <a:off x="7644384" y="4517136"/>
            <a:ext cx="3721608" cy="274320"/>
          </a:xfrm>
          <a:prstGeom prst="rect">
            <a:avLst/>
          </a:prstGeom>
          <a:noFill/>
          <a:ln/>
        </p:spPr>
        <p:txBody>
          <a:bodyPr wrap="square" lIns="0" tIns="0" rIns="0" bIns="0" rtlCol="0" anchor="ctr"/>
          <a:lstStyle/>
          <a:p>
            <a:pPr indent="0" marL="0">
              <a:buNone/>
            </a:pPr>
            <a:r>
              <a:rPr lang="en-US" sz="1250" b="1" dirty="0">
                <a:solidFill>
                  <a:srgbClr val="FFA94D"/>
                </a:solidFill>
                <a:latin typeface="Calibri" pitchFamily="34" charset="0"/>
                <a:ea typeface="Calibri" pitchFamily="34" charset="-122"/>
                <a:cs typeface="Calibri" pitchFamily="34" charset="-120"/>
              </a:rPr>
              <a:t>Why one resource group</a:t>
            </a:r>
            <a:endParaRPr lang="en-US" sz="1250" dirty="0"/>
          </a:p>
        </p:txBody>
      </p:sp>
      <p:sp>
        <p:nvSpPr>
          <p:cNvPr id="25" name="Text 21"/>
          <p:cNvSpPr txBox="1"/>
          <p:nvPr/>
        </p:nvSpPr>
        <p:spPr>
          <a:xfrm>
            <a:off x="7296912" y="4901184"/>
            <a:ext cx="4014216" cy="914400"/>
          </a:xfrm>
          <a:prstGeom prst="rect">
            <a:avLst/>
          </a:prstGeom>
          <a:noFill/>
          <a:ln/>
        </p:spPr>
        <p:txBody>
          <a:bodyPr wrap="square" lIns="0" tIns="0" rIns="0" bIns="0" rtlCol="0" anchor="t"/>
          <a:lstStyle/>
          <a:p>
            <a:pPr algn="l" indent="0" marL="0">
              <a:lnSpc>
                <a:spcPts val="1650"/>
              </a:lnSpc>
              <a:buNone/>
            </a:pPr>
            <a:r>
              <a:rPr lang="en-US" sz="1150" dirty="0">
                <a:solidFill>
                  <a:srgbClr val="D2D5DD"/>
                </a:solidFill>
                <a:latin typeface="Calibri" pitchFamily="34" charset="0"/>
                <a:ea typeface="Calibri" pitchFamily="34" charset="-122"/>
                <a:cs typeface="Calibri" pitchFamily="34" charset="-120"/>
              </a:rPr>
              <a:t>Grouping the workspace, rules and machines together keeps lifecycle, access control and cost reporting in one place, and lets the whole lab be torn down in a single operation.</a:t>
            </a:r>
            <a:endParaRPr lang="en-US" sz="1150" dirty="0"/>
          </a:p>
        </p:txBody>
      </p:sp>
      <p:sp>
        <p:nvSpPr>
          <p:cNvPr id="26" name="Text 22"/>
          <p:cNvSpPr txBox="1"/>
          <p:nvPr/>
        </p:nvSpPr>
        <p:spPr>
          <a:xfrm>
            <a:off x="658368" y="5961888"/>
            <a:ext cx="6035040" cy="237744"/>
          </a:xfrm>
          <a:prstGeom prst="rect">
            <a:avLst/>
          </a:prstGeom>
          <a:noFill/>
          <a:ln/>
        </p:spPr>
        <p:txBody>
          <a:bodyPr wrap="square" lIns="0" tIns="0" rIns="0" bIns="0" rtlCol="0" anchor="ctr"/>
          <a:lstStyle/>
          <a:p>
            <a:pPr indent="0" marL="0">
              <a:buNone/>
            </a:pPr>
            <a:r>
              <a:rPr lang="en-US" sz="950" i="1" dirty="0">
                <a:solidFill>
                  <a:srgbClr val="8D919C"/>
                </a:solidFill>
                <a:latin typeface="Calibri" pitchFamily="34" charset="0"/>
                <a:ea typeface="Calibri" pitchFamily="34" charset="-122"/>
                <a:cs typeface="Calibri" pitchFamily="34" charset="-120"/>
              </a:rPr>
              <a:t>Figure 1 — rgSIEM resource group blade, Azure portal</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COMPUTE</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Virtual machine estate</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713232" y="1481328"/>
            <a:ext cx="10762488" cy="2487168"/>
          </a:xfrm>
          <a:prstGeom prst="roundRect">
            <a:avLst>
              <a:gd name="adj" fmla="val 3309"/>
            </a:avLst>
          </a:prstGeom>
          <a:solidFill>
            <a:srgbClr val="1B1E24"/>
          </a:solidFill>
          <a:ln w="11430">
            <a:solidFill>
              <a:srgbClr val="3A3F4A"/>
            </a:solidFill>
            <a:prstDash val="solid"/>
          </a:ln>
          <a:effectLst>
            <a:outerShdw sx="100000" sy="100000" kx="0" ky="0" algn="bl" rotWithShape="0" blurRad="228600" dist="38100" dir="5400000">
              <a:srgbClr val="000000">
                <a:alpha val="34000"/>
              </a:srgbClr>
            </a:outerShdw>
          </a:effectLst>
        </p:spPr>
      </p:sp>
      <p:pic>
        <p:nvPicPr>
          <p:cNvPr id="7" name="Image 0" descr="img/image2.png">    </p:cNvPr>
          <p:cNvPicPr>
            <a:picLocks noChangeAspect="1"/>
          </p:cNvPicPr>
          <p:nvPr/>
        </p:nvPicPr>
        <p:blipFill>
          <a:blip r:embed="rId1"/>
          <a:stretch>
            <a:fillRect/>
          </a:stretch>
        </p:blipFill>
        <p:spPr>
          <a:xfrm>
            <a:off x="804672" y="1572768"/>
            <a:ext cx="10579608" cy="2304288"/>
          </a:xfrm>
          <a:prstGeom prst="rect">
            <a:avLst/>
          </a:prstGeom>
        </p:spPr>
      </p:pic>
      <p:sp>
        <p:nvSpPr>
          <p:cNvPr id="8" name="Text 5"/>
          <p:cNvSpPr txBox="1"/>
          <p:nvPr/>
        </p:nvSpPr>
        <p:spPr>
          <a:xfrm>
            <a:off x="804672" y="3968496"/>
            <a:ext cx="6400800" cy="237744"/>
          </a:xfrm>
          <a:prstGeom prst="rect">
            <a:avLst/>
          </a:prstGeom>
          <a:noFill/>
          <a:ln/>
        </p:spPr>
        <p:txBody>
          <a:bodyPr wrap="square" lIns="0" tIns="0" rIns="0" bIns="0" rtlCol="0" anchor="ctr"/>
          <a:lstStyle/>
          <a:p>
            <a:pPr indent="0" marL="0">
              <a:buNone/>
            </a:pPr>
            <a:r>
              <a:rPr lang="en-US" sz="950" i="1" dirty="0">
                <a:solidFill>
                  <a:srgbClr val="8D919C"/>
                </a:solidFill>
                <a:latin typeface="Calibri" pitchFamily="34" charset="0"/>
                <a:ea typeface="Calibri" pitchFamily="34" charset="-122"/>
                <a:cs typeface="Calibri" pitchFamily="34" charset="-120"/>
              </a:rPr>
              <a:t>Figure 2 — Virtual machines blade, both instances running</a:t>
            </a:r>
            <a:endParaRPr lang="en-US" sz="950" dirty="0"/>
          </a:p>
        </p:txBody>
      </p:sp>
      <p:sp>
        <p:nvSpPr>
          <p:cNvPr id="9" name="Shape 6"/>
          <p:cNvSpPr/>
          <p:nvPr/>
        </p:nvSpPr>
        <p:spPr>
          <a:xfrm>
            <a:off x="566928" y="4315968"/>
            <a:ext cx="5294376" cy="1719072"/>
          </a:xfrm>
          <a:prstGeom prst="roundRect">
            <a:avLst>
              <a:gd name="adj" fmla="val 5319"/>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0" name="Shape 7"/>
          <p:cNvSpPr/>
          <p:nvPr/>
        </p:nvSpPr>
        <p:spPr>
          <a:xfrm>
            <a:off x="841248" y="4553712"/>
            <a:ext cx="512064" cy="512064"/>
          </a:xfrm>
          <a:prstGeom prst="ellipse">
            <a:avLst/>
          </a:prstGeom>
          <a:solidFill>
            <a:srgbClr val="F97316"/>
          </a:solidFill>
          <a:ln w="12700">
            <a:solidFill>
              <a:srgbClr val="F97316"/>
            </a:solidFill>
            <a:prstDash val="solid"/>
          </a:ln>
        </p:spPr>
      </p:sp>
      <p:pic>
        <p:nvPicPr>
          <p:cNvPr id="11" name="Image 1" descr="icons/monitor-w.png">    </p:cNvPr>
          <p:cNvPicPr>
            <a:picLocks noChangeAspect="1"/>
          </p:cNvPicPr>
          <p:nvPr/>
        </p:nvPicPr>
        <p:blipFill>
          <a:blip r:embed="rId2"/>
          <a:stretch>
            <a:fillRect/>
          </a:stretch>
        </p:blipFill>
        <p:spPr>
          <a:xfrm>
            <a:off x="966704" y="4679168"/>
            <a:ext cx="261153" cy="261153"/>
          </a:xfrm>
          <a:prstGeom prst="rect">
            <a:avLst/>
          </a:prstGeom>
        </p:spPr>
      </p:pic>
      <p:sp>
        <p:nvSpPr>
          <p:cNvPr id="12" name="Text 8"/>
          <p:cNvSpPr txBox="1"/>
          <p:nvPr/>
        </p:nvSpPr>
        <p:spPr>
          <a:xfrm>
            <a:off x="1481328" y="4553712"/>
            <a:ext cx="219456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WindowsVM</a:t>
            </a:r>
            <a:endParaRPr lang="en-US" sz="1450" dirty="0"/>
          </a:p>
        </p:txBody>
      </p:sp>
      <p:sp>
        <p:nvSpPr>
          <p:cNvPr id="13" name="Shape 9"/>
          <p:cNvSpPr/>
          <p:nvPr/>
        </p:nvSpPr>
        <p:spPr>
          <a:xfrm>
            <a:off x="4645152" y="4590288"/>
            <a:ext cx="960120" cy="274320"/>
          </a:xfrm>
          <a:prstGeom prst="roundRect">
            <a:avLst>
              <a:gd name="adj" fmla="val 50000"/>
            </a:avLst>
          </a:prstGeom>
          <a:solidFill>
            <a:srgbClr val="12281D"/>
          </a:solidFill>
          <a:ln w="12700">
            <a:solidFill>
              <a:srgbClr val="12281D"/>
            </a:solidFill>
            <a:prstDash val="solid"/>
          </a:ln>
        </p:spPr>
      </p:sp>
      <p:sp>
        <p:nvSpPr>
          <p:cNvPr id="14" name="Text 10"/>
          <p:cNvSpPr txBox="1"/>
          <p:nvPr/>
        </p:nvSpPr>
        <p:spPr>
          <a:xfrm>
            <a:off x="4645152" y="4590288"/>
            <a:ext cx="960120" cy="274320"/>
          </a:xfrm>
          <a:prstGeom prst="rect">
            <a:avLst/>
          </a:prstGeom>
          <a:noFill/>
          <a:ln/>
        </p:spPr>
        <p:txBody>
          <a:bodyPr wrap="square" lIns="0" tIns="0" rIns="0" bIns="0" rtlCol="0" anchor="ctr"/>
          <a:lstStyle/>
          <a:p>
            <a:pPr algn="ctr" indent="0" marL="0">
              <a:buNone/>
            </a:pPr>
            <a:r>
              <a:rPr lang="en-US" sz="900" b="1" spc="40" kern="0" dirty="0">
                <a:solidFill>
                  <a:srgbClr val="58D39B"/>
                </a:solidFill>
                <a:latin typeface="Calibri" pitchFamily="34" charset="0"/>
                <a:ea typeface="Calibri" pitchFamily="34" charset="-122"/>
                <a:cs typeface="Calibri" pitchFamily="34" charset="-120"/>
              </a:rPr>
              <a:t>RUNNING</a:t>
            </a:r>
            <a:endParaRPr lang="en-US" sz="900" dirty="0"/>
          </a:p>
        </p:txBody>
      </p:sp>
      <p:sp>
        <p:nvSpPr>
          <p:cNvPr id="15" name="Text 11"/>
          <p:cNvSpPr txBox="1"/>
          <p:nvPr/>
        </p:nvSpPr>
        <p:spPr>
          <a:xfrm>
            <a:off x="859536" y="5175504"/>
            <a:ext cx="1645920" cy="256032"/>
          </a:xfrm>
          <a:prstGeom prst="rect">
            <a:avLst/>
          </a:prstGeom>
          <a:noFill/>
          <a:ln/>
        </p:spPr>
        <p:txBody>
          <a:bodyPr wrap="square" lIns="0" tIns="0" rIns="0" bIns="0" rtlCol="0" anchor="ctr"/>
          <a:lstStyle/>
          <a:p>
            <a:pPr indent="0" marL="0">
              <a:buNone/>
            </a:pPr>
            <a:r>
              <a:rPr lang="en-US" sz="1050" dirty="0">
                <a:solidFill>
                  <a:srgbClr val="8D919C"/>
                </a:solidFill>
                <a:latin typeface="Calibri" pitchFamily="34" charset="0"/>
                <a:ea typeface="Calibri" pitchFamily="34" charset="-122"/>
                <a:cs typeface="Calibri" pitchFamily="34" charset="-120"/>
              </a:rPr>
              <a:t>Operating system</a:t>
            </a:r>
            <a:endParaRPr lang="en-US" sz="1050" dirty="0"/>
          </a:p>
        </p:txBody>
      </p:sp>
      <p:sp>
        <p:nvSpPr>
          <p:cNvPr id="16" name="Text 12"/>
          <p:cNvSpPr txBox="1"/>
          <p:nvPr/>
        </p:nvSpPr>
        <p:spPr>
          <a:xfrm>
            <a:off x="2487168" y="5175504"/>
            <a:ext cx="3108960" cy="256032"/>
          </a:xfrm>
          <a:prstGeom prst="rect">
            <a:avLst/>
          </a:prstGeom>
          <a:noFill/>
          <a:ln/>
        </p:spPr>
        <p:txBody>
          <a:bodyPr wrap="square" lIns="0" tIns="0" rIns="0" bIns="0" rtlCol="0" anchor="ctr"/>
          <a:lstStyle/>
          <a:p>
            <a:pPr indent="0" marL="0">
              <a:buNone/>
            </a:pPr>
            <a:r>
              <a:rPr lang="en-US" sz="1050" b="1" dirty="0">
                <a:solidFill>
                  <a:srgbClr val="ECEDF1"/>
                </a:solidFill>
                <a:latin typeface="Calibri" pitchFamily="34" charset="0"/>
                <a:ea typeface="Calibri" pitchFamily="34" charset="-122"/>
                <a:cs typeface="Calibri" pitchFamily="34" charset="-120"/>
              </a:rPr>
              <a:t>Windows 11 Pro</a:t>
            </a:r>
            <a:endParaRPr lang="en-US" sz="1050" dirty="0"/>
          </a:p>
        </p:txBody>
      </p:sp>
      <p:sp>
        <p:nvSpPr>
          <p:cNvPr id="17" name="Text 13"/>
          <p:cNvSpPr txBox="1"/>
          <p:nvPr/>
        </p:nvSpPr>
        <p:spPr>
          <a:xfrm>
            <a:off x="859536" y="5458968"/>
            <a:ext cx="1645920" cy="256032"/>
          </a:xfrm>
          <a:prstGeom prst="rect">
            <a:avLst/>
          </a:prstGeom>
          <a:noFill/>
          <a:ln/>
        </p:spPr>
        <p:txBody>
          <a:bodyPr wrap="square" lIns="0" tIns="0" rIns="0" bIns="0" rtlCol="0" anchor="ctr"/>
          <a:lstStyle/>
          <a:p>
            <a:pPr indent="0" marL="0">
              <a:buNone/>
            </a:pPr>
            <a:r>
              <a:rPr lang="en-US" sz="1050" dirty="0">
                <a:solidFill>
                  <a:srgbClr val="8D919C"/>
                </a:solidFill>
                <a:latin typeface="Calibri" pitchFamily="34" charset="0"/>
                <a:ea typeface="Calibri" pitchFamily="34" charset="-122"/>
                <a:cs typeface="Calibri" pitchFamily="34" charset="-120"/>
              </a:rPr>
              <a:t>Size</a:t>
            </a:r>
            <a:endParaRPr lang="en-US" sz="1050" dirty="0"/>
          </a:p>
        </p:txBody>
      </p:sp>
      <p:sp>
        <p:nvSpPr>
          <p:cNvPr id="18" name="Text 14"/>
          <p:cNvSpPr txBox="1"/>
          <p:nvPr/>
        </p:nvSpPr>
        <p:spPr>
          <a:xfrm>
            <a:off x="2487168" y="5458968"/>
            <a:ext cx="3108960" cy="256032"/>
          </a:xfrm>
          <a:prstGeom prst="rect">
            <a:avLst/>
          </a:prstGeom>
          <a:noFill/>
          <a:ln/>
        </p:spPr>
        <p:txBody>
          <a:bodyPr wrap="square" lIns="0" tIns="0" rIns="0" bIns="0" rtlCol="0" anchor="ctr"/>
          <a:lstStyle/>
          <a:p>
            <a:pPr indent="0" marL="0">
              <a:buNone/>
            </a:pPr>
            <a:r>
              <a:rPr lang="en-US" sz="1050" b="1" dirty="0">
                <a:solidFill>
                  <a:srgbClr val="ECEDF1"/>
                </a:solidFill>
                <a:latin typeface="Calibri" pitchFamily="34" charset="0"/>
                <a:ea typeface="Calibri" pitchFamily="34" charset="-122"/>
                <a:cs typeface="Calibri" pitchFamily="34" charset="-120"/>
              </a:rPr>
              <a:t>Standard_F1ads_v7</a:t>
            </a:r>
            <a:endParaRPr lang="en-US" sz="1050" dirty="0"/>
          </a:p>
        </p:txBody>
      </p:sp>
      <p:sp>
        <p:nvSpPr>
          <p:cNvPr id="19" name="Text 15"/>
          <p:cNvSpPr txBox="1"/>
          <p:nvPr/>
        </p:nvSpPr>
        <p:spPr>
          <a:xfrm>
            <a:off x="859536" y="5742432"/>
            <a:ext cx="1645920" cy="256032"/>
          </a:xfrm>
          <a:prstGeom prst="rect">
            <a:avLst/>
          </a:prstGeom>
          <a:noFill/>
          <a:ln/>
        </p:spPr>
        <p:txBody>
          <a:bodyPr wrap="square" lIns="0" tIns="0" rIns="0" bIns="0" rtlCol="0" anchor="ctr"/>
          <a:lstStyle/>
          <a:p>
            <a:pPr indent="0" marL="0">
              <a:buNone/>
            </a:pPr>
            <a:r>
              <a:rPr lang="en-US" sz="1050" dirty="0">
                <a:solidFill>
                  <a:srgbClr val="8D919C"/>
                </a:solidFill>
                <a:latin typeface="Calibri" pitchFamily="34" charset="0"/>
                <a:ea typeface="Calibri" pitchFamily="34" charset="-122"/>
                <a:cs typeface="Calibri" pitchFamily="34" charset="-120"/>
              </a:rPr>
              <a:t>Telemetry</a:t>
            </a:r>
            <a:endParaRPr lang="en-US" sz="1050" dirty="0"/>
          </a:p>
        </p:txBody>
      </p:sp>
      <p:sp>
        <p:nvSpPr>
          <p:cNvPr id="20" name="Text 16"/>
          <p:cNvSpPr txBox="1"/>
          <p:nvPr/>
        </p:nvSpPr>
        <p:spPr>
          <a:xfrm>
            <a:off x="2487168" y="5742432"/>
            <a:ext cx="3108960" cy="256032"/>
          </a:xfrm>
          <a:prstGeom prst="rect">
            <a:avLst/>
          </a:prstGeom>
          <a:noFill/>
          <a:ln/>
        </p:spPr>
        <p:txBody>
          <a:bodyPr wrap="square" lIns="0" tIns="0" rIns="0" bIns="0" rtlCol="0" anchor="ctr"/>
          <a:lstStyle/>
          <a:p>
            <a:pPr indent="0" marL="0">
              <a:buNone/>
            </a:pPr>
            <a:r>
              <a:rPr lang="en-US" sz="1050" b="1" dirty="0">
                <a:solidFill>
                  <a:srgbClr val="ECEDF1"/>
                </a:solidFill>
                <a:latin typeface="Calibri" pitchFamily="34" charset="0"/>
                <a:ea typeface="Calibri" pitchFamily="34" charset="-122"/>
                <a:cs typeface="Calibri" pitchFamily="34" charset="-120"/>
              </a:rPr>
              <a:t>Security event log</a:t>
            </a:r>
            <a:endParaRPr lang="en-US" sz="1050" dirty="0"/>
          </a:p>
        </p:txBody>
      </p:sp>
      <p:sp>
        <p:nvSpPr>
          <p:cNvPr id="21" name="Shape 17"/>
          <p:cNvSpPr/>
          <p:nvPr/>
        </p:nvSpPr>
        <p:spPr>
          <a:xfrm>
            <a:off x="6327648" y="4315968"/>
            <a:ext cx="5294376" cy="1719072"/>
          </a:xfrm>
          <a:prstGeom prst="roundRect">
            <a:avLst>
              <a:gd name="adj" fmla="val 5319"/>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2" name="Shape 18"/>
          <p:cNvSpPr/>
          <p:nvPr/>
        </p:nvSpPr>
        <p:spPr>
          <a:xfrm>
            <a:off x="6601968" y="4553712"/>
            <a:ext cx="512064" cy="512064"/>
          </a:xfrm>
          <a:prstGeom prst="ellipse">
            <a:avLst/>
          </a:prstGeom>
          <a:solidFill>
            <a:srgbClr val="7A3B0B"/>
          </a:solidFill>
          <a:ln w="12700">
            <a:solidFill>
              <a:srgbClr val="7A3B0B"/>
            </a:solidFill>
            <a:prstDash val="solid"/>
          </a:ln>
        </p:spPr>
      </p:sp>
      <p:pic>
        <p:nvPicPr>
          <p:cNvPr id="23" name="Image 2" descr="icons/linux-w.png">    </p:cNvPr>
          <p:cNvPicPr>
            <a:picLocks noChangeAspect="1"/>
          </p:cNvPicPr>
          <p:nvPr/>
        </p:nvPicPr>
        <p:blipFill>
          <a:blip r:embed="rId3"/>
          <a:stretch>
            <a:fillRect/>
          </a:stretch>
        </p:blipFill>
        <p:spPr>
          <a:xfrm>
            <a:off x="6727424" y="4679168"/>
            <a:ext cx="261153" cy="261153"/>
          </a:xfrm>
          <a:prstGeom prst="rect">
            <a:avLst/>
          </a:prstGeom>
        </p:spPr>
      </p:pic>
      <p:sp>
        <p:nvSpPr>
          <p:cNvPr id="24" name="Text 19"/>
          <p:cNvSpPr txBox="1"/>
          <p:nvPr/>
        </p:nvSpPr>
        <p:spPr>
          <a:xfrm>
            <a:off x="7242048" y="4553712"/>
            <a:ext cx="219456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UbuntuVM</a:t>
            </a:r>
            <a:endParaRPr lang="en-US" sz="1450" dirty="0"/>
          </a:p>
        </p:txBody>
      </p:sp>
      <p:sp>
        <p:nvSpPr>
          <p:cNvPr id="25" name="Shape 20"/>
          <p:cNvSpPr/>
          <p:nvPr/>
        </p:nvSpPr>
        <p:spPr>
          <a:xfrm>
            <a:off x="10405872" y="4590288"/>
            <a:ext cx="960120" cy="274320"/>
          </a:xfrm>
          <a:prstGeom prst="roundRect">
            <a:avLst>
              <a:gd name="adj" fmla="val 50000"/>
            </a:avLst>
          </a:prstGeom>
          <a:solidFill>
            <a:srgbClr val="12281D"/>
          </a:solidFill>
          <a:ln w="12700">
            <a:solidFill>
              <a:srgbClr val="12281D"/>
            </a:solidFill>
            <a:prstDash val="solid"/>
          </a:ln>
        </p:spPr>
      </p:sp>
      <p:sp>
        <p:nvSpPr>
          <p:cNvPr id="26" name="Text 21"/>
          <p:cNvSpPr txBox="1"/>
          <p:nvPr/>
        </p:nvSpPr>
        <p:spPr>
          <a:xfrm>
            <a:off x="10405872" y="4590288"/>
            <a:ext cx="960120" cy="274320"/>
          </a:xfrm>
          <a:prstGeom prst="rect">
            <a:avLst/>
          </a:prstGeom>
          <a:noFill/>
          <a:ln/>
        </p:spPr>
        <p:txBody>
          <a:bodyPr wrap="square" lIns="0" tIns="0" rIns="0" bIns="0" rtlCol="0" anchor="ctr"/>
          <a:lstStyle/>
          <a:p>
            <a:pPr algn="ctr" indent="0" marL="0">
              <a:buNone/>
            </a:pPr>
            <a:r>
              <a:rPr lang="en-US" sz="900" b="1" spc="40" kern="0" dirty="0">
                <a:solidFill>
                  <a:srgbClr val="58D39B"/>
                </a:solidFill>
                <a:latin typeface="Calibri" pitchFamily="34" charset="0"/>
                <a:ea typeface="Calibri" pitchFamily="34" charset="-122"/>
                <a:cs typeface="Calibri" pitchFamily="34" charset="-120"/>
              </a:rPr>
              <a:t>RUNNING</a:t>
            </a:r>
            <a:endParaRPr lang="en-US" sz="900" dirty="0"/>
          </a:p>
        </p:txBody>
      </p:sp>
      <p:sp>
        <p:nvSpPr>
          <p:cNvPr id="27" name="Text 22"/>
          <p:cNvSpPr txBox="1"/>
          <p:nvPr/>
        </p:nvSpPr>
        <p:spPr>
          <a:xfrm>
            <a:off x="6620256" y="5175504"/>
            <a:ext cx="1645920" cy="256032"/>
          </a:xfrm>
          <a:prstGeom prst="rect">
            <a:avLst/>
          </a:prstGeom>
          <a:noFill/>
          <a:ln/>
        </p:spPr>
        <p:txBody>
          <a:bodyPr wrap="square" lIns="0" tIns="0" rIns="0" bIns="0" rtlCol="0" anchor="ctr"/>
          <a:lstStyle/>
          <a:p>
            <a:pPr indent="0" marL="0">
              <a:buNone/>
            </a:pPr>
            <a:r>
              <a:rPr lang="en-US" sz="1050" dirty="0">
                <a:solidFill>
                  <a:srgbClr val="8D919C"/>
                </a:solidFill>
                <a:latin typeface="Calibri" pitchFamily="34" charset="0"/>
                <a:ea typeface="Calibri" pitchFamily="34" charset="-122"/>
                <a:cs typeface="Calibri" pitchFamily="34" charset="-120"/>
              </a:rPr>
              <a:t>Operating system</a:t>
            </a:r>
            <a:endParaRPr lang="en-US" sz="1050" dirty="0"/>
          </a:p>
        </p:txBody>
      </p:sp>
      <p:sp>
        <p:nvSpPr>
          <p:cNvPr id="28" name="Text 23"/>
          <p:cNvSpPr txBox="1"/>
          <p:nvPr/>
        </p:nvSpPr>
        <p:spPr>
          <a:xfrm>
            <a:off x="8247888" y="5175504"/>
            <a:ext cx="3108960" cy="256032"/>
          </a:xfrm>
          <a:prstGeom prst="rect">
            <a:avLst/>
          </a:prstGeom>
          <a:noFill/>
          <a:ln/>
        </p:spPr>
        <p:txBody>
          <a:bodyPr wrap="square" lIns="0" tIns="0" rIns="0" bIns="0" rtlCol="0" anchor="ctr"/>
          <a:lstStyle/>
          <a:p>
            <a:pPr indent="0" marL="0">
              <a:buNone/>
            </a:pPr>
            <a:r>
              <a:rPr lang="en-US" sz="1050" b="1" dirty="0">
                <a:solidFill>
                  <a:srgbClr val="ECEDF1"/>
                </a:solidFill>
                <a:latin typeface="Calibri" pitchFamily="34" charset="0"/>
                <a:ea typeface="Calibri" pitchFamily="34" charset="-122"/>
                <a:cs typeface="Calibri" pitchFamily="34" charset="-120"/>
              </a:rPr>
              <a:t>Ubuntu 24</a:t>
            </a:r>
            <a:endParaRPr lang="en-US" sz="1050" dirty="0"/>
          </a:p>
        </p:txBody>
      </p:sp>
      <p:sp>
        <p:nvSpPr>
          <p:cNvPr id="29" name="Text 24"/>
          <p:cNvSpPr txBox="1"/>
          <p:nvPr/>
        </p:nvSpPr>
        <p:spPr>
          <a:xfrm>
            <a:off x="6620256" y="5458968"/>
            <a:ext cx="1645920" cy="256032"/>
          </a:xfrm>
          <a:prstGeom prst="rect">
            <a:avLst/>
          </a:prstGeom>
          <a:noFill/>
          <a:ln/>
        </p:spPr>
        <p:txBody>
          <a:bodyPr wrap="square" lIns="0" tIns="0" rIns="0" bIns="0" rtlCol="0" anchor="ctr"/>
          <a:lstStyle/>
          <a:p>
            <a:pPr indent="0" marL="0">
              <a:buNone/>
            </a:pPr>
            <a:r>
              <a:rPr lang="en-US" sz="1050" dirty="0">
                <a:solidFill>
                  <a:srgbClr val="8D919C"/>
                </a:solidFill>
                <a:latin typeface="Calibri" pitchFamily="34" charset="0"/>
                <a:ea typeface="Calibri" pitchFamily="34" charset="-122"/>
                <a:cs typeface="Calibri" pitchFamily="34" charset="-120"/>
              </a:rPr>
              <a:t>Size</a:t>
            </a:r>
            <a:endParaRPr lang="en-US" sz="1050" dirty="0"/>
          </a:p>
        </p:txBody>
      </p:sp>
      <p:sp>
        <p:nvSpPr>
          <p:cNvPr id="30" name="Text 25"/>
          <p:cNvSpPr txBox="1"/>
          <p:nvPr/>
        </p:nvSpPr>
        <p:spPr>
          <a:xfrm>
            <a:off x="8247888" y="5458968"/>
            <a:ext cx="3108960" cy="256032"/>
          </a:xfrm>
          <a:prstGeom prst="rect">
            <a:avLst/>
          </a:prstGeom>
          <a:noFill/>
          <a:ln/>
        </p:spPr>
        <p:txBody>
          <a:bodyPr wrap="square" lIns="0" tIns="0" rIns="0" bIns="0" rtlCol="0" anchor="ctr"/>
          <a:lstStyle/>
          <a:p>
            <a:pPr indent="0" marL="0">
              <a:buNone/>
            </a:pPr>
            <a:r>
              <a:rPr lang="en-US" sz="1050" b="1" dirty="0">
                <a:solidFill>
                  <a:srgbClr val="ECEDF1"/>
                </a:solidFill>
                <a:latin typeface="Calibri" pitchFamily="34" charset="0"/>
                <a:ea typeface="Calibri" pitchFamily="34" charset="-122"/>
                <a:cs typeface="Calibri" pitchFamily="34" charset="-120"/>
              </a:rPr>
              <a:t>Standard_D2alds_v7</a:t>
            </a:r>
            <a:endParaRPr lang="en-US" sz="1050" dirty="0"/>
          </a:p>
        </p:txBody>
      </p:sp>
      <p:sp>
        <p:nvSpPr>
          <p:cNvPr id="31" name="Text 26"/>
          <p:cNvSpPr txBox="1"/>
          <p:nvPr/>
        </p:nvSpPr>
        <p:spPr>
          <a:xfrm>
            <a:off x="6620256" y="5742432"/>
            <a:ext cx="1645920" cy="256032"/>
          </a:xfrm>
          <a:prstGeom prst="rect">
            <a:avLst/>
          </a:prstGeom>
          <a:noFill/>
          <a:ln/>
        </p:spPr>
        <p:txBody>
          <a:bodyPr wrap="square" lIns="0" tIns="0" rIns="0" bIns="0" rtlCol="0" anchor="ctr"/>
          <a:lstStyle/>
          <a:p>
            <a:pPr indent="0" marL="0">
              <a:buNone/>
            </a:pPr>
            <a:r>
              <a:rPr lang="en-US" sz="1050" dirty="0">
                <a:solidFill>
                  <a:srgbClr val="8D919C"/>
                </a:solidFill>
                <a:latin typeface="Calibri" pitchFamily="34" charset="0"/>
                <a:ea typeface="Calibri" pitchFamily="34" charset="-122"/>
                <a:cs typeface="Calibri" pitchFamily="34" charset="-120"/>
              </a:rPr>
              <a:t>Telemetry</a:t>
            </a:r>
            <a:endParaRPr lang="en-US" sz="1050" dirty="0"/>
          </a:p>
        </p:txBody>
      </p:sp>
      <p:sp>
        <p:nvSpPr>
          <p:cNvPr id="32" name="Text 27"/>
          <p:cNvSpPr txBox="1"/>
          <p:nvPr/>
        </p:nvSpPr>
        <p:spPr>
          <a:xfrm>
            <a:off x="8247888" y="5742432"/>
            <a:ext cx="3108960" cy="256032"/>
          </a:xfrm>
          <a:prstGeom prst="rect">
            <a:avLst/>
          </a:prstGeom>
          <a:noFill/>
          <a:ln/>
        </p:spPr>
        <p:txBody>
          <a:bodyPr wrap="square" lIns="0" tIns="0" rIns="0" bIns="0" rtlCol="0" anchor="ctr"/>
          <a:lstStyle/>
          <a:p>
            <a:pPr indent="0" marL="0">
              <a:buNone/>
            </a:pPr>
            <a:r>
              <a:rPr lang="en-US" sz="1050" b="1" dirty="0">
                <a:solidFill>
                  <a:srgbClr val="ECEDF1"/>
                </a:solidFill>
                <a:latin typeface="Calibri" pitchFamily="34" charset="0"/>
                <a:ea typeface="Calibri" pitchFamily="34" charset="-122"/>
                <a:cs typeface="Calibri" pitchFamily="34" charset="-120"/>
              </a:rPr>
              <a:t>rsyslog facilities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LOG INGESTION</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Data connectors installed</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536192"/>
            <a:ext cx="3520440" cy="2944368"/>
          </a:xfrm>
          <a:prstGeom prst="roundRect">
            <a:avLst>
              <a:gd name="adj" fmla="val 3106"/>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7" name="Shape 5"/>
          <p:cNvSpPr/>
          <p:nvPr/>
        </p:nvSpPr>
        <p:spPr>
          <a:xfrm>
            <a:off x="859536" y="1810512"/>
            <a:ext cx="548640" cy="548640"/>
          </a:xfrm>
          <a:prstGeom prst="ellipse">
            <a:avLst/>
          </a:prstGeom>
          <a:solidFill>
            <a:srgbClr val="F97316"/>
          </a:solidFill>
          <a:ln w="12700">
            <a:solidFill>
              <a:srgbClr val="F97316"/>
            </a:solidFill>
            <a:prstDash val="solid"/>
          </a:ln>
        </p:spPr>
      </p:sp>
      <p:pic>
        <p:nvPicPr>
          <p:cNvPr id="8" name="Image 0" descr="icons/activity-w.png">    </p:cNvPr>
          <p:cNvPicPr>
            <a:picLocks noChangeAspect="1"/>
          </p:cNvPicPr>
          <p:nvPr/>
        </p:nvPicPr>
        <p:blipFill>
          <a:blip r:embed="rId1"/>
          <a:stretch>
            <a:fillRect/>
          </a:stretch>
        </p:blipFill>
        <p:spPr>
          <a:xfrm>
            <a:off x="993953" y="1944929"/>
            <a:ext cx="279806" cy="279806"/>
          </a:xfrm>
          <a:prstGeom prst="rect">
            <a:avLst/>
          </a:prstGeom>
        </p:spPr>
      </p:pic>
      <p:sp>
        <p:nvSpPr>
          <p:cNvPr id="9" name="Shape 6"/>
          <p:cNvSpPr/>
          <p:nvPr/>
        </p:nvSpPr>
        <p:spPr>
          <a:xfrm>
            <a:off x="2880360" y="1883664"/>
            <a:ext cx="914400" cy="274320"/>
          </a:xfrm>
          <a:prstGeom prst="roundRect">
            <a:avLst>
              <a:gd name="adj" fmla="val 50000"/>
            </a:avLst>
          </a:prstGeom>
          <a:solidFill>
            <a:srgbClr val="12281D"/>
          </a:solidFill>
          <a:ln w="12700">
            <a:solidFill>
              <a:srgbClr val="12281D"/>
            </a:solidFill>
            <a:prstDash val="solid"/>
          </a:ln>
        </p:spPr>
      </p:sp>
      <p:sp>
        <p:nvSpPr>
          <p:cNvPr id="10" name="Text 7"/>
          <p:cNvSpPr txBox="1"/>
          <p:nvPr/>
        </p:nvSpPr>
        <p:spPr>
          <a:xfrm>
            <a:off x="2880360" y="1883664"/>
            <a:ext cx="914400" cy="274320"/>
          </a:xfrm>
          <a:prstGeom prst="rect">
            <a:avLst/>
          </a:prstGeom>
          <a:noFill/>
          <a:ln/>
        </p:spPr>
        <p:txBody>
          <a:bodyPr wrap="square" lIns="0" tIns="0" rIns="0" bIns="0" rtlCol="0" anchor="ctr"/>
          <a:lstStyle/>
          <a:p>
            <a:pPr algn="ctr" indent="0" marL="0">
              <a:buNone/>
            </a:pPr>
            <a:r>
              <a:rPr lang="en-US" sz="850" b="1" spc="40" kern="0" dirty="0">
                <a:solidFill>
                  <a:srgbClr val="58D39B"/>
                </a:solidFill>
                <a:latin typeface="Calibri" pitchFamily="34" charset="0"/>
                <a:ea typeface="Calibri" pitchFamily="34" charset="-122"/>
                <a:cs typeface="Calibri" pitchFamily="34" charset="-120"/>
              </a:rPr>
              <a:t>CONNECTED</a:t>
            </a:r>
            <a:endParaRPr lang="en-US" sz="850" dirty="0"/>
          </a:p>
        </p:txBody>
      </p:sp>
      <p:sp>
        <p:nvSpPr>
          <p:cNvPr id="11" name="Text 8"/>
          <p:cNvSpPr txBox="1"/>
          <p:nvPr/>
        </p:nvSpPr>
        <p:spPr>
          <a:xfrm>
            <a:off x="859536" y="2505456"/>
            <a:ext cx="2971800" cy="566928"/>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Azure Activity</a:t>
            </a:r>
            <a:endParaRPr lang="en-US" sz="1400" dirty="0"/>
          </a:p>
        </p:txBody>
      </p:sp>
      <p:sp>
        <p:nvSpPr>
          <p:cNvPr id="12" name="Text 9"/>
          <p:cNvSpPr txBox="1"/>
          <p:nvPr/>
        </p:nvSpPr>
        <p:spPr>
          <a:xfrm>
            <a:off x="859536" y="3090672"/>
            <a:ext cx="2971800" cy="237744"/>
          </a:xfrm>
          <a:prstGeom prst="rect">
            <a:avLst/>
          </a:prstGeom>
          <a:noFill/>
          <a:ln/>
        </p:spPr>
        <p:txBody>
          <a:bodyPr wrap="square" lIns="0" tIns="0" rIns="0" bIns="0" rtlCol="0" anchor="ctr"/>
          <a:lstStyle/>
          <a:p>
            <a:pPr indent="0" marL="0">
              <a:buNone/>
            </a:pPr>
            <a:r>
              <a:rPr lang="en-US" sz="1050" b="1" spc="80" kern="0" dirty="0">
                <a:solidFill>
                  <a:srgbClr val="F97316"/>
                </a:solidFill>
                <a:latin typeface="Calibri" pitchFamily="34" charset="0"/>
                <a:ea typeface="Calibri" pitchFamily="34" charset="-122"/>
                <a:cs typeface="Calibri" pitchFamily="34" charset="-120"/>
              </a:rPr>
              <a:t>Control-plane audit trail</a:t>
            </a:r>
            <a:endParaRPr lang="en-US" sz="1050" dirty="0"/>
          </a:p>
        </p:txBody>
      </p:sp>
      <p:sp>
        <p:nvSpPr>
          <p:cNvPr id="13" name="Text 10"/>
          <p:cNvSpPr txBox="1"/>
          <p:nvPr/>
        </p:nvSpPr>
        <p:spPr>
          <a:xfrm>
            <a:off x="859536" y="3419856"/>
            <a:ext cx="2935224" cy="914400"/>
          </a:xfrm>
          <a:prstGeom prst="rect">
            <a:avLst/>
          </a:prstGeom>
          <a:noFill/>
          <a:ln/>
        </p:spPr>
        <p:txBody>
          <a:bodyPr wrap="square" lIns="0" tIns="0" rIns="0" bIns="0" rtlCol="0" anchor="t"/>
          <a:lstStyle/>
          <a:p>
            <a:pPr algn="l" indent="0" marL="0">
              <a:lnSpc>
                <a:spcPts val="1650"/>
              </a:lnSpc>
              <a:buNone/>
            </a:pPr>
            <a:r>
              <a:rPr lang="en-US" sz="1150" dirty="0">
                <a:solidFill>
                  <a:srgbClr val="AFB4BF"/>
                </a:solidFill>
                <a:latin typeface="Calibri" pitchFamily="34" charset="0"/>
                <a:ea typeface="Calibri" pitchFamily="34" charset="-122"/>
                <a:cs typeface="Calibri" pitchFamily="34" charset="-120"/>
              </a:rPr>
              <a:t>Captures subscription-level operations — who created, changed or deleted a resource and when.</a:t>
            </a:r>
            <a:endParaRPr lang="en-US" sz="1150" dirty="0"/>
          </a:p>
        </p:txBody>
      </p:sp>
      <p:sp>
        <p:nvSpPr>
          <p:cNvPr id="14" name="Shape 11"/>
          <p:cNvSpPr/>
          <p:nvPr/>
        </p:nvSpPr>
        <p:spPr>
          <a:xfrm>
            <a:off x="4343400" y="1536192"/>
            <a:ext cx="3520440" cy="2944368"/>
          </a:xfrm>
          <a:prstGeom prst="roundRect">
            <a:avLst>
              <a:gd name="adj" fmla="val 3106"/>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5" name="Shape 12"/>
          <p:cNvSpPr/>
          <p:nvPr/>
        </p:nvSpPr>
        <p:spPr>
          <a:xfrm>
            <a:off x="4636008" y="1810512"/>
            <a:ext cx="548640" cy="548640"/>
          </a:xfrm>
          <a:prstGeom prst="ellipse">
            <a:avLst/>
          </a:prstGeom>
          <a:solidFill>
            <a:srgbClr val="7A3B0B"/>
          </a:solidFill>
          <a:ln w="12700">
            <a:solidFill>
              <a:srgbClr val="7A3B0B"/>
            </a:solidFill>
            <a:prstDash val="solid"/>
          </a:ln>
        </p:spPr>
      </p:sp>
      <p:pic>
        <p:nvPicPr>
          <p:cNvPr id="16" name="Image 1" descr="icons/monitor-w.png">    </p:cNvPr>
          <p:cNvPicPr>
            <a:picLocks noChangeAspect="1"/>
          </p:cNvPicPr>
          <p:nvPr/>
        </p:nvPicPr>
        <p:blipFill>
          <a:blip r:embed="rId2"/>
          <a:stretch>
            <a:fillRect/>
          </a:stretch>
        </p:blipFill>
        <p:spPr>
          <a:xfrm>
            <a:off x="4770425" y="1944929"/>
            <a:ext cx="279806" cy="279806"/>
          </a:xfrm>
          <a:prstGeom prst="rect">
            <a:avLst/>
          </a:prstGeom>
        </p:spPr>
      </p:pic>
      <p:sp>
        <p:nvSpPr>
          <p:cNvPr id="17" name="Shape 13"/>
          <p:cNvSpPr/>
          <p:nvPr/>
        </p:nvSpPr>
        <p:spPr>
          <a:xfrm>
            <a:off x="6656832" y="1883664"/>
            <a:ext cx="914400" cy="274320"/>
          </a:xfrm>
          <a:prstGeom prst="roundRect">
            <a:avLst>
              <a:gd name="adj" fmla="val 50000"/>
            </a:avLst>
          </a:prstGeom>
          <a:solidFill>
            <a:srgbClr val="12281D"/>
          </a:solidFill>
          <a:ln w="12700">
            <a:solidFill>
              <a:srgbClr val="12281D"/>
            </a:solidFill>
            <a:prstDash val="solid"/>
          </a:ln>
        </p:spPr>
      </p:sp>
      <p:sp>
        <p:nvSpPr>
          <p:cNvPr id="18" name="Text 14"/>
          <p:cNvSpPr txBox="1"/>
          <p:nvPr/>
        </p:nvSpPr>
        <p:spPr>
          <a:xfrm>
            <a:off x="6656832" y="1883664"/>
            <a:ext cx="914400" cy="274320"/>
          </a:xfrm>
          <a:prstGeom prst="rect">
            <a:avLst/>
          </a:prstGeom>
          <a:noFill/>
          <a:ln/>
        </p:spPr>
        <p:txBody>
          <a:bodyPr wrap="square" lIns="0" tIns="0" rIns="0" bIns="0" rtlCol="0" anchor="ctr"/>
          <a:lstStyle/>
          <a:p>
            <a:pPr algn="ctr" indent="0" marL="0">
              <a:buNone/>
            </a:pPr>
            <a:r>
              <a:rPr lang="en-US" sz="850" b="1" spc="40" kern="0" dirty="0">
                <a:solidFill>
                  <a:srgbClr val="58D39B"/>
                </a:solidFill>
                <a:latin typeface="Calibri" pitchFamily="34" charset="0"/>
                <a:ea typeface="Calibri" pitchFamily="34" charset="-122"/>
                <a:cs typeface="Calibri" pitchFamily="34" charset="-120"/>
              </a:rPr>
              <a:t>CONNECTED</a:t>
            </a:r>
            <a:endParaRPr lang="en-US" sz="850" dirty="0"/>
          </a:p>
        </p:txBody>
      </p:sp>
      <p:sp>
        <p:nvSpPr>
          <p:cNvPr id="19" name="Text 15"/>
          <p:cNvSpPr txBox="1"/>
          <p:nvPr/>
        </p:nvSpPr>
        <p:spPr>
          <a:xfrm>
            <a:off x="4636008" y="2505456"/>
            <a:ext cx="2971800" cy="566928"/>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Windows Security Events via AMA</a:t>
            </a:r>
            <a:endParaRPr lang="en-US" sz="1400" dirty="0"/>
          </a:p>
        </p:txBody>
      </p:sp>
      <p:sp>
        <p:nvSpPr>
          <p:cNvPr id="20" name="Text 16"/>
          <p:cNvSpPr txBox="1"/>
          <p:nvPr/>
        </p:nvSpPr>
        <p:spPr>
          <a:xfrm>
            <a:off x="4636008" y="3090672"/>
            <a:ext cx="2971800" cy="237744"/>
          </a:xfrm>
          <a:prstGeom prst="rect">
            <a:avLst/>
          </a:prstGeom>
          <a:noFill/>
          <a:ln/>
        </p:spPr>
        <p:txBody>
          <a:bodyPr wrap="square" lIns="0" tIns="0" rIns="0" bIns="0" rtlCol="0" anchor="ctr"/>
          <a:lstStyle/>
          <a:p>
            <a:pPr indent="0" marL="0">
              <a:buNone/>
            </a:pPr>
            <a:r>
              <a:rPr lang="en-US" sz="1050" b="1" spc="80" kern="0" dirty="0">
                <a:solidFill>
                  <a:srgbClr val="F97316"/>
                </a:solidFill>
                <a:latin typeface="Calibri" pitchFamily="34" charset="0"/>
                <a:ea typeface="Calibri" pitchFamily="34" charset="-122"/>
                <a:cs typeface="Calibri" pitchFamily="34" charset="-120"/>
              </a:rPr>
              <a:t>WindowsVM</a:t>
            </a:r>
            <a:endParaRPr lang="en-US" sz="1050" dirty="0"/>
          </a:p>
        </p:txBody>
      </p:sp>
      <p:sp>
        <p:nvSpPr>
          <p:cNvPr id="21" name="Text 17"/>
          <p:cNvSpPr txBox="1"/>
          <p:nvPr/>
        </p:nvSpPr>
        <p:spPr>
          <a:xfrm>
            <a:off x="4636008" y="3419856"/>
            <a:ext cx="2935224" cy="914400"/>
          </a:xfrm>
          <a:prstGeom prst="rect">
            <a:avLst/>
          </a:prstGeom>
          <a:noFill/>
          <a:ln/>
        </p:spPr>
        <p:txBody>
          <a:bodyPr wrap="square" lIns="0" tIns="0" rIns="0" bIns="0" rtlCol="0" anchor="t"/>
          <a:lstStyle/>
          <a:p>
            <a:pPr algn="l" indent="0" marL="0">
              <a:lnSpc>
                <a:spcPts val="1650"/>
              </a:lnSpc>
              <a:buNone/>
            </a:pPr>
            <a:r>
              <a:rPr lang="en-US" sz="1150" dirty="0">
                <a:solidFill>
                  <a:srgbClr val="AFB4BF"/>
                </a:solidFill>
                <a:latin typeface="Calibri" pitchFamily="34" charset="0"/>
                <a:ea typeface="Calibri" pitchFamily="34" charset="-122"/>
                <a:cs typeface="Calibri" pitchFamily="34" charset="-120"/>
              </a:rPr>
              <a:t>Streams the full Windows security event log into the workspace for dashboards, custom alerts and investigation.</a:t>
            </a:r>
            <a:endParaRPr lang="en-US" sz="1150" dirty="0"/>
          </a:p>
        </p:txBody>
      </p:sp>
      <p:sp>
        <p:nvSpPr>
          <p:cNvPr id="22" name="Shape 18"/>
          <p:cNvSpPr/>
          <p:nvPr/>
        </p:nvSpPr>
        <p:spPr>
          <a:xfrm>
            <a:off x="8119872" y="1536192"/>
            <a:ext cx="3520440" cy="2944368"/>
          </a:xfrm>
          <a:prstGeom prst="roundRect">
            <a:avLst>
              <a:gd name="adj" fmla="val 3106"/>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3" name="Shape 19"/>
          <p:cNvSpPr/>
          <p:nvPr/>
        </p:nvSpPr>
        <p:spPr>
          <a:xfrm>
            <a:off x="8412480" y="1810512"/>
            <a:ext cx="548640" cy="548640"/>
          </a:xfrm>
          <a:prstGeom prst="ellipse">
            <a:avLst/>
          </a:prstGeom>
          <a:solidFill>
            <a:srgbClr val="F97316"/>
          </a:solidFill>
          <a:ln w="12700">
            <a:solidFill>
              <a:srgbClr val="F97316"/>
            </a:solidFill>
            <a:prstDash val="solid"/>
          </a:ln>
        </p:spPr>
      </p:sp>
      <p:pic>
        <p:nvPicPr>
          <p:cNvPr id="24" name="Image 2" descr="icons/linux-w.png">    </p:cNvPr>
          <p:cNvPicPr>
            <a:picLocks noChangeAspect="1"/>
          </p:cNvPicPr>
          <p:nvPr/>
        </p:nvPicPr>
        <p:blipFill>
          <a:blip r:embed="rId3"/>
          <a:stretch>
            <a:fillRect/>
          </a:stretch>
        </p:blipFill>
        <p:spPr>
          <a:xfrm>
            <a:off x="8546897" y="1944929"/>
            <a:ext cx="279806" cy="279806"/>
          </a:xfrm>
          <a:prstGeom prst="rect">
            <a:avLst/>
          </a:prstGeom>
        </p:spPr>
      </p:pic>
      <p:sp>
        <p:nvSpPr>
          <p:cNvPr id="25" name="Shape 20"/>
          <p:cNvSpPr/>
          <p:nvPr/>
        </p:nvSpPr>
        <p:spPr>
          <a:xfrm>
            <a:off x="10433304" y="1883664"/>
            <a:ext cx="914400" cy="274320"/>
          </a:xfrm>
          <a:prstGeom prst="roundRect">
            <a:avLst>
              <a:gd name="adj" fmla="val 50000"/>
            </a:avLst>
          </a:prstGeom>
          <a:solidFill>
            <a:srgbClr val="12281D"/>
          </a:solidFill>
          <a:ln w="12700">
            <a:solidFill>
              <a:srgbClr val="12281D"/>
            </a:solidFill>
            <a:prstDash val="solid"/>
          </a:ln>
        </p:spPr>
      </p:sp>
      <p:sp>
        <p:nvSpPr>
          <p:cNvPr id="26" name="Text 21"/>
          <p:cNvSpPr txBox="1"/>
          <p:nvPr/>
        </p:nvSpPr>
        <p:spPr>
          <a:xfrm>
            <a:off x="10433304" y="1883664"/>
            <a:ext cx="914400" cy="274320"/>
          </a:xfrm>
          <a:prstGeom prst="rect">
            <a:avLst/>
          </a:prstGeom>
          <a:noFill/>
          <a:ln/>
        </p:spPr>
        <p:txBody>
          <a:bodyPr wrap="square" lIns="0" tIns="0" rIns="0" bIns="0" rtlCol="0" anchor="ctr"/>
          <a:lstStyle/>
          <a:p>
            <a:pPr algn="ctr" indent="0" marL="0">
              <a:buNone/>
            </a:pPr>
            <a:r>
              <a:rPr lang="en-US" sz="850" b="1" spc="40" kern="0" dirty="0">
                <a:solidFill>
                  <a:srgbClr val="58D39B"/>
                </a:solidFill>
                <a:latin typeface="Calibri" pitchFamily="34" charset="0"/>
                <a:ea typeface="Calibri" pitchFamily="34" charset="-122"/>
                <a:cs typeface="Calibri" pitchFamily="34" charset="-120"/>
              </a:rPr>
              <a:t>CONNECTED</a:t>
            </a:r>
            <a:endParaRPr lang="en-US" sz="850" dirty="0"/>
          </a:p>
        </p:txBody>
      </p:sp>
      <p:sp>
        <p:nvSpPr>
          <p:cNvPr id="27" name="Text 22"/>
          <p:cNvSpPr txBox="1"/>
          <p:nvPr/>
        </p:nvSpPr>
        <p:spPr>
          <a:xfrm>
            <a:off x="8412480" y="2505456"/>
            <a:ext cx="2971800" cy="566928"/>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Syslog via AMA</a:t>
            </a:r>
            <a:endParaRPr lang="en-US" sz="1400" dirty="0"/>
          </a:p>
        </p:txBody>
      </p:sp>
      <p:sp>
        <p:nvSpPr>
          <p:cNvPr id="28" name="Text 23"/>
          <p:cNvSpPr txBox="1"/>
          <p:nvPr/>
        </p:nvSpPr>
        <p:spPr>
          <a:xfrm>
            <a:off x="8412480" y="3090672"/>
            <a:ext cx="2971800" cy="237744"/>
          </a:xfrm>
          <a:prstGeom prst="rect">
            <a:avLst/>
          </a:prstGeom>
          <a:noFill/>
          <a:ln/>
        </p:spPr>
        <p:txBody>
          <a:bodyPr wrap="square" lIns="0" tIns="0" rIns="0" bIns="0" rtlCol="0" anchor="ctr"/>
          <a:lstStyle/>
          <a:p>
            <a:pPr indent="0" marL="0">
              <a:buNone/>
            </a:pPr>
            <a:r>
              <a:rPr lang="en-US" sz="1050" b="1" spc="80" kern="0" dirty="0">
                <a:solidFill>
                  <a:srgbClr val="F97316"/>
                </a:solidFill>
                <a:latin typeface="Calibri" pitchFamily="34" charset="0"/>
                <a:ea typeface="Calibri" pitchFamily="34" charset="-122"/>
                <a:cs typeface="Calibri" pitchFamily="34" charset="-120"/>
              </a:rPr>
              <a:t>UbuntuVM</a:t>
            </a:r>
            <a:endParaRPr lang="en-US" sz="1050" dirty="0"/>
          </a:p>
        </p:txBody>
      </p:sp>
      <p:sp>
        <p:nvSpPr>
          <p:cNvPr id="29" name="Text 24"/>
          <p:cNvSpPr txBox="1"/>
          <p:nvPr/>
        </p:nvSpPr>
        <p:spPr>
          <a:xfrm>
            <a:off x="8412480" y="3419856"/>
            <a:ext cx="2935224" cy="914400"/>
          </a:xfrm>
          <a:prstGeom prst="rect">
            <a:avLst/>
          </a:prstGeom>
          <a:noFill/>
          <a:ln/>
        </p:spPr>
        <p:txBody>
          <a:bodyPr wrap="square" lIns="0" tIns="0" rIns="0" bIns="0" rtlCol="0" anchor="t"/>
          <a:lstStyle/>
          <a:p>
            <a:pPr algn="l" indent="0" marL="0">
              <a:lnSpc>
                <a:spcPts val="1650"/>
              </a:lnSpc>
              <a:buNone/>
            </a:pPr>
            <a:r>
              <a:rPr lang="en-US" sz="1150" dirty="0">
                <a:solidFill>
                  <a:srgbClr val="AFB4BF"/>
                </a:solidFill>
                <a:latin typeface="Calibri" pitchFamily="34" charset="0"/>
                <a:ea typeface="Calibri" pitchFamily="34" charset="-122"/>
                <a:cs typeface="Calibri" pitchFamily="34" charset="-120"/>
              </a:rPr>
              <a:t>The Linux agent configures the local syslog daemon to forward messages, which the agent then sends to the workspace.</a:t>
            </a:r>
            <a:endParaRPr lang="en-US" sz="1150" dirty="0"/>
          </a:p>
        </p:txBody>
      </p:sp>
      <p:sp>
        <p:nvSpPr>
          <p:cNvPr id="30" name="Shape 25"/>
          <p:cNvSpPr/>
          <p:nvPr/>
        </p:nvSpPr>
        <p:spPr>
          <a:xfrm>
            <a:off x="566928" y="4681728"/>
            <a:ext cx="11055096" cy="1335024"/>
          </a:xfrm>
          <a:prstGeom prst="roundRect">
            <a:avLst>
              <a:gd name="adj" fmla="val 6849"/>
            </a:avLst>
          </a:prstGeom>
          <a:solidFill>
            <a:srgbClr val="24160A"/>
          </a:solidFill>
          <a:ln w="9525">
            <a:solidFill>
              <a:srgbClr val="5C3512"/>
            </a:solidFill>
            <a:prstDash val="solid"/>
          </a:ln>
          <a:effectLst>
            <a:outerShdw sx="100000" sy="100000" kx="0" ky="0" algn="bl" rotWithShape="0" blurRad="177800" dist="38100" dir="5400000">
              <a:srgbClr val="000000">
                <a:alpha val="27000"/>
              </a:srgbClr>
            </a:outerShdw>
          </a:effectLst>
        </p:spPr>
      </p:sp>
      <p:pic>
        <p:nvPicPr>
          <p:cNvPr id="31" name="Image 3" descr="icons/zap-a.png">    </p:cNvPr>
          <p:cNvPicPr>
            <a:picLocks noChangeAspect="1"/>
          </p:cNvPicPr>
          <p:nvPr/>
        </p:nvPicPr>
        <p:blipFill>
          <a:blip r:embed="rId4"/>
          <a:stretch>
            <a:fillRect/>
          </a:stretch>
        </p:blipFill>
        <p:spPr>
          <a:xfrm>
            <a:off x="896112" y="4974336"/>
            <a:ext cx="274320" cy="274320"/>
          </a:xfrm>
          <a:prstGeom prst="rect">
            <a:avLst/>
          </a:prstGeom>
        </p:spPr>
      </p:pic>
      <p:sp>
        <p:nvSpPr>
          <p:cNvPr id="32" name="Text 26"/>
          <p:cNvSpPr txBox="1"/>
          <p:nvPr/>
        </p:nvSpPr>
        <p:spPr>
          <a:xfrm>
            <a:off x="1316736" y="4937760"/>
            <a:ext cx="5486400" cy="310896"/>
          </a:xfrm>
          <a:prstGeom prst="rect">
            <a:avLst/>
          </a:prstGeom>
          <a:noFill/>
          <a:ln/>
        </p:spPr>
        <p:txBody>
          <a:bodyPr wrap="square" lIns="0" tIns="0" rIns="0" bIns="0" rtlCol="0" anchor="ctr"/>
          <a:lstStyle/>
          <a:p>
            <a:pPr indent="0" marL="0">
              <a:buNone/>
            </a:pPr>
            <a:r>
              <a:rPr lang="en-US" sz="1350" b="1" dirty="0">
                <a:solidFill>
                  <a:srgbClr val="FFA94D"/>
                </a:solidFill>
                <a:latin typeface="Calibri" pitchFamily="34" charset="0"/>
                <a:ea typeface="Calibri" pitchFamily="34" charset="-122"/>
                <a:cs typeface="Calibri" pitchFamily="34" charset="-120"/>
              </a:rPr>
              <a:t>Agent model: AMA with Data Collection Rules</a:t>
            </a:r>
            <a:endParaRPr lang="en-US" sz="1350" dirty="0"/>
          </a:p>
        </p:txBody>
      </p:sp>
      <p:sp>
        <p:nvSpPr>
          <p:cNvPr id="33" name="Text 27"/>
          <p:cNvSpPr txBox="1"/>
          <p:nvPr/>
        </p:nvSpPr>
        <p:spPr>
          <a:xfrm>
            <a:off x="896112" y="5303520"/>
            <a:ext cx="10424160" cy="640080"/>
          </a:xfrm>
          <a:prstGeom prst="rect">
            <a:avLst/>
          </a:prstGeom>
          <a:noFill/>
          <a:ln/>
        </p:spPr>
        <p:txBody>
          <a:bodyPr wrap="square" lIns="0" tIns="0" rIns="0" bIns="0" rtlCol="0" anchor="t"/>
          <a:lstStyle/>
          <a:p>
            <a:pPr algn="l" indent="0" marL="0">
              <a:lnSpc>
                <a:spcPts val="1600"/>
              </a:lnSpc>
              <a:buNone/>
            </a:pPr>
            <a:r>
              <a:rPr lang="en-US" sz="1150" dirty="0">
                <a:solidFill>
                  <a:srgbClr val="D2D5DD"/>
                </a:solidFill>
                <a:latin typeface="Calibri" pitchFamily="34" charset="0"/>
                <a:ea typeface="Calibri" pitchFamily="34" charset="-122"/>
                <a:cs typeface="Calibri" pitchFamily="34" charset="-120"/>
              </a:rPr>
              <a:t>Collection is handled by the Azure Monitor Agent rather than the retired Log Analytics agent. Each machine is associated with a Data Collection Rule — mywindowsDCR for security events, myubuntuDCRnew for syslog — which defines exactly which events are gathered and which workspace receives them. Scoping collection at the rule level keeps noise and ingestion cost under control.</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CONNECTOR DETAIL</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Windows Security Events via AMA</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481328"/>
            <a:ext cx="5943600" cy="4352544"/>
          </a:xfrm>
          <a:prstGeom prst="roundRect">
            <a:avLst>
              <a:gd name="adj" fmla="val 1891"/>
            </a:avLst>
          </a:prstGeom>
          <a:solidFill>
            <a:srgbClr val="1B1E24"/>
          </a:solidFill>
          <a:ln w="11430">
            <a:solidFill>
              <a:srgbClr val="3A3F4A"/>
            </a:solidFill>
            <a:prstDash val="solid"/>
          </a:ln>
          <a:effectLst>
            <a:outerShdw sx="100000" sy="100000" kx="0" ky="0" algn="bl" rotWithShape="0" blurRad="228600" dist="38100" dir="5400000">
              <a:srgbClr val="000000">
                <a:alpha val="34000"/>
              </a:srgbClr>
            </a:outerShdw>
          </a:effectLst>
        </p:spPr>
      </p:sp>
      <p:pic>
        <p:nvPicPr>
          <p:cNvPr id="7" name="Image 0" descr="img/image3.png">    </p:cNvPr>
          <p:cNvPicPr>
            <a:picLocks noChangeAspect="1"/>
          </p:cNvPicPr>
          <p:nvPr/>
        </p:nvPicPr>
        <p:blipFill>
          <a:blip r:embed="rId1"/>
          <a:stretch>
            <a:fillRect/>
          </a:stretch>
        </p:blipFill>
        <p:spPr>
          <a:xfrm>
            <a:off x="658368" y="1572768"/>
            <a:ext cx="5760720" cy="4169664"/>
          </a:xfrm>
          <a:prstGeom prst="rect">
            <a:avLst/>
          </a:prstGeom>
        </p:spPr>
      </p:pic>
      <p:sp>
        <p:nvSpPr>
          <p:cNvPr id="8" name="Text 5"/>
          <p:cNvSpPr txBox="1"/>
          <p:nvPr/>
        </p:nvSpPr>
        <p:spPr>
          <a:xfrm>
            <a:off x="658368" y="5870448"/>
            <a:ext cx="6035040" cy="237744"/>
          </a:xfrm>
          <a:prstGeom prst="rect">
            <a:avLst/>
          </a:prstGeom>
          <a:noFill/>
          <a:ln/>
        </p:spPr>
        <p:txBody>
          <a:bodyPr wrap="square" lIns="0" tIns="0" rIns="0" bIns="0" rtlCol="0" anchor="ctr"/>
          <a:lstStyle/>
          <a:p>
            <a:pPr indent="0" marL="0">
              <a:buNone/>
            </a:pPr>
            <a:r>
              <a:rPr lang="en-US" sz="950" i="1" dirty="0">
                <a:solidFill>
                  <a:srgbClr val="8D919C"/>
                </a:solidFill>
                <a:latin typeface="Calibri" pitchFamily="34" charset="0"/>
                <a:ea typeface="Calibri" pitchFamily="34" charset="-122"/>
                <a:cs typeface="Calibri" pitchFamily="34" charset="-120"/>
              </a:rPr>
              <a:t>Figure 3 — Connector page: status, table management and data received</a:t>
            </a:r>
            <a:endParaRPr lang="en-US" sz="950" dirty="0"/>
          </a:p>
        </p:txBody>
      </p:sp>
      <p:sp>
        <p:nvSpPr>
          <p:cNvPr id="9" name="Shape 6"/>
          <p:cNvSpPr/>
          <p:nvPr/>
        </p:nvSpPr>
        <p:spPr>
          <a:xfrm>
            <a:off x="6839712" y="1572768"/>
            <a:ext cx="4782312" cy="969264"/>
          </a:xfrm>
          <a:prstGeom prst="roundRect">
            <a:avLst>
              <a:gd name="adj" fmla="val 943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0" name="Shape 7"/>
          <p:cNvSpPr/>
          <p:nvPr/>
        </p:nvSpPr>
        <p:spPr>
          <a:xfrm>
            <a:off x="7077456" y="1810512"/>
            <a:ext cx="493776" cy="493776"/>
          </a:xfrm>
          <a:prstGeom prst="ellipse">
            <a:avLst/>
          </a:prstGeom>
          <a:solidFill>
            <a:srgbClr val="F97316"/>
          </a:solidFill>
          <a:ln w="12700">
            <a:solidFill>
              <a:srgbClr val="F97316"/>
            </a:solidFill>
            <a:prstDash val="solid"/>
          </a:ln>
        </p:spPr>
      </p:sp>
      <p:pic>
        <p:nvPicPr>
          <p:cNvPr id="11" name="Image 1" descr="icons/check-w.png">    </p:cNvPr>
          <p:cNvPicPr>
            <a:picLocks noChangeAspect="1"/>
          </p:cNvPicPr>
          <p:nvPr/>
        </p:nvPicPr>
        <p:blipFill>
          <a:blip r:embed="rId2"/>
          <a:stretch>
            <a:fillRect/>
          </a:stretch>
        </p:blipFill>
        <p:spPr>
          <a:xfrm>
            <a:off x="7198431" y="1931487"/>
            <a:ext cx="251826" cy="251826"/>
          </a:xfrm>
          <a:prstGeom prst="rect">
            <a:avLst/>
          </a:prstGeom>
        </p:spPr>
      </p:pic>
      <p:sp>
        <p:nvSpPr>
          <p:cNvPr id="12" name="Text 8"/>
          <p:cNvSpPr txBox="1"/>
          <p:nvPr/>
        </p:nvSpPr>
        <p:spPr>
          <a:xfrm>
            <a:off x="7699248" y="1737360"/>
            <a:ext cx="3685032"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Status: Connected</a:t>
            </a:r>
            <a:endParaRPr lang="en-US" sz="1250" dirty="0"/>
          </a:p>
        </p:txBody>
      </p:sp>
      <p:sp>
        <p:nvSpPr>
          <p:cNvPr id="13" name="Text 9"/>
          <p:cNvSpPr txBox="1"/>
          <p:nvPr/>
        </p:nvSpPr>
        <p:spPr>
          <a:xfrm>
            <a:off x="7699248" y="2011680"/>
            <a:ext cx="3685032" cy="457200"/>
          </a:xfrm>
          <a:prstGeom prst="rect">
            <a:avLst/>
          </a:prstGeom>
          <a:noFill/>
          <a:ln/>
        </p:spPr>
        <p:txBody>
          <a:bodyPr wrap="square" lIns="0" tIns="0" rIns="0" bIns="0" rtlCol="0" anchor="t"/>
          <a:lstStyle/>
          <a:p>
            <a:pPr algn="l" indent="0" marL="0">
              <a:lnSpc>
                <a:spcPts val="1450"/>
              </a:lnSpc>
              <a:buNone/>
            </a:pPr>
            <a:r>
              <a:rPr lang="en-US" sz="1050" dirty="0">
                <a:solidFill>
                  <a:srgbClr val="AFB4BF"/>
                </a:solidFill>
                <a:latin typeface="Calibri" pitchFamily="34" charset="0"/>
                <a:ea typeface="Calibri" pitchFamily="34" charset="-122"/>
                <a:cs typeface="Calibri" pitchFamily="34" charset="-120"/>
              </a:rPr>
              <a:t>Provider Microsoft, last log received four minutes before capture.</a:t>
            </a:r>
            <a:endParaRPr lang="en-US" sz="1050" dirty="0"/>
          </a:p>
        </p:txBody>
      </p:sp>
      <p:sp>
        <p:nvSpPr>
          <p:cNvPr id="14" name="Shape 10"/>
          <p:cNvSpPr/>
          <p:nvPr/>
        </p:nvSpPr>
        <p:spPr>
          <a:xfrm>
            <a:off x="6839712" y="2670048"/>
            <a:ext cx="4782312" cy="969264"/>
          </a:xfrm>
          <a:prstGeom prst="roundRect">
            <a:avLst>
              <a:gd name="adj" fmla="val 943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5" name="Shape 11"/>
          <p:cNvSpPr/>
          <p:nvPr/>
        </p:nvSpPr>
        <p:spPr>
          <a:xfrm>
            <a:off x="7077456" y="2907792"/>
            <a:ext cx="493776" cy="493776"/>
          </a:xfrm>
          <a:prstGeom prst="ellipse">
            <a:avLst/>
          </a:prstGeom>
          <a:solidFill>
            <a:srgbClr val="7A3B0B"/>
          </a:solidFill>
          <a:ln w="12700">
            <a:solidFill>
              <a:srgbClr val="7A3B0B"/>
            </a:solidFill>
            <a:prstDash val="solid"/>
          </a:ln>
        </p:spPr>
      </p:sp>
      <p:pic>
        <p:nvPicPr>
          <p:cNvPr id="16" name="Image 2" descr="icons/database-w.png">    </p:cNvPr>
          <p:cNvPicPr>
            <a:picLocks noChangeAspect="1"/>
          </p:cNvPicPr>
          <p:nvPr/>
        </p:nvPicPr>
        <p:blipFill>
          <a:blip r:embed="rId3"/>
          <a:stretch>
            <a:fillRect/>
          </a:stretch>
        </p:blipFill>
        <p:spPr>
          <a:xfrm>
            <a:off x="7198431" y="3028767"/>
            <a:ext cx="251826" cy="251826"/>
          </a:xfrm>
          <a:prstGeom prst="rect">
            <a:avLst/>
          </a:prstGeom>
        </p:spPr>
      </p:pic>
      <p:sp>
        <p:nvSpPr>
          <p:cNvPr id="17" name="Text 12"/>
          <p:cNvSpPr txBox="1"/>
          <p:nvPr/>
        </p:nvSpPr>
        <p:spPr>
          <a:xfrm>
            <a:off x="7699248" y="2834640"/>
            <a:ext cx="3685032"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Table: SecurityEvent</a:t>
            </a:r>
            <a:endParaRPr lang="en-US" sz="1250" dirty="0"/>
          </a:p>
        </p:txBody>
      </p:sp>
      <p:sp>
        <p:nvSpPr>
          <p:cNvPr id="18" name="Text 13"/>
          <p:cNvSpPr txBox="1"/>
          <p:nvPr/>
        </p:nvSpPr>
        <p:spPr>
          <a:xfrm>
            <a:off x="7699248" y="3108960"/>
            <a:ext cx="3685032" cy="457200"/>
          </a:xfrm>
          <a:prstGeom prst="rect">
            <a:avLst/>
          </a:prstGeom>
          <a:noFill/>
          <a:ln/>
        </p:spPr>
        <p:txBody>
          <a:bodyPr wrap="square" lIns="0" tIns="0" rIns="0" bIns="0" rtlCol="0" anchor="t"/>
          <a:lstStyle/>
          <a:p>
            <a:pPr algn="l" indent="0" marL="0">
              <a:lnSpc>
                <a:spcPts val="1450"/>
              </a:lnSpc>
              <a:buNone/>
            </a:pPr>
            <a:r>
              <a:rPr lang="en-US" sz="1050" dirty="0">
                <a:solidFill>
                  <a:srgbClr val="AFB4BF"/>
                </a:solidFill>
                <a:latin typeface="Calibri" pitchFamily="34" charset="0"/>
                <a:ea typeface="Calibri" pitchFamily="34" charset="-122"/>
                <a:cs typeface="Calibri" pitchFamily="34" charset="-120"/>
              </a:rPr>
              <a:t>Analytics tier, Sentinel table type — queryable immediately in KQL.</a:t>
            </a:r>
            <a:endParaRPr lang="en-US" sz="1050" dirty="0"/>
          </a:p>
        </p:txBody>
      </p:sp>
      <p:sp>
        <p:nvSpPr>
          <p:cNvPr id="19" name="Shape 14"/>
          <p:cNvSpPr/>
          <p:nvPr/>
        </p:nvSpPr>
        <p:spPr>
          <a:xfrm>
            <a:off x="6839712" y="3767328"/>
            <a:ext cx="4782312" cy="969264"/>
          </a:xfrm>
          <a:prstGeom prst="roundRect">
            <a:avLst>
              <a:gd name="adj" fmla="val 943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0" name="Shape 15"/>
          <p:cNvSpPr/>
          <p:nvPr/>
        </p:nvSpPr>
        <p:spPr>
          <a:xfrm>
            <a:off x="7077456" y="4005072"/>
            <a:ext cx="493776" cy="493776"/>
          </a:xfrm>
          <a:prstGeom prst="ellipse">
            <a:avLst/>
          </a:prstGeom>
          <a:solidFill>
            <a:srgbClr val="F97316"/>
          </a:solidFill>
          <a:ln w="12700">
            <a:solidFill>
              <a:srgbClr val="F97316"/>
            </a:solidFill>
            <a:prstDash val="solid"/>
          </a:ln>
        </p:spPr>
      </p:sp>
      <p:pic>
        <p:nvPicPr>
          <p:cNvPr id="21" name="Image 3" descr="icons/filter-w.png">    </p:cNvPr>
          <p:cNvPicPr>
            <a:picLocks noChangeAspect="1"/>
          </p:cNvPicPr>
          <p:nvPr/>
        </p:nvPicPr>
        <p:blipFill>
          <a:blip r:embed="rId4"/>
          <a:stretch>
            <a:fillRect/>
          </a:stretch>
        </p:blipFill>
        <p:spPr>
          <a:xfrm>
            <a:off x="7198431" y="4126047"/>
            <a:ext cx="251826" cy="251826"/>
          </a:xfrm>
          <a:prstGeom prst="rect">
            <a:avLst/>
          </a:prstGeom>
        </p:spPr>
      </p:pic>
      <p:sp>
        <p:nvSpPr>
          <p:cNvPr id="22" name="Text 16"/>
          <p:cNvSpPr txBox="1"/>
          <p:nvPr/>
        </p:nvSpPr>
        <p:spPr>
          <a:xfrm>
            <a:off x="7699248" y="3931920"/>
            <a:ext cx="3685032"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 collection rule enabled</a:t>
            </a:r>
            <a:endParaRPr lang="en-US" sz="1250" dirty="0"/>
          </a:p>
        </p:txBody>
      </p:sp>
      <p:sp>
        <p:nvSpPr>
          <p:cNvPr id="23" name="Text 17"/>
          <p:cNvSpPr txBox="1"/>
          <p:nvPr/>
        </p:nvSpPr>
        <p:spPr>
          <a:xfrm>
            <a:off x="7699248" y="4206240"/>
            <a:ext cx="3685032" cy="457200"/>
          </a:xfrm>
          <a:prstGeom prst="rect">
            <a:avLst/>
          </a:prstGeom>
          <a:noFill/>
          <a:ln/>
        </p:spPr>
        <p:txBody>
          <a:bodyPr wrap="square" lIns="0" tIns="0" rIns="0" bIns="0" rtlCol="0" anchor="t"/>
          <a:lstStyle/>
          <a:p>
            <a:pPr algn="l" indent="0" marL="0">
              <a:lnSpc>
                <a:spcPts val="1450"/>
              </a:lnSpc>
              <a:buNone/>
            </a:pPr>
            <a:r>
              <a:rPr lang="en-US" sz="1050" dirty="0">
                <a:solidFill>
                  <a:srgbClr val="AFB4BF"/>
                </a:solidFill>
                <a:latin typeface="Calibri" pitchFamily="34" charset="0"/>
                <a:ea typeface="Calibri" pitchFamily="34" charset="-122"/>
                <a:cs typeface="Calibri" pitchFamily="34" charset="-120"/>
              </a:rPr>
              <a:t>Security event logs are collected only from Windows agents, as defined by mywindowsDCR.</a:t>
            </a:r>
            <a:endParaRPr lang="en-US" sz="1050" dirty="0"/>
          </a:p>
        </p:txBody>
      </p:sp>
      <p:sp>
        <p:nvSpPr>
          <p:cNvPr id="24" name="Shape 18"/>
          <p:cNvSpPr/>
          <p:nvPr/>
        </p:nvSpPr>
        <p:spPr>
          <a:xfrm>
            <a:off x="6839712" y="4864608"/>
            <a:ext cx="4782312" cy="969264"/>
          </a:xfrm>
          <a:prstGeom prst="roundRect">
            <a:avLst>
              <a:gd name="adj" fmla="val 943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5" name="Shape 19"/>
          <p:cNvSpPr/>
          <p:nvPr/>
        </p:nvSpPr>
        <p:spPr>
          <a:xfrm>
            <a:off x="7077456" y="5102352"/>
            <a:ext cx="493776" cy="493776"/>
          </a:xfrm>
          <a:prstGeom prst="ellipse">
            <a:avLst/>
          </a:prstGeom>
          <a:solidFill>
            <a:srgbClr val="7A3B0B"/>
          </a:solidFill>
          <a:ln w="12700">
            <a:solidFill>
              <a:srgbClr val="7A3B0B"/>
            </a:solidFill>
            <a:prstDash val="solid"/>
          </a:ln>
        </p:spPr>
      </p:sp>
      <p:pic>
        <p:nvPicPr>
          <p:cNvPr id="26" name="Image 4" descr="icons/book-w.png">    </p:cNvPr>
          <p:cNvPicPr>
            <a:picLocks noChangeAspect="1"/>
          </p:cNvPicPr>
          <p:nvPr/>
        </p:nvPicPr>
        <p:blipFill>
          <a:blip r:embed="rId5"/>
          <a:stretch>
            <a:fillRect/>
          </a:stretch>
        </p:blipFill>
        <p:spPr>
          <a:xfrm>
            <a:off x="7198431" y="5223327"/>
            <a:ext cx="251826" cy="251826"/>
          </a:xfrm>
          <a:prstGeom prst="rect">
            <a:avLst/>
          </a:prstGeom>
        </p:spPr>
      </p:pic>
      <p:sp>
        <p:nvSpPr>
          <p:cNvPr id="27" name="Text 20"/>
          <p:cNvSpPr txBox="1"/>
          <p:nvPr/>
        </p:nvSpPr>
        <p:spPr>
          <a:xfrm>
            <a:off x="7699248" y="5029200"/>
            <a:ext cx="3685032"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Content available</a:t>
            </a:r>
            <a:endParaRPr lang="en-US" sz="1250" dirty="0"/>
          </a:p>
        </p:txBody>
      </p:sp>
      <p:sp>
        <p:nvSpPr>
          <p:cNvPr id="28" name="Text 21"/>
          <p:cNvSpPr txBox="1"/>
          <p:nvPr/>
        </p:nvSpPr>
        <p:spPr>
          <a:xfrm>
            <a:off x="7699248" y="5303520"/>
            <a:ext cx="3685032" cy="457200"/>
          </a:xfrm>
          <a:prstGeom prst="rect">
            <a:avLst/>
          </a:prstGeom>
          <a:noFill/>
          <a:ln/>
        </p:spPr>
        <p:txBody>
          <a:bodyPr wrap="square" lIns="0" tIns="0" rIns="0" bIns="0" rtlCol="0" anchor="t"/>
          <a:lstStyle/>
          <a:p>
            <a:pPr algn="l" indent="0" marL="0">
              <a:lnSpc>
                <a:spcPts val="1450"/>
              </a:lnSpc>
              <a:buNone/>
            </a:pPr>
            <a:r>
              <a:rPr lang="en-US" sz="1050" dirty="0">
                <a:solidFill>
                  <a:srgbClr val="AFB4BF"/>
                </a:solidFill>
                <a:latin typeface="Calibri" pitchFamily="34" charset="0"/>
                <a:ea typeface="Calibri" pitchFamily="34" charset="-122"/>
                <a:cs typeface="Calibri" pitchFamily="34" charset="-120"/>
              </a:rPr>
              <a:t>One query and twenty analytics rule templates ship with the connector.</a:t>
            </a:r>
            <a:endParaRPr lang="en-US" sz="1050" dirty="0"/>
          </a:p>
        </p:txBody>
      </p:sp>
      <p:sp>
        <p:nvSpPr>
          <p:cNvPr id="29" name="Text 22"/>
          <p:cNvSpPr txBox="1"/>
          <p:nvPr/>
        </p:nvSpPr>
        <p:spPr>
          <a:xfrm>
            <a:off x="6839712" y="5961888"/>
            <a:ext cx="4782312" cy="274320"/>
          </a:xfrm>
          <a:prstGeom prst="rect">
            <a:avLst/>
          </a:prstGeom>
          <a:noFill/>
          <a:ln/>
        </p:spPr>
        <p:txBody>
          <a:bodyPr wrap="square" lIns="0" tIns="0" rIns="0" bIns="0" rtlCol="0" anchor="ctr"/>
          <a:lstStyle/>
          <a:p>
            <a:pPr indent="0" marL="0">
              <a:lnSpc>
                <a:spcPts val="1300"/>
              </a:lnSpc>
              <a:buNone/>
            </a:pPr>
            <a:r>
              <a:rPr lang="en-US" sz="1000" i="1" dirty="0">
                <a:solidFill>
                  <a:srgbClr val="8D919C"/>
                </a:solidFill>
                <a:latin typeface="Calibri" pitchFamily="34" charset="0"/>
                <a:ea typeface="Calibri" pitchFamily="34" charset="-122"/>
                <a:cs typeface="Calibri" pitchFamily="34" charset="-120"/>
              </a:rPr>
              <a:t>Prerequisite noted on the page: to collect from machines outside Azure, Azure Arc must be installed and enabled.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CONNECTOR DETAIL</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Syslog via AMA</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481328"/>
            <a:ext cx="6126480" cy="3886200"/>
          </a:xfrm>
          <a:prstGeom prst="roundRect">
            <a:avLst>
              <a:gd name="adj" fmla="val 2118"/>
            </a:avLst>
          </a:prstGeom>
          <a:solidFill>
            <a:srgbClr val="1B1E24"/>
          </a:solidFill>
          <a:ln w="11430">
            <a:solidFill>
              <a:srgbClr val="3A3F4A"/>
            </a:solidFill>
            <a:prstDash val="solid"/>
          </a:ln>
          <a:effectLst>
            <a:outerShdw sx="100000" sy="100000" kx="0" ky="0" algn="bl" rotWithShape="0" blurRad="228600" dist="38100" dir="5400000">
              <a:srgbClr val="000000">
                <a:alpha val="34000"/>
              </a:srgbClr>
            </a:outerShdw>
          </a:effectLst>
        </p:spPr>
      </p:sp>
      <p:pic>
        <p:nvPicPr>
          <p:cNvPr id="7" name="Image 0" descr="img/image4.png">    </p:cNvPr>
          <p:cNvPicPr>
            <a:picLocks noChangeAspect="1"/>
          </p:cNvPicPr>
          <p:nvPr/>
        </p:nvPicPr>
        <p:blipFill>
          <a:blip r:embed="rId1"/>
          <a:stretch>
            <a:fillRect/>
          </a:stretch>
        </p:blipFill>
        <p:spPr>
          <a:xfrm>
            <a:off x="658368" y="1572768"/>
            <a:ext cx="5943600" cy="3703320"/>
          </a:xfrm>
          <a:prstGeom prst="rect">
            <a:avLst/>
          </a:prstGeom>
        </p:spPr>
      </p:pic>
      <p:sp>
        <p:nvSpPr>
          <p:cNvPr id="8" name="Text 5"/>
          <p:cNvSpPr txBox="1"/>
          <p:nvPr/>
        </p:nvSpPr>
        <p:spPr>
          <a:xfrm>
            <a:off x="658368" y="5394960"/>
            <a:ext cx="6309360" cy="237744"/>
          </a:xfrm>
          <a:prstGeom prst="rect">
            <a:avLst/>
          </a:prstGeom>
          <a:noFill/>
          <a:ln/>
        </p:spPr>
        <p:txBody>
          <a:bodyPr wrap="square" lIns="0" tIns="0" rIns="0" bIns="0" rtlCol="0" anchor="ctr"/>
          <a:lstStyle/>
          <a:p>
            <a:pPr indent="0" marL="0">
              <a:buNone/>
            </a:pPr>
            <a:r>
              <a:rPr lang="en-US" sz="950" i="1" dirty="0">
                <a:solidFill>
                  <a:srgbClr val="8D919C"/>
                </a:solidFill>
                <a:latin typeface="Calibri" pitchFamily="34" charset="0"/>
                <a:ea typeface="Calibri" pitchFamily="34" charset="-122"/>
                <a:cs typeface="Calibri" pitchFamily="34" charset="-120"/>
              </a:rPr>
              <a:t>Figure 4 — Content hub: Syslog solution installed, connector reporting Connected</a:t>
            </a:r>
            <a:endParaRPr lang="en-US" sz="950" dirty="0"/>
          </a:p>
        </p:txBody>
      </p:sp>
      <p:sp>
        <p:nvSpPr>
          <p:cNvPr id="9" name="Shape 6"/>
          <p:cNvSpPr/>
          <p:nvPr/>
        </p:nvSpPr>
        <p:spPr>
          <a:xfrm>
            <a:off x="7022592" y="1572768"/>
            <a:ext cx="4599432" cy="2048256"/>
          </a:xfrm>
          <a:prstGeom prst="roundRect">
            <a:avLst>
              <a:gd name="adj" fmla="val 446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0" name="Text 7"/>
          <p:cNvSpPr txBox="1"/>
          <p:nvPr/>
        </p:nvSpPr>
        <p:spPr>
          <a:xfrm>
            <a:off x="7315200" y="1810512"/>
            <a:ext cx="4014216"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How the pipeline works</a:t>
            </a:r>
            <a:endParaRPr lang="en-US" sz="1350" dirty="0"/>
          </a:p>
        </p:txBody>
      </p:sp>
      <p:sp>
        <p:nvSpPr>
          <p:cNvPr id="11" name="Text 8"/>
          <p:cNvSpPr txBox="1"/>
          <p:nvPr/>
        </p:nvSpPr>
        <p:spPr>
          <a:xfrm>
            <a:off x="7315200" y="2176272"/>
            <a:ext cx="4014216" cy="1280160"/>
          </a:xfrm>
          <a:prstGeom prst="rect">
            <a:avLst/>
          </a:prstGeom>
          <a:noFill/>
          <a:ln/>
        </p:spPr>
        <p:txBody>
          <a:bodyPr wrap="square" lIns="0" tIns="0" rIns="0" bIns="0" rtlCol="0" anchor="t"/>
          <a:lstStyle/>
          <a:p>
            <a:pPr algn="l" indent="0" marL="0">
              <a:lnSpc>
                <a:spcPts val="1650"/>
              </a:lnSpc>
              <a:buNone/>
            </a:pPr>
            <a:r>
              <a:rPr lang="en-US" sz="1150" dirty="0">
                <a:solidFill>
                  <a:srgbClr val="AFB4BF"/>
                </a:solidFill>
                <a:latin typeface="Calibri" pitchFamily="34" charset="0"/>
                <a:ea typeface="Calibri" pitchFamily="34" charset="-122"/>
                <a:cs typeface="Calibri" pitchFamily="34" charset="-120"/>
              </a:rPr>
              <a:t>Syslog is the common event logging protocol on Linux. Applications hand messages to the local syslog daemon; installing the agent reconfigures that daemon to forward messages to the Azure Monitor Agent, which then ships them to the LAWmuler workspace.</a:t>
            </a:r>
            <a:endParaRPr lang="en-US" sz="1150" dirty="0"/>
          </a:p>
        </p:txBody>
      </p:sp>
      <p:sp>
        <p:nvSpPr>
          <p:cNvPr id="12" name="Text 9"/>
          <p:cNvSpPr txBox="1"/>
          <p:nvPr/>
        </p:nvSpPr>
        <p:spPr>
          <a:xfrm>
            <a:off x="7022592" y="3803904"/>
            <a:ext cx="4599432" cy="219456"/>
          </a:xfrm>
          <a:prstGeom prst="rect">
            <a:avLst/>
          </a:prstGeom>
          <a:noFill/>
          <a:ln/>
        </p:spPr>
        <p:txBody>
          <a:bodyPr wrap="square" lIns="0" tIns="0" rIns="0" bIns="0" rtlCol="0" anchor="ctr"/>
          <a:lstStyle/>
          <a:p>
            <a:pPr indent="0" marL="0">
              <a:buNone/>
            </a:pPr>
            <a:r>
              <a:rPr lang="en-US" sz="950" b="1" spc="180" kern="0" dirty="0">
                <a:solidFill>
                  <a:srgbClr val="8D919C"/>
                </a:solidFill>
                <a:latin typeface="Calibri" pitchFamily="34" charset="0"/>
                <a:ea typeface="Calibri" pitchFamily="34" charset="-122"/>
                <a:cs typeface="Calibri" pitchFamily="34" charset="-120"/>
              </a:rPr>
              <a:t>INGESTION PATH</a:t>
            </a:r>
            <a:endParaRPr lang="en-US" sz="950" dirty="0"/>
          </a:p>
        </p:txBody>
      </p:sp>
      <p:sp>
        <p:nvSpPr>
          <p:cNvPr id="13" name="Shape 10"/>
          <p:cNvSpPr/>
          <p:nvPr/>
        </p:nvSpPr>
        <p:spPr>
          <a:xfrm>
            <a:off x="7022592" y="4096512"/>
            <a:ext cx="4599432" cy="402336"/>
          </a:xfrm>
          <a:prstGeom prst="roundRect">
            <a:avLst>
              <a:gd name="adj" fmla="val 15909"/>
            </a:avLst>
          </a:prstGeom>
          <a:solidFill>
            <a:srgbClr val="1E2129"/>
          </a:solidFill>
          <a:ln w="9525">
            <a:solidFill>
              <a:srgbClr val="2E323B"/>
            </a:solidFill>
            <a:prstDash val="solid"/>
          </a:ln>
        </p:spPr>
      </p:sp>
      <p:sp>
        <p:nvSpPr>
          <p:cNvPr id="14" name="Text 11"/>
          <p:cNvSpPr txBox="1"/>
          <p:nvPr/>
        </p:nvSpPr>
        <p:spPr>
          <a:xfrm>
            <a:off x="7260336" y="4096512"/>
            <a:ext cx="4142232" cy="402336"/>
          </a:xfrm>
          <a:prstGeom prst="rect">
            <a:avLst/>
          </a:prstGeom>
          <a:noFill/>
          <a:ln/>
        </p:spPr>
        <p:txBody>
          <a:bodyPr wrap="square" lIns="0" tIns="0" rIns="0" bIns="0" rtlCol="0" anchor="ctr"/>
          <a:lstStyle/>
          <a:p>
            <a:pPr indent="0" marL="0">
              <a:buNone/>
            </a:pPr>
            <a:r>
              <a:rPr lang="en-US" sz="1150" dirty="0">
                <a:solidFill>
                  <a:srgbClr val="ECEDF1"/>
                </a:solidFill>
                <a:latin typeface="Calibri" pitchFamily="34" charset="0"/>
                <a:ea typeface="Calibri" pitchFamily="34" charset="-122"/>
                <a:cs typeface="Calibri" pitchFamily="34" charset="-120"/>
              </a:rPr>
              <a:t>1.  Application</a:t>
            </a:r>
            <a:endParaRPr lang="en-US" sz="1150" dirty="0"/>
          </a:p>
        </p:txBody>
      </p:sp>
      <p:sp>
        <p:nvSpPr>
          <p:cNvPr id="15" name="Shape 12"/>
          <p:cNvSpPr/>
          <p:nvPr/>
        </p:nvSpPr>
        <p:spPr>
          <a:xfrm>
            <a:off x="7022592" y="4608576"/>
            <a:ext cx="4599432" cy="402336"/>
          </a:xfrm>
          <a:prstGeom prst="roundRect">
            <a:avLst>
              <a:gd name="adj" fmla="val 15909"/>
            </a:avLst>
          </a:prstGeom>
          <a:solidFill>
            <a:srgbClr val="1E2129"/>
          </a:solidFill>
          <a:ln w="9525">
            <a:solidFill>
              <a:srgbClr val="2E323B"/>
            </a:solidFill>
            <a:prstDash val="solid"/>
          </a:ln>
        </p:spPr>
      </p:sp>
      <p:sp>
        <p:nvSpPr>
          <p:cNvPr id="16" name="Text 13"/>
          <p:cNvSpPr txBox="1"/>
          <p:nvPr/>
        </p:nvSpPr>
        <p:spPr>
          <a:xfrm>
            <a:off x="7260336" y="4608576"/>
            <a:ext cx="4142232" cy="402336"/>
          </a:xfrm>
          <a:prstGeom prst="rect">
            <a:avLst/>
          </a:prstGeom>
          <a:noFill/>
          <a:ln/>
        </p:spPr>
        <p:txBody>
          <a:bodyPr wrap="square" lIns="0" tIns="0" rIns="0" bIns="0" rtlCol="0" anchor="ctr"/>
          <a:lstStyle/>
          <a:p>
            <a:pPr indent="0" marL="0">
              <a:buNone/>
            </a:pPr>
            <a:r>
              <a:rPr lang="en-US" sz="1150" dirty="0">
                <a:solidFill>
                  <a:srgbClr val="ECEDF1"/>
                </a:solidFill>
                <a:latin typeface="Calibri" pitchFamily="34" charset="0"/>
                <a:ea typeface="Calibri" pitchFamily="34" charset="-122"/>
                <a:cs typeface="Calibri" pitchFamily="34" charset="-120"/>
              </a:rPr>
              <a:t>2.  rsyslog daemon</a:t>
            </a:r>
            <a:endParaRPr lang="en-US" sz="1150" dirty="0"/>
          </a:p>
        </p:txBody>
      </p:sp>
      <p:sp>
        <p:nvSpPr>
          <p:cNvPr id="17" name="Shape 14"/>
          <p:cNvSpPr/>
          <p:nvPr/>
        </p:nvSpPr>
        <p:spPr>
          <a:xfrm>
            <a:off x="7022592" y="5120640"/>
            <a:ext cx="4599432" cy="402336"/>
          </a:xfrm>
          <a:prstGeom prst="roundRect">
            <a:avLst>
              <a:gd name="adj" fmla="val 15909"/>
            </a:avLst>
          </a:prstGeom>
          <a:solidFill>
            <a:srgbClr val="1E2129"/>
          </a:solidFill>
          <a:ln w="9525">
            <a:solidFill>
              <a:srgbClr val="2E323B"/>
            </a:solidFill>
            <a:prstDash val="solid"/>
          </a:ln>
        </p:spPr>
      </p:sp>
      <p:sp>
        <p:nvSpPr>
          <p:cNvPr id="18" name="Text 15"/>
          <p:cNvSpPr txBox="1"/>
          <p:nvPr/>
        </p:nvSpPr>
        <p:spPr>
          <a:xfrm>
            <a:off x="7260336" y="5120640"/>
            <a:ext cx="4142232" cy="402336"/>
          </a:xfrm>
          <a:prstGeom prst="rect">
            <a:avLst/>
          </a:prstGeom>
          <a:noFill/>
          <a:ln/>
        </p:spPr>
        <p:txBody>
          <a:bodyPr wrap="square" lIns="0" tIns="0" rIns="0" bIns="0" rtlCol="0" anchor="ctr"/>
          <a:lstStyle/>
          <a:p>
            <a:pPr indent="0" marL="0">
              <a:buNone/>
            </a:pPr>
            <a:r>
              <a:rPr lang="en-US" sz="1150" dirty="0">
                <a:solidFill>
                  <a:srgbClr val="ECEDF1"/>
                </a:solidFill>
                <a:latin typeface="Calibri" pitchFamily="34" charset="0"/>
                <a:ea typeface="Calibri" pitchFamily="34" charset="-122"/>
                <a:cs typeface="Calibri" pitchFamily="34" charset="-120"/>
              </a:rPr>
              <a:t>3.  Azure Monitor Agent</a:t>
            </a:r>
            <a:endParaRPr lang="en-US" sz="1150" dirty="0"/>
          </a:p>
        </p:txBody>
      </p:sp>
      <p:sp>
        <p:nvSpPr>
          <p:cNvPr id="19" name="Shape 16"/>
          <p:cNvSpPr/>
          <p:nvPr/>
        </p:nvSpPr>
        <p:spPr>
          <a:xfrm>
            <a:off x="7022592" y="5632704"/>
            <a:ext cx="4599432" cy="402336"/>
          </a:xfrm>
          <a:prstGeom prst="roundRect">
            <a:avLst>
              <a:gd name="adj" fmla="val 15909"/>
            </a:avLst>
          </a:prstGeom>
          <a:solidFill>
            <a:srgbClr val="24160A"/>
          </a:solidFill>
          <a:ln w="9525">
            <a:solidFill>
              <a:srgbClr val="5C3512"/>
            </a:solidFill>
            <a:prstDash val="solid"/>
          </a:ln>
        </p:spPr>
      </p:sp>
      <p:sp>
        <p:nvSpPr>
          <p:cNvPr id="20" name="Text 17"/>
          <p:cNvSpPr txBox="1"/>
          <p:nvPr/>
        </p:nvSpPr>
        <p:spPr>
          <a:xfrm>
            <a:off x="7260336" y="5632704"/>
            <a:ext cx="4142232" cy="402336"/>
          </a:xfrm>
          <a:prstGeom prst="rect">
            <a:avLst/>
          </a:prstGeom>
          <a:noFill/>
          <a:ln/>
        </p:spPr>
        <p:txBody>
          <a:bodyPr wrap="square" lIns="0" tIns="0" rIns="0" bIns="0" rtlCol="0" anchor="ctr"/>
          <a:lstStyle/>
          <a:p>
            <a:pPr indent="0" marL="0">
              <a:buNone/>
            </a:pPr>
            <a:r>
              <a:rPr lang="en-US" sz="1150" b="1" dirty="0">
                <a:solidFill>
                  <a:srgbClr val="FFA94D"/>
                </a:solidFill>
                <a:latin typeface="Calibri" pitchFamily="34" charset="0"/>
                <a:ea typeface="Calibri" pitchFamily="34" charset="-122"/>
                <a:cs typeface="Calibri" pitchFamily="34" charset="-120"/>
              </a:rPr>
              <a:t>4.  LAWmuler workspace</a:t>
            </a:r>
            <a:endParaRPr lang="en-US" sz="1150" dirty="0"/>
          </a:p>
        </p:txBody>
      </p:sp>
      <p:sp>
        <p:nvSpPr>
          <p:cNvPr id="21" name="Text 18"/>
          <p:cNvSpPr txBox="1"/>
          <p:nvPr/>
        </p:nvSpPr>
        <p:spPr>
          <a:xfrm>
            <a:off x="658368" y="5760720"/>
            <a:ext cx="5943600" cy="310896"/>
          </a:xfrm>
          <a:prstGeom prst="rect">
            <a:avLst/>
          </a:prstGeom>
          <a:noFill/>
          <a:ln/>
        </p:spPr>
        <p:txBody>
          <a:bodyPr wrap="square" lIns="0" tIns="0" rIns="0" bIns="0" rtlCol="0" anchor="ctr"/>
          <a:lstStyle/>
          <a:p>
            <a:pPr indent="0" marL="0">
              <a:lnSpc>
                <a:spcPts val="1500"/>
              </a:lnSpc>
              <a:buNone/>
            </a:pPr>
            <a:r>
              <a:rPr lang="en-US" sz="1100" i="1" dirty="0">
                <a:solidFill>
                  <a:srgbClr val="AFB4BF"/>
                </a:solidFill>
                <a:latin typeface="Calibri" pitchFamily="34" charset="0"/>
                <a:ea typeface="Calibri" pitchFamily="34" charset="-122"/>
                <a:cs typeface="Calibri" pitchFamily="34" charset="-120"/>
              </a:rPr>
              <a:t>Connector reported its last log received eleven hours before capture, confirming a steady feed.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VERIFICATION</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Log verification with KQL — Windows</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536192"/>
            <a:ext cx="6858000" cy="4480560"/>
          </a:xfrm>
          <a:prstGeom prst="roundRect">
            <a:avLst>
              <a:gd name="adj" fmla="val 1837"/>
            </a:avLst>
          </a:prstGeom>
          <a:solidFill>
            <a:srgbClr val="1B1E24"/>
          </a:solidFill>
          <a:ln w="11430">
            <a:solidFill>
              <a:srgbClr val="3A3F4A"/>
            </a:solidFill>
            <a:prstDash val="solid"/>
          </a:ln>
          <a:effectLst>
            <a:outerShdw sx="100000" sy="100000" kx="0" ky="0" algn="bl" rotWithShape="0" blurRad="228600" dist="38100" dir="5400000">
              <a:srgbClr val="000000">
                <a:alpha val="34000"/>
              </a:srgbClr>
            </a:outerShdw>
          </a:effectLst>
        </p:spPr>
      </p:sp>
      <p:pic>
        <p:nvPicPr>
          <p:cNvPr id="7" name="Image 0" descr="img/image5.png">    </p:cNvPr>
          <p:cNvPicPr>
            <a:picLocks noChangeAspect="1"/>
          </p:cNvPicPr>
          <p:nvPr/>
        </p:nvPicPr>
        <p:blipFill>
          <a:blip r:embed="rId1"/>
          <a:stretch>
            <a:fillRect/>
          </a:stretch>
        </p:blipFill>
        <p:spPr>
          <a:xfrm>
            <a:off x="658368" y="1627632"/>
            <a:ext cx="6675120" cy="4297680"/>
          </a:xfrm>
          <a:prstGeom prst="rect">
            <a:avLst/>
          </a:prstGeom>
        </p:spPr>
      </p:pic>
      <p:sp>
        <p:nvSpPr>
          <p:cNvPr id="8" name="Text 5"/>
          <p:cNvSpPr txBox="1"/>
          <p:nvPr/>
        </p:nvSpPr>
        <p:spPr>
          <a:xfrm>
            <a:off x="7845552" y="1627632"/>
            <a:ext cx="3776472" cy="219456"/>
          </a:xfrm>
          <a:prstGeom prst="rect">
            <a:avLst/>
          </a:prstGeom>
          <a:noFill/>
          <a:ln/>
        </p:spPr>
        <p:txBody>
          <a:bodyPr wrap="square" lIns="0" tIns="0" rIns="0" bIns="0" rtlCol="0" anchor="ctr"/>
          <a:lstStyle/>
          <a:p>
            <a:pPr indent="0" marL="0">
              <a:buNone/>
            </a:pPr>
            <a:r>
              <a:rPr lang="en-US" sz="950" b="1" spc="180" kern="0" dirty="0">
                <a:solidFill>
                  <a:srgbClr val="8D919C"/>
                </a:solidFill>
                <a:latin typeface="Calibri" pitchFamily="34" charset="0"/>
                <a:ea typeface="Calibri" pitchFamily="34" charset="-122"/>
                <a:cs typeface="Calibri" pitchFamily="34" charset="-120"/>
              </a:rPr>
              <a:t>QUERY RUN</a:t>
            </a:r>
            <a:endParaRPr lang="en-US" sz="950" dirty="0"/>
          </a:p>
        </p:txBody>
      </p:sp>
      <p:sp>
        <p:nvSpPr>
          <p:cNvPr id="9" name="Shape 6"/>
          <p:cNvSpPr/>
          <p:nvPr/>
        </p:nvSpPr>
        <p:spPr>
          <a:xfrm>
            <a:off x="7845552" y="1901952"/>
            <a:ext cx="3776472" cy="786384"/>
          </a:xfrm>
          <a:prstGeom prst="roundRect">
            <a:avLst>
              <a:gd name="adj" fmla="val 8140"/>
            </a:avLst>
          </a:prstGeom>
          <a:solidFill>
            <a:srgbClr val="101217"/>
          </a:solidFill>
          <a:ln w="9525">
            <a:solidFill>
              <a:srgbClr val="5C3512"/>
            </a:solidFill>
            <a:prstDash val="solid"/>
          </a:ln>
        </p:spPr>
      </p:sp>
      <p:sp>
        <p:nvSpPr>
          <p:cNvPr id="10" name="Text 7"/>
          <p:cNvSpPr txBox="1"/>
          <p:nvPr/>
        </p:nvSpPr>
        <p:spPr>
          <a:xfrm>
            <a:off x="8083296" y="1901952"/>
            <a:ext cx="3319272" cy="786384"/>
          </a:xfrm>
          <a:prstGeom prst="rect">
            <a:avLst/>
          </a:prstGeom>
          <a:noFill/>
          <a:ln/>
        </p:spPr>
        <p:txBody>
          <a:bodyPr wrap="square" lIns="0" tIns="0" rIns="0" bIns="0" rtlCol="0" anchor="ctr"/>
          <a:lstStyle/>
          <a:p>
            <a:pPr indent="0" marL="0">
              <a:lnSpc>
                <a:spcPts val="1700"/>
              </a:lnSpc>
              <a:buNone/>
            </a:pPr>
            <a:r>
              <a:rPr lang="en-US" sz="1300" dirty="0">
                <a:solidFill>
                  <a:srgbClr val="FFA94D"/>
                </a:solidFill>
                <a:latin typeface="Courier New" pitchFamily="34" charset="0"/>
                <a:ea typeface="Courier New" pitchFamily="34" charset="-122"/>
                <a:cs typeface="Courier New" pitchFamily="34" charset="-120"/>
              </a:rPr>
              <a:t>SecurityEvent</a:t>
            </a:r>
            <a:endParaRPr lang="en-US" sz="1300" dirty="0"/>
          </a:p>
          <a:p>
            <a:pPr indent="0" marL="0">
              <a:lnSpc>
                <a:spcPts val="1700"/>
              </a:lnSpc>
              <a:buNone/>
            </a:pPr>
            <a:r>
              <a:rPr lang="en-US" sz="1300" dirty="0">
                <a:solidFill>
                  <a:srgbClr val="FFA94D"/>
                </a:solidFill>
                <a:latin typeface="Courier New" pitchFamily="34" charset="0"/>
                <a:ea typeface="Courier New" pitchFamily="34" charset="-122"/>
                <a:cs typeface="Courier New" pitchFamily="34" charset="-120"/>
              </a:rPr>
              <a:t>| take 10</a:t>
            </a:r>
            <a:endParaRPr lang="en-US" sz="1300" dirty="0"/>
          </a:p>
        </p:txBody>
      </p:sp>
      <p:sp>
        <p:nvSpPr>
          <p:cNvPr id="11" name="Shape 8"/>
          <p:cNvSpPr/>
          <p:nvPr/>
        </p:nvSpPr>
        <p:spPr>
          <a:xfrm>
            <a:off x="7845552" y="2834640"/>
            <a:ext cx="3776472" cy="3090672"/>
          </a:xfrm>
          <a:prstGeom prst="roundRect">
            <a:avLst>
              <a:gd name="adj" fmla="val 2959"/>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2" name="Text 9"/>
          <p:cNvSpPr txBox="1"/>
          <p:nvPr/>
        </p:nvSpPr>
        <p:spPr>
          <a:xfrm>
            <a:off x="8119872" y="3072384"/>
            <a:ext cx="3227832"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the result confirms</a:t>
            </a:r>
            <a:endParaRPr lang="en-US" sz="1300" dirty="0"/>
          </a:p>
        </p:txBody>
      </p:sp>
      <p:pic>
        <p:nvPicPr>
          <p:cNvPr id="13" name="Image 1" descr="icons/check-o.png">    </p:cNvPr>
          <p:cNvPicPr>
            <a:picLocks noChangeAspect="1"/>
          </p:cNvPicPr>
          <p:nvPr/>
        </p:nvPicPr>
        <p:blipFill>
          <a:blip r:embed="rId2"/>
          <a:stretch>
            <a:fillRect/>
          </a:stretch>
        </p:blipFill>
        <p:spPr>
          <a:xfrm>
            <a:off x="8138160" y="3493008"/>
            <a:ext cx="182880" cy="182880"/>
          </a:xfrm>
          <a:prstGeom prst="rect">
            <a:avLst/>
          </a:prstGeom>
        </p:spPr>
      </p:pic>
      <p:sp>
        <p:nvSpPr>
          <p:cNvPr id="14" name="Text 10"/>
          <p:cNvSpPr txBox="1"/>
          <p:nvPr/>
        </p:nvSpPr>
        <p:spPr>
          <a:xfrm>
            <a:off x="8412480" y="3419856"/>
            <a:ext cx="2916936" cy="475488"/>
          </a:xfrm>
          <a:prstGeom prst="rect">
            <a:avLst/>
          </a:prstGeom>
          <a:noFill/>
          <a:ln/>
        </p:spPr>
        <p:txBody>
          <a:bodyPr wrap="square" lIns="0" tIns="0" rIns="0" bIns="0" rtlCol="0" anchor="ctr"/>
          <a:lstStyle/>
          <a:p>
            <a:pPr indent="0" marL="0">
              <a:lnSpc>
                <a:spcPts val="1450"/>
              </a:lnSpc>
              <a:buNone/>
            </a:pPr>
            <a:r>
              <a:rPr lang="en-US" sz="1100" dirty="0">
                <a:solidFill>
                  <a:srgbClr val="ECEDF1"/>
                </a:solidFill>
                <a:latin typeface="Calibri" pitchFamily="34" charset="0"/>
                <a:ea typeface="Calibri" pitchFamily="34" charset="-122"/>
                <a:cs typeface="Calibri" pitchFamily="34" charset="-120"/>
              </a:rPr>
              <a:t>Ten rows returned in roughly two seconds</a:t>
            </a:r>
            <a:endParaRPr lang="en-US" sz="1100" dirty="0"/>
          </a:p>
        </p:txBody>
      </p:sp>
      <p:pic>
        <p:nvPicPr>
          <p:cNvPr id="15" name="Image 2" descr="icons/check-o.png">    </p:cNvPr>
          <p:cNvPicPr>
            <a:picLocks noChangeAspect="1"/>
          </p:cNvPicPr>
          <p:nvPr/>
        </p:nvPicPr>
        <p:blipFill>
          <a:blip r:embed="rId3"/>
          <a:stretch>
            <a:fillRect/>
          </a:stretch>
        </p:blipFill>
        <p:spPr>
          <a:xfrm>
            <a:off x="8138160" y="3986784"/>
            <a:ext cx="182880" cy="182880"/>
          </a:xfrm>
          <a:prstGeom prst="rect">
            <a:avLst/>
          </a:prstGeom>
        </p:spPr>
      </p:pic>
      <p:sp>
        <p:nvSpPr>
          <p:cNvPr id="16" name="Text 11"/>
          <p:cNvSpPr txBox="1"/>
          <p:nvPr/>
        </p:nvSpPr>
        <p:spPr>
          <a:xfrm>
            <a:off x="8412480" y="3913632"/>
            <a:ext cx="2916936" cy="475488"/>
          </a:xfrm>
          <a:prstGeom prst="rect">
            <a:avLst/>
          </a:prstGeom>
          <a:noFill/>
          <a:ln/>
        </p:spPr>
        <p:txBody>
          <a:bodyPr wrap="square" lIns="0" tIns="0" rIns="0" bIns="0" rtlCol="0" anchor="ctr"/>
          <a:lstStyle/>
          <a:p>
            <a:pPr indent="0" marL="0">
              <a:lnSpc>
                <a:spcPts val="1450"/>
              </a:lnSpc>
              <a:buNone/>
            </a:pPr>
            <a:r>
              <a:rPr lang="en-US" sz="1100" dirty="0">
                <a:solidFill>
                  <a:srgbClr val="ECEDF1"/>
                </a:solidFill>
                <a:latin typeface="Calibri" pitchFamily="34" charset="0"/>
                <a:ea typeface="Calibri" pitchFamily="34" charset="-122"/>
                <a:cs typeface="Calibri" pitchFamily="34" charset="-120"/>
              </a:rPr>
              <a:t>Computer column resolves to WindowsVM</a:t>
            </a:r>
            <a:endParaRPr lang="en-US" sz="1100" dirty="0"/>
          </a:p>
        </p:txBody>
      </p:sp>
      <p:pic>
        <p:nvPicPr>
          <p:cNvPr id="17" name="Image 3" descr="icons/check-o.png">    </p:cNvPr>
          <p:cNvPicPr>
            <a:picLocks noChangeAspect="1"/>
          </p:cNvPicPr>
          <p:nvPr/>
        </p:nvPicPr>
        <p:blipFill>
          <a:blip r:embed="rId4"/>
          <a:stretch>
            <a:fillRect/>
          </a:stretch>
        </p:blipFill>
        <p:spPr>
          <a:xfrm>
            <a:off x="8138160" y="4480560"/>
            <a:ext cx="182880" cy="182880"/>
          </a:xfrm>
          <a:prstGeom prst="rect">
            <a:avLst/>
          </a:prstGeom>
        </p:spPr>
      </p:pic>
      <p:sp>
        <p:nvSpPr>
          <p:cNvPr id="18" name="Text 12"/>
          <p:cNvSpPr txBox="1"/>
          <p:nvPr/>
        </p:nvSpPr>
        <p:spPr>
          <a:xfrm>
            <a:off x="8412480" y="4407408"/>
            <a:ext cx="2916936" cy="475488"/>
          </a:xfrm>
          <a:prstGeom prst="rect">
            <a:avLst/>
          </a:prstGeom>
          <a:noFill/>
          <a:ln/>
        </p:spPr>
        <p:txBody>
          <a:bodyPr wrap="square" lIns="0" tIns="0" rIns="0" bIns="0" rtlCol="0" anchor="ctr"/>
          <a:lstStyle/>
          <a:p>
            <a:pPr indent="0" marL="0">
              <a:lnSpc>
                <a:spcPts val="1450"/>
              </a:lnSpc>
              <a:buNone/>
            </a:pPr>
            <a:r>
              <a:rPr lang="en-US" sz="1100" dirty="0">
                <a:solidFill>
                  <a:srgbClr val="ECEDF1"/>
                </a:solidFill>
                <a:latin typeface="Calibri" pitchFamily="34" charset="0"/>
                <a:ea typeface="Calibri" pitchFamily="34" charset="-122"/>
                <a:cs typeface="Calibri" pitchFamily="34" charset="-120"/>
              </a:rPr>
              <a:t>Event source is Microsoft-Windows-Security-Auditing</a:t>
            </a:r>
            <a:endParaRPr lang="en-US" sz="1100" dirty="0"/>
          </a:p>
        </p:txBody>
      </p:sp>
      <p:pic>
        <p:nvPicPr>
          <p:cNvPr id="19" name="Image 4" descr="icons/check-o.png">    </p:cNvPr>
          <p:cNvPicPr>
            <a:picLocks noChangeAspect="1"/>
          </p:cNvPicPr>
          <p:nvPr/>
        </p:nvPicPr>
        <p:blipFill>
          <a:blip r:embed="rId5"/>
          <a:stretch>
            <a:fillRect/>
          </a:stretch>
        </p:blipFill>
        <p:spPr>
          <a:xfrm>
            <a:off x="8138160" y="4974336"/>
            <a:ext cx="182880" cy="182880"/>
          </a:xfrm>
          <a:prstGeom prst="rect">
            <a:avLst/>
          </a:prstGeom>
        </p:spPr>
      </p:pic>
      <p:sp>
        <p:nvSpPr>
          <p:cNvPr id="20" name="Text 13"/>
          <p:cNvSpPr txBox="1"/>
          <p:nvPr/>
        </p:nvSpPr>
        <p:spPr>
          <a:xfrm>
            <a:off x="8412480" y="4901184"/>
            <a:ext cx="2916936" cy="475488"/>
          </a:xfrm>
          <a:prstGeom prst="rect">
            <a:avLst/>
          </a:prstGeom>
          <a:noFill/>
          <a:ln/>
        </p:spPr>
        <p:txBody>
          <a:bodyPr wrap="square" lIns="0" tIns="0" rIns="0" bIns="0" rtlCol="0" anchor="ctr"/>
          <a:lstStyle/>
          <a:p>
            <a:pPr indent="0" marL="0">
              <a:lnSpc>
                <a:spcPts val="1450"/>
              </a:lnSpc>
              <a:buNone/>
            </a:pPr>
            <a:r>
              <a:rPr lang="en-US" sz="1100" dirty="0">
                <a:solidFill>
                  <a:srgbClr val="ECEDF1"/>
                </a:solidFill>
                <a:latin typeface="Calibri" pitchFamily="34" charset="0"/>
                <a:ea typeface="Calibri" pitchFamily="34" charset="-122"/>
                <a:cs typeface="Calibri" pitchFamily="34" charset="-120"/>
              </a:rPr>
              <a:t>Channel is Security, account type User</a:t>
            </a:r>
            <a:endParaRPr lang="en-US" sz="1100" dirty="0"/>
          </a:p>
        </p:txBody>
      </p:sp>
      <p:pic>
        <p:nvPicPr>
          <p:cNvPr id="21" name="Image 5" descr="icons/check-o.png">    </p:cNvPr>
          <p:cNvPicPr>
            <a:picLocks noChangeAspect="1"/>
          </p:cNvPicPr>
          <p:nvPr/>
        </p:nvPicPr>
        <p:blipFill>
          <a:blip r:embed="rId6"/>
          <a:stretch>
            <a:fillRect/>
          </a:stretch>
        </p:blipFill>
        <p:spPr>
          <a:xfrm>
            <a:off x="8138160" y="5468112"/>
            <a:ext cx="182880" cy="182880"/>
          </a:xfrm>
          <a:prstGeom prst="rect">
            <a:avLst/>
          </a:prstGeom>
        </p:spPr>
      </p:pic>
      <p:sp>
        <p:nvSpPr>
          <p:cNvPr id="22" name="Text 14"/>
          <p:cNvSpPr txBox="1"/>
          <p:nvPr/>
        </p:nvSpPr>
        <p:spPr>
          <a:xfrm>
            <a:off x="8412480" y="5394960"/>
            <a:ext cx="2916936" cy="475488"/>
          </a:xfrm>
          <a:prstGeom prst="rect">
            <a:avLst/>
          </a:prstGeom>
          <a:noFill/>
          <a:ln/>
        </p:spPr>
        <p:txBody>
          <a:bodyPr wrap="square" lIns="0" tIns="0" rIns="0" bIns="0" rtlCol="0" anchor="ctr"/>
          <a:lstStyle/>
          <a:p>
            <a:pPr indent="0" marL="0">
              <a:lnSpc>
                <a:spcPts val="1450"/>
              </a:lnSpc>
              <a:buNone/>
            </a:pPr>
            <a:r>
              <a:rPr lang="en-US" sz="1100" dirty="0">
                <a:solidFill>
                  <a:srgbClr val="ECEDF1"/>
                </a:solidFill>
                <a:latin typeface="Calibri" pitchFamily="34" charset="0"/>
                <a:ea typeface="Calibri" pitchFamily="34" charset="-122"/>
                <a:cs typeface="Calibri" pitchFamily="34" charset="-120"/>
              </a:rPr>
              <a:t>Accounts observed include IT.ADMIN and the machine account</a:t>
            </a:r>
            <a:endParaRPr lang="en-US" sz="1100" dirty="0"/>
          </a:p>
        </p:txBody>
      </p:sp>
      <p:sp>
        <p:nvSpPr>
          <p:cNvPr id="23" name="Text 15"/>
          <p:cNvSpPr txBox="1"/>
          <p:nvPr/>
        </p:nvSpPr>
        <p:spPr>
          <a:xfrm>
            <a:off x="658368" y="6016752"/>
            <a:ext cx="6949440" cy="237744"/>
          </a:xfrm>
          <a:prstGeom prst="rect">
            <a:avLst/>
          </a:prstGeom>
          <a:noFill/>
          <a:ln/>
        </p:spPr>
        <p:txBody>
          <a:bodyPr wrap="square" lIns="0" tIns="0" rIns="0" bIns="0" rtlCol="0" anchor="ctr"/>
          <a:lstStyle/>
          <a:p>
            <a:pPr indent="0" marL="0">
              <a:buNone/>
            </a:pPr>
            <a:r>
              <a:rPr lang="en-US" sz="950" i="1" dirty="0">
                <a:solidFill>
                  <a:srgbClr val="8D919C"/>
                </a:solidFill>
                <a:latin typeface="Calibri" pitchFamily="34" charset="0"/>
                <a:ea typeface="Calibri" pitchFamily="34" charset="-122"/>
                <a:cs typeface="Calibri" pitchFamily="34" charset="-120"/>
              </a:rPr>
              <a:t>Figure 5 — Advanced hunting, SecurityEvent results for the lawmuler workspace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VERIFICATION</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Log verification with KQL — Ubuntu</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517904"/>
            <a:ext cx="3200400" cy="658368"/>
          </a:xfrm>
          <a:prstGeom prst="roundRect">
            <a:avLst>
              <a:gd name="adj" fmla="val 9722"/>
            </a:avLst>
          </a:prstGeom>
          <a:solidFill>
            <a:srgbClr val="101217"/>
          </a:solidFill>
          <a:ln w="9525">
            <a:solidFill>
              <a:srgbClr val="5C3512"/>
            </a:solidFill>
            <a:prstDash val="solid"/>
          </a:ln>
        </p:spPr>
      </p:sp>
      <p:sp>
        <p:nvSpPr>
          <p:cNvPr id="7" name="Text 5"/>
          <p:cNvSpPr txBox="1"/>
          <p:nvPr/>
        </p:nvSpPr>
        <p:spPr>
          <a:xfrm>
            <a:off x="804672" y="1517904"/>
            <a:ext cx="2926080" cy="658368"/>
          </a:xfrm>
          <a:prstGeom prst="rect">
            <a:avLst/>
          </a:prstGeom>
          <a:noFill/>
          <a:ln/>
        </p:spPr>
        <p:txBody>
          <a:bodyPr wrap="square" lIns="0" tIns="0" rIns="0" bIns="0" rtlCol="0" anchor="ctr"/>
          <a:lstStyle/>
          <a:p>
            <a:pPr indent="0" marL="0">
              <a:buNone/>
            </a:pPr>
            <a:r>
              <a:rPr lang="en-US" sz="1300" dirty="0">
                <a:solidFill>
                  <a:srgbClr val="FFA94D"/>
                </a:solidFill>
                <a:latin typeface="Courier New" pitchFamily="34" charset="0"/>
                <a:ea typeface="Courier New" pitchFamily="34" charset="-122"/>
                <a:cs typeface="Courier New" pitchFamily="34" charset="-120"/>
              </a:rPr>
              <a:t>Syslog | take 10</a:t>
            </a:r>
            <a:endParaRPr lang="en-US" sz="1300" dirty="0"/>
          </a:p>
        </p:txBody>
      </p:sp>
      <p:sp>
        <p:nvSpPr>
          <p:cNvPr id="8" name="Text 6"/>
          <p:cNvSpPr txBox="1"/>
          <p:nvPr/>
        </p:nvSpPr>
        <p:spPr>
          <a:xfrm>
            <a:off x="4023360" y="1517904"/>
            <a:ext cx="7589520" cy="658368"/>
          </a:xfrm>
          <a:prstGeom prst="rect">
            <a:avLst/>
          </a:prstGeom>
          <a:noFill/>
          <a:ln/>
        </p:spPr>
        <p:txBody>
          <a:bodyPr wrap="square" lIns="0" tIns="0" rIns="0" bIns="0" rtlCol="0" anchor="ctr"/>
          <a:lstStyle/>
          <a:p>
            <a:pPr indent="0" marL="0">
              <a:lnSpc>
                <a:spcPts val="1600"/>
              </a:lnSpc>
              <a:buNone/>
            </a:pPr>
            <a:r>
              <a:rPr lang="en-US" sz="1200" dirty="0">
                <a:solidFill>
                  <a:srgbClr val="AFB4BF"/>
                </a:solidFill>
                <a:latin typeface="Calibri" pitchFamily="34" charset="0"/>
                <a:ea typeface="Calibri" pitchFamily="34" charset="-122"/>
                <a:cs typeface="Calibri" pitchFamily="34" charset="-120"/>
              </a:rPr>
              <a:t>Run in the Logs blade of the LAWmuler workspace, time range last three days.</a:t>
            </a:r>
            <a:endParaRPr lang="en-US" sz="1200" dirty="0"/>
          </a:p>
        </p:txBody>
      </p:sp>
      <p:sp>
        <p:nvSpPr>
          <p:cNvPr id="9" name="Shape 7"/>
          <p:cNvSpPr/>
          <p:nvPr/>
        </p:nvSpPr>
        <p:spPr>
          <a:xfrm>
            <a:off x="1618488" y="2194560"/>
            <a:ext cx="8961120" cy="3712464"/>
          </a:xfrm>
          <a:prstGeom prst="roundRect">
            <a:avLst>
              <a:gd name="adj" fmla="val 2217"/>
            </a:avLst>
          </a:prstGeom>
          <a:solidFill>
            <a:srgbClr val="1B1E24"/>
          </a:solidFill>
          <a:ln w="11430">
            <a:solidFill>
              <a:srgbClr val="3A3F4A"/>
            </a:solidFill>
            <a:prstDash val="solid"/>
          </a:ln>
          <a:effectLst>
            <a:outerShdw sx="100000" sy="100000" kx="0" ky="0" algn="bl" rotWithShape="0" blurRad="228600" dist="38100" dir="5400000">
              <a:srgbClr val="000000">
                <a:alpha val="34000"/>
              </a:srgbClr>
            </a:outerShdw>
          </a:effectLst>
        </p:spPr>
      </p:sp>
      <p:pic>
        <p:nvPicPr>
          <p:cNvPr id="10" name="Image 0" descr="img/image6.png">    </p:cNvPr>
          <p:cNvPicPr>
            <a:picLocks noChangeAspect="1"/>
          </p:cNvPicPr>
          <p:nvPr/>
        </p:nvPicPr>
        <p:blipFill>
          <a:blip r:embed="rId1"/>
          <a:stretch>
            <a:fillRect/>
          </a:stretch>
        </p:blipFill>
        <p:spPr>
          <a:xfrm>
            <a:off x="1709928" y="2286000"/>
            <a:ext cx="8778240" cy="3529584"/>
          </a:xfrm>
          <a:prstGeom prst="rect">
            <a:avLst/>
          </a:prstGeom>
        </p:spPr>
      </p:pic>
      <p:sp>
        <p:nvSpPr>
          <p:cNvPr id="11" name="Text 8"/>
          <p:cNvSpPr txBox="1"/>
          <p:nvPr/>
        </p:nvSpPr>
        <p:spPr>
          <a:xfrm>
            <a:off x="1709928" y="5943600"/>
            <a:ext cx="5120640" cy="237744"/>
          </a:xfrm>
          <a:prstGeom prst="rect">
            <a:avLst/>
          </a:prstGeom>
          <a:noFill/>
          <a:ln/>
        </p:spPr>
        <p:txBody>
          <a:bodyPr wrap="square" lIns="0" tIns="0" rIns="0" bIns="0" rtlCol="0" anchor="ctr"/>
          <a:lstStyle/>
          <a:p>
            <a:pPr indent="0" marL="0">
              <a:buNone/>
            </a:pPr>
            <a:r>
              <a:rPr lang="en-US" sz="950" i="1" dirty="0">
                <a:solidFill>
                  <a:srgbClr val="8D919C"/>
                </a:solidFill>
                <a:latin typeface="Calibri" pitchFamily="34" charset="0"/>
                <a:ea typeface="Calibri" pitchFamily="34" charset="-122"/>
                <a:cs typeface="Calibri" pitchFamily="34" charset="-120"/>
              </a:rPr>
              <a:t>Figure 6 — Legacy Logs interface on the Azure portal, LAWmuler workspace</a:t>
            </a:r>
            <a:endParaRPr lang="en-US" sz="950" dirty="0"/>
          </a:p>
        </p:txBody>
      </p:sp>
      <p:sp>
        <p:nvSpPr>
          <p:cNvPr id="12" name="Shape 9"/>
          <p:cNvSpPr/>
          <p:nvPr/>
        </p:nvSpPr>
        <p:spPr>
          <a:xfrm>
            <a:off x="7790688" y="5888736"/>
            <a:ext cx="1492301" cy="310896"/>
          </a:xfrm>
          <a:prstGeom prst="roundRect">
            <a:avLst>
              <a:gd name="adj" fmla="val 50000"/>
            </a:avLst>
          </a:prstGeom>
          <a:solidFill>
            <a:srgbClr val="1E2129"/>
          </a:solidFill>
          <a:ln w="12700">
            <a:solidFill>
              <a:srgbClr val="1E2129"/>
            </a:solidFill>
            <a:prstDash val="solid"/>
          </a:ln>
        </p:spPr>
      </p:sp>
      <p:sp>
        <p:nvSpPr>
          <p:cNvPr id="13" name="Text 10"/>
          <p:cNvSpPr txBox="1"/>
          <p:nvPr/>
        </p:nvSpPr>
        <p:spPr>
          <a:xfrm>
            <a:off x="7790688" y="5888736"/>
            <a:ext cx="1492301" cy="310896"/>
          </a:xfrm>
          <a:prstGeom prst="rect">
            <a:avLst/>
          </a:prstGeom>
          <a:noFill/>
          <a:ln/>
        </p:spPr>
        <p:txBody>
          <a:bodyPr wrap="square" lIns="0" tIns="0" rIns="0" bIns="0" rtlCol="0" anchor="ctr"/>
          <a:lstStyle/>
          <a:p>
            <a:pPr algn="ctr" indent="0" marL="0">
              <a:buNone/>
            </a:pPr>
            <a:r>
              <a:rPr lang="en-US" sz="900" b="1" spc="40" kern="0" dirty="0">
                <a:solidFill>
                  <a:srgbClr val="D8DBE3"/>
                </a:solidFill>
                <a:latin typeface="Calibri" pitchFamily="34" charset="0"/>
                <a:ea typeface="Calibri" pitchFamily="34" charset="-122"/>
                <a:cs typeface="Calibri" pitchFamily="34" charset="-120"/>
              </a:rPr>
              <a:t>10 rows returned</a:t>
            </a:r>
            <a:endParaRPr lang="en-US" sz="900" dirty="0"/>
          </a:p>
        </p:txBody>
      </p:sp>
      <p:sp>
        <p:nvSpPr>
          <p:cNvPr id="14" name="Shape 11"/>
          <p:cNvSpPr/>
          <p:nvPr/>
        </p:nvSpPr>
        <p:spPr>
          <a:xfrm>
            <a:off x="9411005" y="5888736"/>
            <a:ext cx="892454" cy="310896"/>
          </a:xfrm>
          <a:prstGeom prst="roundRect">
            <a:avLst>
              <a:gd name="adj" fmla="val 50000"/>
            </a:avLst>
          </a:prstGeom>
          <a:solidFill>
            <a:srgbClr val="1E2129"/>
          </a:solidFill>
          <a:ln w="12700">
            <a:solidFill>
              <a:srgbClr val="1E2129"/>
            </a:solidFill>
            <a:prstDash val="solid"/>
          </a:ln>
        </p:spPr>
      </p:sp>
      <p:sp>
        <p:nvSpPr>
          <p:cNvPr id="15" name="Text 12"/>
          <p:cNvSpPr txBox="1"/>
          <p:nvPr/>
        </p:nvSpPr>
        <p:spPr>
          <a:xfrm>
            <a:off x="9411005" y="5888736"/>
            <a:ext cx="892454" cy="310896"/>
          </a:xfrm>
          <a:prstGeom prst="rect">
            <a:avLst/>
          </a:prstGeom>
          <a:noFill/>
          <a:ln/>
        </p:spPr>
        <p:txBody>
          <a:bodyPr wrap="square" lIns="0" tIns="0" rIns="0" bIns="0" rtlCol="0" anchor="ctr"/>
          <a:lstStyle/>
          <a:p>
            <a:pPr algn="ctr" indent="0" marL="0">
              <a:buNone/>
            </a:pPr>
            <a:r>
              <a:rPr lang="en-US" sz="900" b="1" spc="40" kern="0" dirty="0">
                <a:solidFill>
                  <a:srgbClr val="D8DBE3"/>
                </a:solidFill>
                <a:latin typeface="Calibri" pitchFamily="34" charset="0"/>
                <a:ea typeface="Calibri" pitchFamily="34" charset="-122"/>
                <a:cs typeface="Calibri" pitchFamily="34" charset="-120"/>
              </a:rPr>
              <a:t>UbuntuVM</a:t>
            </a:r>
            <a:endParaRPr lang="en-US" sz="900" dirty="0"/>
          </a:p>
        </p:txBody>
      </p:sp>
      <p:sp>
        <p:nvSpPr>
          <p:cNvPr id="16" name="Shape 13"/>
          <p:cNvSpPr/>
          <p:nvPr/>
        </p:nvSpPr>
        <p:spPr>
          <a:xfrm>
            <a:off x="10431475" y="5888736"/>
            <a:ext cx="1042416" cy="310896"/>
          </a:xfrm>
          <a:prstGeom prst="roundRect">
            <a:avLst>
              <a:gd name="adj" fmla="val 50000"/>
            </a:avLst>
          </a:prstGeom>
          <a:solidFill>
            <a:srgbClr val="1E2129"/>
          </a:solidFill>
          <a:ln w="12700">
            <a:solidFill>
              <a:srgbClr val="1E2129"/>
            </a:solidFill>
            <a:prstDash val="solid"/>
          </a:ln>
        </p:spPr>
      </p:sp>
      <p:sp>
        <p:nvSpPr>
          <p:cNvPr id="17" name="Text 14"/>
          <p:cNvSpPr txBox="1"/>
          <p:nvPr/>
        </p:nvSpPr>
        <p:spPr>
          <a:xfrm>
            <a:off x="10431475" y="5888736"/>
            <a:ext cx="1042416" cy="310896"/>
          </a:xfrm>
          <a:prstGeom prst="rect">
            <a:avLst/>
          </a:prstGeom>
          <a:noFill/>
          <a:ln/>
        </p:spPr>
        <p:txBody>
          <a:bodyPr wrap="square" lIns="0" tIns="0" rIns="0" bIns="0" rtlCol="0" anchor="ctr"/>
          <a:lstStyle/>
          <a:p>
            <a:pPr algn="ctr" indent="0" marL="0">
              <a:buNone/>
            </a:pPr>
            <a:r>
              <a:rPr lang="en-US" sz="900" b="1" spc="40" kern="0" dirty="0">
                <a:solidFill>
                  <a:srgbClr val="D8DBE3"/>
                </a:solidFill>
                <a:latin typeface="Calibri" pitchFamily="34" charset="0"/>
                <a:ea typeface="Calibri" pitchFamily="34" charset="-122"/>
                <a:cs typeface="Calibri" pitchFamily="34" charset="-120"/>
              </a:rPr>
              <a:t>172.16.0.4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PLATFORM CHANGE</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From the Azure portal to the Defender portal</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499616"/>
            <a:ext cx="6309360" cy="3840480"/>
          </a:xfrm>
          <a:prstGeom prst="roundRect">
            <a:avLst>
              <a:gd name="adj" fmla="val 2143"/>
            </a:avLst>
          </a:prstGeom>
          <a:solidFill>
            <a:srgbClr val="1B1E24"/>
          </a:solidFill>
          <a:ln w="11430">
            <a:solidFill>
              <a:srgbClr val="3A3F4A"/>
            </a:solidFill>
            <a:prstDash val="solid"/>
          </a:ln>
          <a:effectLst>
            <a:outerShdw sx="100000" sy="100000" kx="0" ky="0" algn="bl" rotWithShape="0" blurRad="228600" dist="38100" dir="5400000">
              <a:srgbClr val="000000">
                <a:alpha val="34000"/>
              </a:srgbClr>
            </a:outerShdw>
          </a:effectLst>
        </p:spPr>
      </p:sp>
      <p:pic>
        <p:nvPicPr>
          <p:cNvPr id="7" name="Image 0" descr="img/image7.png">    </p:cNvPr>
          <p:cNvPicPr>
            <a:picLocks noChangeAspect="1"/>
          </p:cNvPicPr>
          <p:nvPr/>
        </p:nvPicPr>
        <p:blipFill>
          <a:blip r:embed="rId1"/>
          <a:stretch>
            <a:fillRect/>
          </a:stretch>
        </p:blipFill>
        <p:spPr>
          <a:xfrm>
            <a:off x="658368" y="1591056"/>
            <a:ext cx="6126480" cy="3657600"/>
          </a:xfrm>
          <a:prstGeom prst="rect">
            <a:avLst/>
          </a:prstGeom>
        </p:spPr>
      </p:pic>
      <p:sp>
        <p:nvSpPr>
          <p:cNvPr id="8" name="Text 5"/>
          <p:cNvSpPr txBox="1"/>
          <p:nvPr/>
        </p:nvSpPr>
        <p:spPr>
          <a:xfrm>
            <a:off x="658368" y="5376672"/>
            <a:ext cx="6400800" cy="237744"/>
          </a:xfrm>
          <a:prstGeom prst="rect">
            <a:avLst/>
          </a:prstGeom>
          <a:noFill/>
          <a:ln/>
        </p:spPr>
        <p:txBody>
          <a:bodyPr wrap="square" lIns="0" tIns="0" rIns="0" bIns="0" rtlCol="0" anchor="ctr"/>
          <a:lstStyle/>
          <a:p>
            <a:pPr indent="0" marL="0">
              <a:buNone/>
            </a:pPr>
            <a:r>
              <a:rPr lang="en-US" sz="950" i="1" dirty="0">
                <a:solidFill>
                  <a:srgbClr val="8D919C"/>
                </a:solidFill>
                <a:latin typeface="Calibri" pitchFamily="34" charset="0"/>
                <a:ea typeface="Calibri" pitchFamily="34" charset="-122"/>
                <a:cs typeface="Calibri" pitchFamily="34" charset="-120"/>
              </a:rPr>
              <a:t>Figure 7 — The same Syslog query in the new Advanced hunting interface</a:t>
            </a:r>
            <a:endParaRPr lang="en-US" sz="950" dirty="0"/>
          </a:p>
        </p:txBody>
      </p:sp>
      <p:sp>
        <p:nvSpPr>
          <p:cNvPr id="9" name="Text 6"/>
          <p:cNvSpPr txBox="1"/>
          <p:nvPr/>
        </p:nvSpPr>
        <p:spPr>
          <a:xfrm>
            <a:off x="658368" y="5705856"/>
            <a:ext cx="6126480" cy="640080"/>
          </a:xfrm>
          <a:prstGeom prst="rect">
            <a:avLst/>
          </a:prstGeom>
          <a:noFill/>
          <a:ln/>
        </p:spPr>
        <p:txBody>
          <a:bodyPr wrap="square" lIns="0" tIns="0" rIns="0" bIns="0" rtlCol="0" anchor="ctr"/>
          <a:lstStyle/>
          <a:p>
            <a:pPr indent="0" marL="0">
              <a:lnSpc>
                <a:spcPts val="1600"/>
              </a:lnSpc>
              <a:buNone/>
            </a:pPr>
            <a:r>
              <a:rPr lang="en-US" sz="1150" dirty="0">
                <a:solidFill>
                  <a:srgbClr val="AFB4BF"/>
                </a:solidFill>
                <a:latin typeface="Calibri" pitchFamily="34" charset="0"/>
                <a:ea typeface="Calibri" pitchFamily="34" charset="-122"/>
                <a:cs typeface="Calibri" pitchFamily="34" charset="-120"/>
              </a:rPr>
              <a:t>The same KQL runs unchanged in both experiences, so query skill transfers directly. What changes is navigation, tab handling and the incident workflow built around the results.</a:t>
            </a:r>
            <a:endParaRPr lang="en-US" sz="1150" dirty="0"/>
          </a:p>
        </p:txBody>
      </p:sp>
      <p:sp>
        <p:nvSpPr>
          <p:cNvPr id="10" name="Shape 7"/>
          <p:cNvSpPr/>
          <p:nvPr/>
        </p:nvSpPr>
        <p:spPr>
          <a:xfrm>
            <a:off x="7205472" y="1591056"/>
            <a:ext cx="4416552" cy="1517904"/>
          </a:xfrm>
          <a:prstGeom prst="roundRect">
            <a:avLst>
              <a:gd name="adj" fmla="val 6024"/>
            </a:avLst>
          </a:prstGeom>
          <a:solidFill>
            <a:srgbClr val="1E2129"/>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1" name="Text 8"/>
          <p:cNvSpPr txBox="1"/>
          <p:nvPr/>
        </p:nvSpPr>
        <p:spPr>
          <a:xfrm>
            <a:off x="7498080" y="1810512"/>
            <a:ext cx="3831336"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is changing</a:t>
            </a:r>
            <a:endParaRPr lang="en-US" sz="1300" dirty="0"/>
          </a:p>
        </p:txBody>
      </p:sp>
      <p:sp>
        <p:nvSpPr>
          <p:cNvPr id="12" name="Text 9"/>
          <p:cNvSpPr txBox="1"/>
          <p:nvPr/>
        </p:nvSpPr>
        <p:spPr>
          <a:xfrm>
            <a:off x="7498080" y="2157984"/>
            <a:ext cx="3831336" cy="859536"/>
          </a:xfrm>
          <a:prstGeom prst="rect">
            <a:avLst/>
          </a:prstGeom>
          <a:noFill/>
          <a:ln/>
        </p:spPr>
        <p:txBody>
          <a:bodyPr wrap="square" lIns="0" tIns="0" rIns="0" bIns="0" rtlCol="0" anchor="t"/>
          <a:lstStyle/>
          <a:p>
            <a:pPr algn="l" indent="0" marL="0">
              <a:lnSpc>
                <a:spcPts val="1600"/>
              </a:lnSpc>
              <a:buNone/>
            </a:pPr>
            <a:r>
              <a:rPr lang="en-US" sz="1150" dirty="0">
                <a:solidFill>
                  <a:srgbClr val="C6CAD3"/>
                </a:solidFill>
                <a:latin typeface="Calibri" pitchFamily="34" charset="0"/>
                <a:ea typeface="Calibri" pitchFamily="34" charset="-122"/>
                <a:cs typeface="Calibri" pitchFamily="34" charset="-120"/>
              </a:rPr>
              <a:t>Microsoft Sentinel has moved to the unified security portal at security.microsoft.com. It can still be reached from the Azure portal today, but that route is slated for retirement.</a:t>
            </a:r>
            <a:endParaRPr lang="en-US" sz="1150" dirty="0"/>
          </a:p>
        </p:txBody>
      </p:sp>
      <p:sp>
        <p:nvSpPr>
          <p:cNvPr id="13" name="Shape 10"/>
          <p:cNvSpPr/>
          <p:nvPr/>
        </p:nvSpPr>
        <p:spPr>
          <a:xfrm>
            <a:off x="7205472" y="3273552"/>
            <a:ext cx="4416552" cy="1060704"/>
          </a:xfrm>
          <a:prstGeom prst="roundRect">
            <a:avLst>
              <a:gd name="adj" fmla="val 8621"/>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4" name="Text 11"/>
          <p:cNvSpPr txBox="1"/>
          <p:nvPr/>
        </p:nvSpPr>
        <p:spPr>
          <a:xfrm>
            <a:off x="7498080" y="3456432"/>
            <a:ext cx="23774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Azure portal</a:t>
            </a:r>
            <a:endParaRPr lang="en-US" sz="1300" dirty="0"/>
          </a:p>
        </p:txBody>
      </p:sp>
      <p:sp>
        <p:nvSpPr>
          <p:cNvPr id="15" name="Text 12"/>
          <p:cNvSpPr txBox="1"/>
          <p:nvPr/>
        </p:nvSpPr>
        <p:spPr>
          <a:xfrm>
            <a:off x="7498080" y="3785616"/>
            <a:ext cx="3831336" cy="365760"/>
          </a:xfrm>
          <a:prstGeom prst="rect">
            <a:avLst/>
          </a:prstGeom>
          <a:noFill/>
          <a:ln/>
        </p:spPr>
        <p:txBody>
          <a:bodyPr wrap="square" lIns="0" tIns="0" rIns="0" bIns="0" rtlCol="0" anchor="ctr"/>
          <a:lstStyle/>
          <a:p>
            <a:pPr indent="0" marL="0">
              <a:lnSpc>
                <a:spcPts val="1400"/>
              </a:lnSpc>
              <a:buNone/>
            </a:pPr>
            <a:r>
              <a:rPr lang="en-US" sz="1100" dirty="0">
                <a:solidFill>
                  <a:srgbClr val="8D919C"/>
                </a:solidFill>
                <a:latin typeface="Calibri" pitchFamily="34" charset="0"/>
                <a:ea typeface="Calibri" pitchFamily="34" charset="-122"/>
                <a:cs typeface="Calibri" pitchFamily="34" charset="-120"/>
              </a:rPr>
              <a:t>Logs blade on the workspace</a:t>
            </a:r>
            <a:endParaRPr lang="en-US" sz="1100" dirty="0"/>
          </a:p>
        </p:txBody>
      </p:sp>
      <p:sp>
        <p:nvSpPr>
          <p:cNvPr id="16" name="Shape 13"/>
          <p:cNvSpPr/>
          <p:nvPr/>
        </p:nvSpPr>
        <p:spPr>
          <a:xfrm>
            <a:off x="10049256" y="3474720"/>
            <a:ext cx="1298448" cy="274320"/>
          </a:xfrm>
          <a:prstGeom prst="roundRect">
            <a:avLst>
              <a:gd name="adj" fmla="val 50000"/>
            </a:avLst>
          </a:prstGeom>
          <a:solidFill>
            <a:srgbClr val="2B1C0B"/>
          </a:solidFill>
          <a:ln w="12700">
            <a:solidFill>
              <a:srgbClr val="2B1C0B"/>
            </a:solidFill>
            <a:prstDash val="solid"/>
          </a:ln>
        </p:spPr>
      </p:sp>
      <p:sp>
        <p:nvSpPr>
          <p:cNvPr id="17" name="Text 14"/>
          <p:cNvSpPr txBox="1"/>
          <p:nvPr/>
        </p:nvSpPr>
        <p:spPr>
          <a:xfrm>
            <a:off x="10049256" y="3474720"/>
            <a:ext cx="1298448" cy="274320"/>
          </a:xfrm>
          <a:prstGeom prst="rect">
            <a:avLst/>
          </a:prstGeom>
          <a:noFill/>
          <a:ln/>
        </p:spPr>
        <p:txBody>
          <a:bodyPr wrap="square" lIns="0" tIns="0" rIns="0" bIns="0" rtlCol="0" anchor="ctr"/>
          <a:lstStyle/>
          <a:p>
            <a:pPr algn="ctr" indent="0" marL="0">
              <a:buNone/>
            </a:pPr>
            <a:r>
              <a:rPr lang="en-US" sz="850" b="1" spc="40" kern="0" dirty="0">
                <a:solidFill>
                  <a:srgbClr val="F0A45C"/>
                </a:solidFill>
                <a:latin typeface="Calibri" pitchFamily="34" charset="0"/>
                <a:ea typeface="Calibri" pitchFamily="34" charset="-122"/>
                <a:cs typeface="Calibri" pitchFamily="34" charset="-120"/>
              </a:rPr>
              <a:t>BEING PHASED OUT</a:t>
            </a:r>
            <a:endParaRPr lang="en-US" sz="850" dirty="0"/>
          </a:p>
        </p:txBody>
      </p:sp>
      <p:sp>
        <p:nvSpPr>
          <p:cNvPr id="18" name="Shape 15"/>
          <p:cNvSpPr/>
          <p:nvPr/>
        </p:nvSpPr>
        <p:spPr>
          <a:xfrm>
            <a:off x="7205472" y="4480560"/>
            <a:ext cx="4416552" cy="1060704"/>
          </a:xfrm>
          <a:prstGeom prst="roundRect">
            <a:avLst>
              <a:gd name="adj" fmla="val 8621"/>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9" name="Text 16"/>
          <p:cNvSpPr txBox="1"/>
          <p:nvPr/>
        </p:nvSpPr>
        <p:spPr>
          <a:xfrm>
            <a:off x="7498080" y="4663440"/>
            <a:ext cx="23774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Defender portal</a:t>
            </a:r>
            <a:endParaRPr lang="en-US" sz="1300" dirty="0"/>
          </a:p>
        </p:txBody>
      </p:sp>
      <p:sp>
        <p:nvSpPr>
          <p:cNvPr id="20" name="Text 17"/>
          <p:cNvSpPr txBox="1"/>
          <p:nvPr/>
        </p:nvSpPr>
        <p:spPr>
          <a:xfrm>
            <a:off x="7498080" y="4992624"/>
            <a:ext cx="3831336" cy="365760"/>
          </a:xfrm>
          <a:prstGeom prst="rect">
            <a:avLst/>
          </a:prstGeom>
          <a:noFill/>
          <a:ln/>
        </p:spPr>
        <p:txBody>
          <a:bodyPr wrap="square" lIns="0" tIns="0" rIns="0" bIns="0" rtlCol="0" anchor="ctr"/>
          <a:lstStyle/>
          <a:p>
            <a:pPr indent="0" marL="0">
              <a:lnSpc>
                <a:spcPts val="1400"/>
              </a:lnSpc>
              <a:buNone/>
            </a:pPr>
            <a:r>
              <a:rPr lang="en-US" sz="1100" dirty="0">
                <a:solidFill>
                  <a:srgbClr val="8D919C"/>
                </a:solidFill>
                <a:latin typeface="Calibri" pitchFamily="34" charset="0"/>
                <a:ea typeface="Calibri" pitchFamily="34" charset="-122"/>
                <a:cs typeface="Calibri" pitchFamily="34" charset="-120"/>
              </a:rPr>
              <a:t>Advanced hunting, multi-tab queries</a:t>
            </a:r>
            <a:endParaRPr lang="en-US" sz="1100" dirty="0"/>
          </a:p>
        </p:txBody>
      </p:sp>
      <p:sp>
        <p:nvSpPr>
          <p:cNvPr id="21" name="Shape 18"/>
          <p:cNvSpPr/>
          <p:nvPr/>
        </p:nvSpPr>
        <p:spPr>
          <a:xfrm>
            <a:off x="10049256" y="4681728"/>
            <a:ext cx="1298448" cy="274320"/>
          </a:xfrm>
          <a:prstGeom prst="roundRect">
            <a:avLst>
              <a:gd name="adj" fmla="val 50000"/>
            </a:avLst>
          </a:prstGeom>
          <a:solidFill>
            <a:srgbClr val="12281D"/>
          </a:solidFill>
          <a:ln w="12700">
            <a:solidFill>
              <a:srgbClr val="12281D"/>
            </a:solidFill>
            <a:prstDash val="solid"/>
          </a:ln>
        </p:spPr>
      </p:sp>
      <p:sp>
        <p:nvSpPr>
          <p:cNvPr id="22" name="Text 19"/>
          <p:cNvSpPr txBox="1"/>
          <p:nvPr/>
        </p:nvSpPr>
        <p:spPr>
          <a:xfrm>
            <a:off x="10049256" y="4681728"/>
            <a:ext cx="1298448" cy="274320"/>
          </a:xfrm>
          <a:prstGeom prst="rect">
            <a:avLst/>
          </a:prstGeom>
          <a:noFill/>
          <a:ln/>
        </p:spPr>
        <p:txBody>
          <a:bodyPr wrap="square" lIns="0" tIns="0" rIns="0" bIns="0" rtlCol="0" anchor="ctr"/>
          <a:lstStyle/>
          <a:p>
            <a:pPr algn="ctr" indent="0" marL="0">
              <a:buNone/>
            </a:pPr>
            <a:r>
              <a:rPr lang="en-US" sz="850" b="1" spc="40" kern="0" dirty="0">
                <a:solidFill>
                  <a:srgbClr val="58D39B"/>
                </a:solidFill>
                <a:latin typeface="Calibri" pitchFamily="34" charset="0"/>
                <a:ea typeface="Calibri" pitchFamily="34" charset="-122"/>
                <a:cs typeface="Calibri" pitchFamily="34" charset="-120"/>
              </a:rPr>
              <a:t>TARGET EXPERIENCE</a:t>
            </a:r>
            <a:endParaRPr lang="en-US" sz="850" dirty="0"/>
          </a:p>
        </p:txBody>
      </p:sp>
      <p:sp>
        <p:nvSpPr>
          <p:cNvPr id="23" name="Shape 20"/>
          <p:cNvSpPr/>
          <p:nvPr/>
        </p:nvSpPr>
        <p:spPr>
          <a:xfrm>
            <a:off x="7205472" y="5705856"/>
            <a:ext cx="4416552" cy="566928"/>
          </a:xfrm>
          <a:prstGeom prst="roundRect">
            <a:avLst>
              <a:gd name="adj" fmla="val 16129"/>
            </a:avLst>
          </a:prstGeom>
          <a:solidFill>
            <a:srgbClr val="24160A"/>
          </a:solidFill>
          <a:ln w="9525">
            <a:solidFill>
              <a:srgbClr val="5C3512"/>
            </a:solidFill>
            <a:prstDash val="solid"/>
          </a:ln>
        </p:spPr>
      </p:sp>
      <p:pic>
        <p:nvPicPr>
          <p:cNvPr id="24" name="Image 1" descr="icons/compass-a.png">    </p:cNvPr>
          <p:cNvPicPr>
            <a:picLocks noChangeAspect="1"/>
          </p:cNvPicPr>
          <p:nvPr/>
        </p:nvPicPr>
        <p:blipFill>
          <a:blip r:embed="rId2"/>
          <a:stretch>
            <a:fillRect/>
          </a:stretch>
        </p:blipFill>
        <p:spPr>
          <a:xfrm>
            <a:off x="7443216" y="5870448"/>
            <a:ext cx="228600" cy="228600"/>
          </a:xfrm>
          <a:prstGeom prst="rect">
            <a:avLst/>
          </a:prstGeom>
        </p:spPr>
      </p:pic>
      <p:sp>
        <p:nvSpPr>
          <p:cNvPr id="25" name="Text 21"/>
          <p:cNvSpPr txBox="1"/>
          <p:nvPr/>
        </p:nvSpPr>
        <p:spPr>
          <a:xfrm>
            <a:off x="7772400" y="5705856"/>
            <a:ext cx="3630168" cy="566928"/>
          </a:xfrm>
          <a:prstGeom prst="rect">
            <a:avLst/>
          </a:prstGeom>
          <a:noFill/>
          <a:ln/>
        </p:spPr>
        <p:txBody>
          <a:bodyPr wrap="square" lIns="0" tIns="0" rIns="0" bIns="0" rtlCol="0" anchor="ctr"/>
          <a:lstStyle/>
          <a:p>
            <a:pPr indent="0" marL="0">
              <a:buNone/>
            </a:pPr>
            <a:r>
              <a:rPr lang="en-US" sz="1150" b="1" dirty="0">
                <a:solidFill>
                  <a:srgbClr val="FFA94D"/>
                </a:solidFill>
                <a:latin typeface="Calibri" pitchFamily="34" charset="0"/>
                <a:ea typeface="Calibri" pitchFamily="34" charset="-122"/>
                <a:cs typeface="Calibri" pitchFamily="34" charset="-120"/>
              </a:rPr>
              <a:t>Analyst action: work in the new portal by default.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RESULTS</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Validation summary</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536192"/>
            <a:ext cx="11055096" cy="621792"/>
          </a:xfrm>
          <a:prstGeom prst="roundRect">
            <a:avLst>
              <a:gd name="adj" fmla="val 14706"/>
            </a:avLst>
          </a:prstGeom>
          <a:solidFill>
            <a:srgbClr val="17191F"/>
          </a:solidFill>
          <a:ln w="9525">
            <a:solidFill>
              <a:srgbClr val="2E323B"/>
            </a:solidFill>
            <a:prstDash val="solid"/>
          </a:ln>
          <a:effectLst>
            <a:outerShdw sx="100000" sy="100000" kx="0" ky="0" algn="bl" rotWithShape="0" blurRad="177800" dist="38100" dir="5400000">
              <a:srgbClr val="000000">
                <a:alpha val="24000"/>
              </a:srgbClr>
            </a:outerShdw>
          </a:effectLst>
        </p:spPr>
      </p:sp>
      <p:pic>
        <p:nvPicPr>
          <p:cNvPr id="7" name="Image 0" descr="icons/check-o.png">    </p:cNvPr>
          <p:cNvPicPr>
            <a:picLocks noChangeAspect="1"/>
          </p:cNvPicPr>
          <p:nvPr/>
        </p:nvPicPr>
        <p:blipFill>
          <a:blip r:embed="rId1"/>
          <a:stretch>
            <a:fillRect/>
          </a:stretch>
        </p:blipFill>
        <p:spPr>
          <a:xfrm>
            <a:off x="841248" y="1737360"/>
            <a:ext cx="219456" cy="219456"/>
          </a:xfrm>
          <a:prstGeom prst="rect">
            <a:avLst/>
          </a:prstGeom>
        </p:spPr>
      </p:pic>
      <p:sp>
        <p:nvSpPr>
          <p:cNvPr id="8" name="Text 5"/>
          <p:cNvSpPr txBox="1"/>
          <p:nvPr/>
        </p:nvSpPr>
        <p:spPr>
          <a:xfrm>
            <a:off x="1225296" y="1536192"/>
            <a:ext cx="3749040" cy="62179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Resource group provisioned</a:t>
            </a:r>
            <a:endParaRPr lang="en-US" sz="1250" dirty="0"/>
          </a:p>
        </p:txBody>
      </p:sp>
      <p:sp>
        <p:nvSpPr>
          <p:cNvPr id="9" name="Text 6"/>
          <p:cNvSpPr txBox="1"/>
          <p:nvPr/>
        </p:nvSpPr>
        <p:spPr>
          <a:xfrm>
            <a:off x="5065776" y="1536192"/>
            <a:ext cx="5120640" cy="621792"/>
          </a:xfrm>
          <a:prstGeom prst="rect">
            <a:avLst/>
          </a:prstGeom>
          <a:noFill/>
          <a:ln/>
        </p:spPr>
        <p:txBody>
          <a:bodyPr wrap="square" lIns="0" tIns="0" rIns="0" bIns="0" rtlCol="0" anchor="ctr"/>
          <a:lstStyle/>
          <a:p>
            <a:pPr indent="0" marL="0">
              <a:buNone/>
            </a:pPr>
            <a:r>
              <a:rPr lang="en-US" sz="1150" dirty="0">
                <a:solidFill>
                  <a:srgbClr val="AFB4BF"/>
                </a:solidFill>
                <a:latin typeface="Calibri" pitchFamily="34" charset="0"/>
                <a:ea typeface="Calibri" pitchFamily="34" charset="-122"/>
                <a:cs typeface="Calibri" pitchFamily="34" charset="-120"/>
              </a:rPr>
              <a:t>rgSIEM contains all lab resources in East US</a:t>
            </a:r>
            <a:endParaRPr lang="en-US" sz="1150" dirty="0"/>
          </a:p>
        </p:txBody>
      </p:sp>
      <p:sp>
        <p:nvSpPr>
          <p:cNvPr id="10" name="Shape 7"/>
          <p:cNvSpPr/>
          <p:nvPr/>
        </p:nvSpPr>
        <p:spPr>
          <a:xfrm>
            <a:off x="10497312" y="1700784"/>
            <a:ext cx="859536" cy="292608"/>
          </a:xfrm>
          <a:prstGeom prst="roundRect">
            <a:avLst>
              <a:gd name="adj" fmla="val 50000"/>
            </a:avLst>
          </a:prstGeom>
          <a:solidFill>
            <a:srgbClr val="12281D"/>
          </a:solidFill>
          <a:ln w="12700">
            <a:solidFill>
              <a:srgbClr val="12281D"/>
            </a:solidFill>
            <a:prstDash val="solid"/>
          </a:ln>
        </p:spPr>
      </p:sp>
      <p:sp>
        <p:nvSpPr>
          <p:cNvPr id="11" name="Text 8"/>
          <p:cNvSpPr txBox="1"/>
          <p:nvPr/>
        </p:nvSpPr>
        <p:spPr>
          <a:xfrm>
            <a:off x="10497312" y="1700784"/>
            <a:ext cx="859536" cy="292608"/>
          </a:xfrm>
          <a:prstGeom prst="rect">
            <a:avLst/>
          </a:prstGeom>
          <a:noFill/>
          <a:ln/>
        </p:spPr>
        <p:txBody>
          <a:bodyPr wrap="square" lIns="0" tIns="0" rIns="0" bIns="0" rtlCol="0" anchor="ctr"/>
          <a:lstStyle/>
          <a:p>
            <a:pPr algn="ctr" indent="0" marL="0">
              <a:buNone/>
            </a:pPr>
            <a:r>
              <a:rPr lang="en-US" sz="950" b="1" spc="40" kern="0" dirty="0">
                <a:solidFill>
                  <a:srgbClr val="58D39B"/>
                </a:solidFill>
                <a:latin typeface="Calibri" pitchFamily="34" charset="0"/>
                <a:ea typeface="Calibri" pitchFamily="34" charset="-122"/>
                <a:cs typeface="Calibri" pitchFamily="34" charset="-120"/>
              </a:rPr>
              <a:t>PASS</a:t>
            </a:r>
            <a:endParaRPr lang="en-US" sz="950" dirty="0"/>
          </a:p>
        </p:txBody>
      </p:sp>
      <p:sp>
        <p:nvSpPr>
          <p:cNvPr id="12" name="Shape 9"/>
          <p:cNvSpPr/>
          <p:nvPr/>
        </p:nvSpPr>
        <p:spPr>
          <a:xfrm>
            <a:off x="566928" y="2286000"/>
            <a:ext cx="11055096" cy="621792"/>
          </a:xfrm>
          <a:prstGeom prst="roundRect">
            <a:avLst>
              <a:gd name="adj" fmla="val 14706"/>
            </a:avLst>
          </a:prstGeom>
          <a:solidFill>
            <a:srgbClr val="17191F"/>
          </a:solidFill>
          <a:ln w="9525">
            <a:solidFill>
              <a:srgbClr val="2E323B"/>
            </a:solidFill>
            <a:prstDash val="solid"/>
          </a:ln>
          <a:effectLst>
            <a:outerShdw sx="100000" sy="100000" kx="0" ky="0" algn="bl" rotWithShape="0" blurRad="177800" dist="38100" dir="5400000">
              <a:srgbClr val="000000">
                <a:alpha val="24000"/>
              </a:srgbClr>
            </a:outerShdw>
          </a:effectLst>
        </p:spPr>
      </p:sp>
      <p:pic>
        <p:nvPicPr>
          <p:cNvPr id="13" name="Image 1" descr="icons/check-o.png">    </p:cNvPr>
          <p:cNvPicPr>
            <a:picLocks noChangeAspect="1"/>
          </p:cNvPicPr>
          <p:nvPr/>
        </p:nvPicPr>
        <p:blipFill>
          <a:blip r:embed="rId2"/>
          <a:stretch>
            <a:fillRect/>
          </a:stretch>
        </p:blipFill>
        <p:spPr>
          <a:xfrm>
            <a:off x="841248" y="2487168"/>
            <a:ext cx="219456" cy="219456"/>
          </a:xfrm>
          <a:prstGeom prst="rect">
            <a:avLst/>
          </a:prstGeom>
        </p:spPr>
      </p:pic>
      <p:sp>
        <p:nvSpPr>
          <p:cNvPr id="14" name="Text 10"/>
          <p:cNvSpPr txBox="1"/>
          <p:nvPr/>
        </p:nvSpPr>
        <p:spPr>
          <a:xfrm>
            <a:off x="1225296" y="2286000"/>
            <a:ext cx="3749040" cy="62179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Workspace and SIEM enabled</a:t>
            </a:r>
            <a:endParaRPr lang="en-US" sz="1250" dirty="0"/>
          </a:p>
        </p:txBody>
      </p:sp>
      <p:sp>
        <p:nvSpPr>
          <p:cNvPr id="15" name="Text 11"/>
          <p:cNvSpPr txBox="1"/>
          <p:nvPr/>
        </p:nvSpPr>
        <p:spPr>
          <a:xfrm>
            <a:off x="5065776" y="2286000"/>
            <a:ext cx="5120640" cy="621792"/>
          </a:xfrm>
          <a:prstGeom prst="rect">
            <a:avLst/>
          </a:prstGeom>
          <a:noFill/>
          <a:ln/>
        </p:spPr>
        <p:txBody>
          <a:bodyPr wrap="square" lIns="0" tIns="0" rIns="0" bIns="0" rtlCol="0" anchor="ctr"/>
          <a:lstStyle/>
          <a:p>
            <a:pPr indent="0" marL="0">
              <a:buNone/>
            </a:pPr>
            <a:r>
              <a:rPr lang="en-US" sz="1150" dirty="0">
                <a:solidFill>
                  <a:srgbClr val="AFB4BF"/>
                </a:solidFill>
                <a:latin typeface="Calibri" pitchFamily="34" charset="0"/>
                <a:ea typeface="Calibri" pitchFamily="34" charset="-122"/>
                <a:cs typeface="Calibri" pitchFamily="34" charset="-120"/>
              </a:rPr>
              <a:t>LAWmuler active with the SecurityInsights solution</a:t>
            </a:r>
            <a:endParaRPr lang="en-US" sz="1150" dirty="0"/>
          </a:p>
        </p:txBody>
      </p:sp>
      <p:sp>
        <p:nvSpPr>
          <p:cNvPr id="16" name="Shape 12"/>
          <p:cNvSpPr/>
          <p:nvPr/>
        </p:nvSpPr>
        <p:spPr>
          <a:xfrm>
            <a:off x="10497312" y="2450592"/>
            <a:ext cx="859536" cy="292608"/>
          </a:xfrm>
          <a:prstGeom prst="roundRect">
            <a:avLst>
              <a:gd name="adj" fmla="val 50000"/>
            </a:avLst>
          </a:prstGeom>
          <a:solidFill>
            <a:srgbClr val="12281D"/>
          </a:solidFill>
          <a:ln w="12700">
            <a:solidFill>
              <a:srgbClr val="12281D"/>
            </a:solidFill>
            <a:prstDash val="solid"/>
          </a:ln>
        </p:spPr>
      </p:sp>
      <p:sp>
        <p:nvSpPr>
          <p:cNvPr id="17" name="Text 13"/>
          <p:cNvSpPr txBox="1"/>
          <p:nvPr/>
        </p:nvSpPr>
        <p:spPr>
          <a:xfrm>
            <a:off x="10497312" y="2450592"/>
            <a:ext cx="859536" cy="292608"/>
          </a:xfrm>
          <a:prstGeom prst="rect">
            <a:avLst/>
          </a:prstGeom>
          <a:noFill/>
          <a:ln/>
        </p:spPr>
        <p:txBody>
          <a:bodyPr wrap="square" lIns="0" tIns="0" rIns="0" bIns="0" rtlCol="0" anchor="ctr"/>
          <a:lstStyle/>
          <a:p>
            <a:pPr algn="ctr" indent="0" marL="0">
              <a:buNone/>
            </a:pPr>
            <a:r>
              <a:rPr lang="en-US" sz="950" b="1" spc="40" kern="0" dirty="0">
                <a:solidFill>
                  <a:srgbClr val="58D39B"/>
                </a:solidFill>
                <a:latin typeface="Calibri" pitchFamily="34" charset="0"/>
                <a:ea typeface="Calibri" pitchFamily="34" charset="-122"/>
                <a:cs typeface="Calibri" pitchFamily="34" charset="-120"/>
              </a:rPr>
              <a:t>PASS</a:t>
            </a:r>
            <a:endParaRPr lang="en-US" sz="950" dirty="0"/>
          </a:p>
        </p:txBody>
      </p:sp>
      <p:sp>
        <p:nvSpPr>
          <p:cNvPr id="18" name="Shape 14"/>
          <p:cNvSpPr/>
          <p:nvPr/>
        </p:nvSpPr>
        <p:spPr>
          <a:xfrm>
            <a:off x="566928" y="3035808"/>
            <a:ext cx="11055096" cy="621792"/>
          </a:xfrm>
          <a:prstGeom prst="roundRect">
            <a:avLst>
              <a:gd name="adj" fmla="val 14706"/>
            </a:avLst>
          </a:prstGeom>
          <a:solidFill>
            <a:srgbClr val="17191F"/>
          </a:solidFill>
          <a:ln w="9525">
            <a:solidFill>
              <a:srgbClr val="2E323B"/>
            </a:solidFill>
            <a:prstDash val="solid"/>
          </a:ln>
          <a:effectLst>
            <a:outerShdw sx="100000" sy="100000" kx="0" ky="0" algn="bl" rotWithShape="0" blurRad="177800" dist="38100" dir="5400000">
              <a:srgbClr val="000000">
                <a:alpha val="24000"/>
              </a:srgbClr>
            </a:outerShdw>
          </a:effectLst>
        </p:spPr>
      </p:sp>
      <p:pic>
        <p:nvPicPr>
          <p:cNvPr id="19" name="Image 2" descr="icons/check-o.png">    </p:cNvPr>
          <p:cNvPicPr>
            <a:picLocks noChangeAspect="1"/>
          </p:cNvPicPr>
          <p:nvPr/>
        </p:nvPicPr>
        <p:blipFill>
          <a:blip r:embed="rId3"/>
          <a:stretch>
            <a:fillRect/>
          </a:stretch>
        </p:blipFill>
        <p:spPr>
          <a:xfrm>
            <a:off x="841248" y="3236976"/>
            <a:ext cx="219456" cy="219456"/>
          </a:xfrm>
          <a:prstGeom prst="rect">
            <a:avLst/>
          </a:prstGeom>
        </p:spPr>
      </p:pic>
      <p:sp>
        <p:nvSpPr>
          <p:cNvPr id="20" name="Text 15"/>
          <p:cNvSpPr txBox="1"/>
          <p:nvPr/>
        </p:nvSpPr>
        <p:spPr>
          <a:xfrm>
            <a:off x="1225296" y="3035808"/>
            <a:ext cx="3749040" cy="62179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Virtual machines running</a:t>
            </a:r>
            <a:endParaRPr lang="en-US" sz="1250" dirty="0"/>
          </a:p>
        </p:txBody>
      </p:sp>
      <p:sp>
        <p:nvSpPr>
          <p:cNvPr id="21" name="Text 16"/>
          <p:cNvSpPr txBox="1"/>
          <p:nvPr/>
        </p:nvSpPr>
        <p:spPr>
          <a:xfrm>
            <a:off x="5065776" y="3035808"/>
            <a:ext cx="5120640" cy="621792"/>
          </a:xfrm>
          <a:prstGeom prst="rect">
            <a:avLst/>
          </a:prstGeom>
          <a:noFill/>
          <a:ln/>
        </p:spPr>
        <p:txBody>
          <a:bodyPr wrap="square" lIns="0" tIns="0" rIns="0" bIns="0" rtlCol="0" anchor="ctr"/>
          <a:lstStyle/>
          <a:p>
            <a:pPr indent="0" marL="0">
              <a:buNone/>
            </a:pPr>
            <a:r>
              <a:rPr lang="en-US" sz="1150" dirty="0">
                <a:solidFill>
                  <a:srgbClr val="AFB4BF"/>
                </a:solidFill>
                <a:latin typeface="Calibri" pitchFamily="34" charset="0"/>
                <a:ea typeface="Calibri" pitchFamily="34" charset="-122"/>
                <a:cs typeface="Calibri" pitchFamily="34" charset="-120"/>
              </a:rPr>
              <a:t>WindowsVM and UbuntuVM both reachable and reporting</a:t>
            </a:r>
            <a:endParaRPr lang="en-US" sz="1150" dirty="0"/>
          </a:p>
        </p:txBody>
      </p:sp>
      <p:sp>
        <p:nvSpPr>
          <p:cNvPr id="22" name="Shape 17"/>
          <p:cNvSpPr/>
          <p:nvPr/>
        </p:nvSpPr>
        <p:spPr>
          <a:xfrm>
            <a:off x="10497312" y="3200400"/>
            <a:ext cx="859536" cy="292608"/>
          </a:xfrm>
          <a:prstGeom prst="roundRect">
            <a:avLst>
              <a:gd name="adj" fmla="val 50000"/>
            </a:avLst>
          </a:prstGeom>
          <a:solidFill>
            <a:srgbClr val="12281D"/>
          </a:solidFill>
          <a:ln w="12700">
            <a:solidFill>
              <a:srgbClr val="12281D"/>
            </a:solidFill>
            <a:prstDash val="solid"/>
          </a:ln>
        </p:spPr>
      </p:sp>
      <p:sp>
        <p:nvSpPr>
          <p:cNvPr id="23" name="Text 18"/>
          <p:cNvSpPr txBox="1"/>
          <p:nvPr/>
        </p:nvSpPr>
        <p:spPr>
          <a:xfrm>
            <a:off x="10497312" y="3200400"/>
            <a:ext cx="859536" cy="292608"/>
          </a:xfrm>
          <a:prstGeom prst="rect">
            <a:avLst/>
          </a:prstGeom>
          <a:noFill/>
          <a:ln/>
        </p:spPr>
        <p:txBody>
          <a:bodyPr wrap="square" lIns="0" tIns="0" rIns="0" bIns="0" rtlCol="0" anchor="ctr"/>
          <a:lstStyle/>
          <a:p>
            <a:pPr algn="ctr" indent="0" marL="0">
              <a:buNone/>
            </a:pPr>
            <a:r>
              <a:rPr lang="en-US" sz="950" b="1" spc="40" kern="0" dirty="0">
                <a:solidFill>
                  <a:srgbClr val="58D39B"/>
                </a:solidFill>
                <a:latin typeface="Calibri" pitchFamily="34" charset="0"/>
                <a:ea typeface="Calibri" pitchFamily="34" charset="-122"/>
                <a:cs typeface="Calibri" pitchFamily="34" charset="-120"/>
              </a:rPr>
              <a:t>PASS</a:t>
            </a:r>
            <a:endParaRPr lang="en-US" sz="950" dirty="0"/>
          </a:p>
        </p:txBody>
      </p:sp>
      <p:sp>
        <p:nvSpPr>
          <p:cNvPr id="24" name="Shape 19"/>
          <p:cNvSpPr/>
          <p:nvPr/>
        </p:nvSpPr>
        <p:spPr>
          <a:xfrm>
            <a:off x="566928" y="3785616"/>
            <a:ext cx="11055096" cy="621792"/>
          </a:xfrm>
          <a:prstGeom prst="roundRect">
            <a:avLst>
              <a:gd name="adj" fmla="val 14706"/>
            </a:avLst>
          </a:prstGeom>
          <a:solidFill>
            <a:srgbClr val="17191F"/>
          </a:solidFill>
          <a:ln w="9525">
            <a:solidFill>
              <a:srgbClr val="2E323B"/>
            </a:solidFill>
            <a:prstDash val="solid"/>
          </a:ln>
          <a:effectLst>
            <a:outerShdw sx="100000" sy="100000" kx="0" ky="0" algn="bl" rotWithShape="0" blurRad="177800" dist="38100" dir="5400000">
              <a:srgbClr val="000000">
                <a:alpha val="24000"/>
              </a:srgbClr>
            </a:outerShdw>
          </a:effectLst>
        </p:spPr>
      </p:sp>
      <p:pic>
        <p:nvPicPr>
          <p:cNvPr id="25" name="Image 3" descr="icons/check-o.png">    </p:cNvPr>
          <p:cNvPicPr>
            <a:picLocks noChangeAspect="1"/>
          </p:cNvPicPr>
          <p:nvPr/>
        </p:nvPicPr>
        <p:blipFill>
          <a:blip r:embed="rId4"/>
          <a:stretch>
            <a:fillRect/>
          </a:stretch>
        </p:blipFill>
        <p:spPr>
          <a:xfrm>
            <a:off x="841248" y="3986784"/>
            <a:ext cx="219456" cy="219456"/>
          </a:xfrm>
          <a:prstGeom prst="rect">
            <a:avLst/>
          </a:prstGeom>
        </p:spPr>
      </p:pic>
      <p:sp>
        <p:nvSpPr>
          <p:cNvPr id="26" name="Text 20"/>
          <p:cNvSpPr txBox="1"/>
          <p:nvPr/>
        </p:nvSpPr>
        <p:spPr>
          <a:xfrm>
            <a:off x="1225296" y="3785616"/>
            <a:ext cx="3749040" cy="62179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Connectors healthy</a:t>
            </a:r>
            <a:endParaRPr lang="en-US" sz="1250" dirty="0"/>
          </a:p>
        </p:txBody>
      </p:sp>
      <p:sp>
        <p:nvSpPr>
          <p:cNvPr id="27" name="Text 21"/>
          <p:cNvSpPr txBox="1"/>
          <p:nvPr/>
        </p:nvSpPr>
        <p:spPr>
          <a:xfrm>
            <a:off x="5065776" y="3785616"/>
            <a:ext cx="5120640" cy="621792"/>
          </a:xfrm>
          <a:prstGeom prst="rect">
            <a:avLst/>
          </a:prstGeom>
          <a:noFill/>
          <a:ln/>
        </p:spPr>
        <p:txBody>
          <a:bodyPr wrap="square" lIns="0" tIns="0" rIns="0" bIns="0" rtlCol="0" anchor="ctr"/>
          <a:lstStyle/>
          <a:p>
            <a:pPr indent="0" marL="0">
              <a:buNone/>
            </a:pPr>
            <a:r>
              <a:rPr lang="en-US" sz="1150" dirty="0">
                <a:solidFill>
                  <a:srgbClr val="AFB4BF"/>
                </a:solidFill>
                <a:latin typeface="Calibri" pitchFamily="34" charset="0"/>
                <a:ea typeface="Calibri" pitchFamily="34" charset="-122"/>
                <a:cs typeface="Calibri" pitchFamily="34" charset="-120"/>
              </a:rPr>
              <a:t>Azure Activity, Windows Security Events and Syslog all Connected</a:t>
            </a:r>
            <a:endParaRPr lang="en-US" sz="1150" dirty="0"/>
          </a:p>
        </p:txBody>
      </p:sp>
      <p:sp>
        <p:nvSpPr>
          <p:cNvPr id="28" name="Shape 22"/>
          <p:cNvSpPr/>
          <p:nvPr/>
        </p:nvSpPr>
        <p:spPr>
          <a:xfrm>
            <a:off x="10497312" y="3950208"/>
            <a:ext cx="859536" cy="292608"/>
          </a:xfrm>
          <a:prstGeom prst="roundRect">
            <a:avLst>
              <a:gd name="adj" fmla="val 50000"/>
            </a:avLst>
          </a:prstGeom>
          <a:solidFill>
            <a:srgbClr val="12281D"/>
          </a:solidFill>
          <a:ln w="12700">
            <a:solidFill>
              <a:srgbClr val="12281D"/>
            </a:solidFill>
            <a:prstDash val="solid"/>
          </a:ln>
        </p:spPr>
      </p:sp>
      <p:sp>
        <p:nvSpPr>
          <p:cNvPr id="29" name="Text 23"/>
          <p:cNvSpPr txBox="1"/>
          <p:nvPr/>
        </p:nvSpPr>
        <p:spPr>
          <a:xfrm>
            <a:off x="10497312" y="3950208"/>
            <a:ext cx="859536" cy="292608"/>
          </a:xfrm>
          <a:prstGeom prst="rect">
            <a:avLst/>
          </a:prstGeom>
          <a:noFill/>
          <a:ln/>
        </p:spPr>
        <p:txBody>
          <a:bodyPr wrap="square" lIns="0" tIns="0" rIns="0" bIns="0" rtlCol="0" anchor="ctr"/>
          <a:lstStyle/>
          <a:p>
            <a:pPr algn="ctr" indent="0" marL="0">
              <a:buNone/>
            </a:pPr>
            <a:r>
              <a:rPr lang="en-US" sz="950" b="1" spc="40" kern="0" dirty="0">
                <a:solidFill>
                  <a:srgbClr val="58D39B"/>
                </a:solidFill>
                <a:latin typeface="Calibri" pitchFamily="34" charset="0"/>
                <a:ea typeface="Calibri" pitchFamily="34" charset="-122"/>
                <a:cs typeface="Calibri" pitchFamily="34" charset="-120"/>
              </a:rPr>
              <a:t>PASS</a:t>
            </a:r>
            <a:endParaRPr lang="en-US" sz="950" dirty="0"/>
          </a:p>
        </p:txBody>
      </p:sp>
      <p:sp>
        <p:nvSpPr>
          <p:cNvPr id="30" name="Shape 24"/>
          <p:cNvSpPr/>
          <p:nvPr/>
        </p:nvSpPr>
        <p:spPr>
          <a:xfrm>
            <a:off x="566928" y="4535424"/>
            <a:ext cx="11055096" cy="621792"/>
          </a:xfrm>
          <a:prstGeom prst="roundRect">
            <a:avLst>
              <a:gd name="adj" fmla="val 14706"/>
            </a:avLst>
          </a:prstGeom>
          <a:solidFill>
            <a:srgbClr val="17191F"/>
          </a:solidFill>
          <a:ln w="9525">
            <a:solidFill>
              <a:srgbClr val="2E323B"/>
            </a:solidFill>
            <a:prstDash val="solid"/>
          </a:ln>
          <a:effectLst>
            <a:outerShdw sx="100000" sy="100000" kx="0" ky="0" algn="bl" rotWithShape="0" blurRad="177800" dist="38100" dir="5400000">
              <a:srgbClr val="000000">
                <a:alpha val="24000"/>
              </a:srgbClr>
            </a:outerShdw>
          </a:effectLst>
        </p:spPr>
      </p:sp>
      <p:pic>
        <p:nvPicPr>
          <p:cNvPr id="31" name="Image 4" descr="icons/check-o.png">    </p:cNvPr>
          <p:cNvPicPr>
            <a:picLocks noChangeAspect="1"/>
          </p:cNvPicPr>
          <p:nvPr/>
        </p:nvPicPr>
        <p:blipFill>
          <a:blip r:embed="rId5"/>
          <a:stretch>
            <a:fillRect/>
          </a:stretch>
        </p:blipFill>
        <p:spPr>
          <a:xfrm>
            <a:off x="841248" y="4736592"/>
            <a:ext cx="219456" cy="219456"/>
          </a:xfrm>
          <a:prstGeom prst="rect">
            <a:avLst/>
          </a:prstGeom>
        </p:spPr>
      </p:pic>
      <p:sp>
        <p:nvSpPr>
          <p:cNvPr id="32" name="Text 25"/>
          <p:cNvSpPr txBox="1"/>
          <p:nvPr/>
        </p:nvSpPr>
        <p:spPr>
          <a:xfrm>
            <a:off x="1225296" y="4535424"/>
            <a:ext cx="3749040" cy="62179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Windows ingestion proven</a:t>
            </a:r>
            <a:endParaRPr lang="en-US" sz="1250" dirty="0"/>
          </a:p>
        </p:txBody>
      </p:sp>
      <p:sp>
        <p:nvSpPr>
          <p:cNvPr id="33" name="Text 26"/>
          <p:cNvSpPr txBox="1"/>
          <p:nvPr/>
        </p:nvSpPr>
        <p:spPr>
          <a:xfrm>
            <a:off x="5065776" y="4535424"/>
            <a:ext cx="5120640" cy="621792"/>
          </a:xfrm>
          <a:prstGeom prst="rect">
            <a:avLst/>
          </a:prstGeom>
          <a:noFill/>
          <a:ln/>
        </p:spPr>
        <p:txBody>
          <a:bodyPr wrap="square" lIns="0" tIns="0" rIns="0" bIns="0" rtlCol="0" anchor="ctr"/>
          <a:lstStyle/>
          <a:p>
            <a:pPr indent="0" marL="0">
              <a:buNone/>
            </a:pPr>
            <a:r>
              <a:rPr lang="en-US" sz="1150" dirty="0">
                <a:solidFill>
                  <a:srgbClr val="AFB4BF"/>
                </a:solidFill>
                <a:latin typeface="Calibri" pitchFamily="34" charset="0"/>
                <a:ea typeface="Calibri" pitchFamily="34" charset="-122"/>
                <a:cs typeface="Calibri" pitchFamily="34" charset="-120"/>
              </a:rPr>
              <a:t>SecurityEvent returns rows sourced from WindowsVM</a:t>
            </a:r>
            <a:endParaRPr lang="en-US" sz="1150" dirty="0"/>
          </a:p>
        </p:txBody>
      </p:sp>
      <p:sp>
        <p:nvSpPr>
          <p:cNvPr id="34" name="Shape 27"/>
          <p:cNvSpPr/>
          <p:nvPr/>
        </p:nvSpPr>
        <p:spPr>
          <a:xfrm>
            <a:off x="10497312" y="4700016"/>
            <a:ext cx="859536" cy="292608"/>
          </a:xfrm>
          <a:prstGeom prst="roundRect">
            <a:avLst>
              <a:gd name="adj" fmla="val 50000"/>
            </a:avLst>
          </a:prstGeom>
          <a:solidFill>
            <a:srgbClr val="12281D"/>
          </a:solidFill>
          <a:ln w="12700">
            <a:solidFill>
              <a:srgbClr val="12281D"/>
            </a:solidFill>
            <a:prstDash val="solid"/>
          </a:ln>
        </p:spPr>
      </p:sp>
      <p:sp>
        <p:nvSpPr>
          <p:cNvPr id="35" name="Text 28"/>
          <p:cNvSpPr txBox="1"/>
          <p:nvPr/>
        </p:nvSpPr>
        <p:spPr>
          <a:xfrm>
            <a:off x="10497312" y="4700016"/>
            <a:ext cx="859536" cy="292608"/>
          </a:xfrm>
          <a:prstGeom prst="rect">
            <a:avLst/>
          </a:prstGeom>
          <a:noFill/>
          <a:ln/>
        </p:spPr>
        <p:txBody>
          <a:bodyPr wrap="square" lIns="0" tIns="0" rIns="0" bIns="0" rtlCol="0" anchor="ctr"/>
          <a:lstStyle/>
          <a:p>
            <a:pPr algn="ctr" indent="0" marL="0">
              <a:buNone/>
            </a:pPr>
            <a:r>
              <a:rPr lang="en-US" sz="950" b="1" spc="40" kern="0" dirty="0">
                <a:solidFill>
                  <a:srgbClr val="58D39B"/>
                </a:solidFill>
                <a:latin typeface="Calibri" pitchFamily="34" charset="0"/>
                <a:ea typeface="Calibri" pitchFamily="34" charset="-122"/>
                <a:cs typeface="Calibri" pitchFamily="34" charset="-120"/>
              </a:rPr>
              <a:t>PASS</a:t>
            </a:r>
            <a:endParaRPr lang="en-US" sz="950" dirty="0"/>
          </a:p>
        </p:txBody>
      </p:sp>
      <p:sp>
        <p:nvSpPr>
          <p:cNvPr id="36" name="Shape 29"/>
          <p:cNvSpPr/>
          <p:nvPr/>
        </p:nvSpPr>
        <p:spPr>
          <a:xfrm>
            <a:off x="566928" y="5285232"/>
            <a:ext cx="11055096" cy="621792"/>
          </a:xfrm>
          <a:prstGeom prst="roundRect">
            <a:avLst>
              <a:gd name="adj" fmla="val 14706"/>
            </a:avLst>
          </a:prstGeom>
          <a:solidFill>
            <a:srgbClr val="17191F"/>
          </a:solidFill>
          <a:ln w="9525">
            <a:solidFill>
              <a:srgbClr val="2E323B"/>
            </a:solidFill>
            <a:prstDash val="solid"/>
          </a:ln>
          <a:effectLst>
            <a:outerShdw sx="100000" sy="100000" kx="0" ky="0" algn="bl" rotWithShape="0" blurRad="177800" dist="38100" dir="5400000">
              <a:srgbClr val="000000">
                <a:alpha val="24000"/>
              </a:srgbClr>
            </a:outerShdw>
          </a:effectLst>
        </p:spPr>
      </p:sp>
      <p:pic>
        <p:nvPicPr>
          <p:cNvPr id="37" name="Image 5" descr="icons/check-o.png">    </p:cNvPr>
          <p:cNvPicPr>
            <a:picLocks noChangeAspect="1"/>
          </p:cNvPicPr>
          <p:nvPr/>
        </p:nvPicPr>
        <p:blipFill>
          <a:blip r:embed="rId6"/>
          <a:stretch>
            <a:fillRect/>
          </a:stretch>
        </p:blipFill>
        <p:spPr>
          <a:xfrm>
            <a:off x="841248" y="5486400"/>
            <a:ext cx="219456" cy="219456"/>
          </a:xfrm>
          <a:prstGeom prst="rect">
            <a:avLst/>
          </a:prstGeom>
        </p:spPr>
      </p:pic>
      <p:sp>
        <p:nvSpPr>
          <p:cNvPr id="38" name="Text 30"/>
          <p:cNvSpPr txBox="1"/>
          <p:nvPr/>
        </p:nvSpPr>
        <p:spPr>
          <a:xfrm>
            <a:off x="1225296" y="5285232"/>
            <a:ext cx="3749040" cy="62179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Linux ingestion proven</a:t>
            </a:r>
            <a:endParaRPr lang="en-US" sz="1250" dirty="0"/>
          </a:p>
        </p:txBody>
      </p:sp>
      <p:sp>
        <p:nvSpPr>
          <p:cNvPr id="39" name="Text 31"/>
          <p:cNvSpPr txBox="1"/>
          <p:nvPr/>
        </p:nvSpPr>
        <p:spPr>
          <a:xfrm>
            <a:off x="5065776" y="5285232"/>
            <a:ext cx="5120640" cy="621792"/>
          </a:xfrm>
          <a:prstGeom prst="rect">
            <a:avLst/>
          </a:prstGeom>
          <a:noFill/>
          <a:ln/>
        </p:spPr>
        <p:txBody>
          <a:bodyPr wrap="square" lIns="0" tIns="0" rIns="0" bIns="0" rtlCol="0" anchor="ctr"/>
          <a:lstStyle/>
          <a:p>
            <a:pPr indent="0" marL="0">
              <a:buNone/>
            </a:pPr>
            <a:r>
              <a:rPr lang="en-US" sz="1150" dirty="0">
                <a:solidFill>
                  <a:srgbClr val="AFB4BF"/>
                </a:solidFill>
                <a:latin typeface="Calibri" pitchFamily="34" charset="0"/>
                <a:ea typeface="Calibri" pitchFamily="34" charset="-122"/>
                <a:cs typeface="Calibri" pitchFamily="34" charset="-120"/>
              </a:rPr>
              <a:t>Syslog returns rows sourced from UbuntuVM at 172.16.0.4</a:t>
            </a:r>
            <a:endParaRPr lang="en-US" sz="1150" dirty="0"/>
          </a:p>
        </p:txBody>
      </p:sp>
      <p:sp>
        <p:nvSpPr>
          <p:cNvPr id="40" name="Shape 32"/>
          <p:cNvSpPr/>
          <p:nvPr/>
        </p:nvSpPr>
        <p:spPr>
          <a:xfrm>
            <a:off x="10497312" y="5449824"/>
            <a:ext cx="859536" cy="292608"/>
          </a:xfrm>
          <a:prstGeom prst="roundRect">
            <a:avLst>
              <a:gd name="adj" fmla="val 50000"/>
            </a:avLst>
          </a:prstGeom>
          <a:solidFill>
            <a:srgbClr val="12281D"/>
          </a:solidFill>
          <a:ln w="12700">
            <a:solidFill>
              <a:srgbClr val="12281D"/>
            </a:solidFill>
            <a:prstDash val="solid"/>
          </a:ln>
        </p:spPr>
      </p:sp>
      <p:sp>
        <p:nvSpPr>
          <p:cNvPr id="41" name="Text 33"/>
          <p:cNvSpPr txBox="1"/>
          <p:nvPr/>
        </p:nvSpPr>
        <p:spPr>
          <a:xfrm>
            <a:off x="10497312" y="5449824"/>
            <a:ext cx="859536" cy="292608"/>
          </a:xfrm>
          <a:prstGeom prst="rect">
            <a:avLst/>
          </a:prstGeom>
          <a:noFill/>
          <a:ln/>
        </p:spPr>
        <p:txBody>
          <a:bodyPr wrap="square" lIns="0" tIns="0" rIns="0" bIns="0" rtlCol="0" anchor="ctr"/>
          <a:lstStyle/>
          <a:p>
            <a:pPr algn="ctr" indent="0" marL="0">
              <a:buNone/>
            </a:pPr>
            <a:r>
              <a:rPr lang="en-US" sz="950" b="1" spc="40" kern="0" dirty="0">
                <a:solidFill>
                  <a:srgbClr val="58D39B"/>
                </a:solidFill>
                <a:latin typeface="Calibri" pitchFamily="34" charset="0"/>
                <a:ea typeface="Calibri" pitchFamily="34" charset="-122"/>
                <a:cs typeface="Calibri" pitchFamily="34" charset="-120"/>
              </a:rPr>
              <a:t>PASS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LESSONS</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Observations and good practice</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517904"/>
            <a:ext cx="5394960" cy="2048256"/>
          </a:xfrm>
          <a:prstGeom prst="roundRect">
            <a:avLst>
              <a:gd name="adj" fmla="val 446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7" name="Shape 5"/>
          <p:cNvSpPr/>
          <p:nvPr/>
        </p:nvSpPr>
        <p:spPr>
          <a:xfrm>
            <a:off x="877824" y="1828800"/>
            <a:ext cx="548640" cy="548640"/>
          </a:xfrm>
          <a:prstGeom prst="ellipse">
            <a:avLst/>
          </a:prstGeom>
          <a:solidFill>
            <a:srgbClr val="F97316"/>
          </a:solidFill>
          <a:ln w="12700">
            <a:solidFill>
              <a:srgbClr val="F97316"/>
            </a:solidFill>
            <a:prstDash val="solid"/>
          </a:ln>
        </p:spPr>
      </p:sp>
      <p:pic>
        <p:nvPicPr>
          <p:cNvPr id="8" name="Image 0" descr="icons/globe-w.png">    </p:cNvPr>
          <p:cNvPicPr>
            <a:picLocks noChangeAspect="1"/>
          </p:cNvPicPr>
          <p:nvPr/>
        </p:nvPicPr>
        <p:blipFill>
          <a:blip r:embed="rId1"/>
          <a:stretch>
            <a:fillRect/>
          </a:stretch>
        </p:blipFill>
        <p:spPr>
          <a:xfrm>
            <a:off x="1012241" y="1963217"/>
            <a:ext cx="279806" cy="279806"/>
          </a:xfrm>
          <a:prstGeom prst="rect">
            <a:avLst/>
          </a:prstGeom>
        </p:spPr>
      </p:pic>
      <p:sp>
        <p:nvSpPr>
          <p:cNvPr id="9" name="Text 6"/>
          <p:cNvSpPr txBox="1"/>
          <p:nvPr/>
        </p:nvSpPr>
        <p:spPr>
          <a:xfrm>
            <a:off x="1572768" y="1828800"/>
            <a:ext cx="4078224" cy="548640"/>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Co-locate workspace and workloads</a:t>
            </a:r>
            <a:endParaRPr lang="en-US" sz="1400" dirty="0"/>
          </a:p>
        </p:txBody>
      </p:sp>
      <p:sp>
        <p:nvSpPr>
          <p:cNvPr id="10" name="Text 7"/>
          <p:cNvSpPr txBox="1"/>
          <p:nvPr/>
        </p:nvSpPr>
        <p:spPr>
          <a:xfrm>
            <a:off x="877824" y="2523744"/>
            <a:ext cx="4773168" cy="914400"/>
          </a:xfrm>
          <a:prstGeom prst="rect">
            <a:avLst/>
          </a:prstGeom>
          <a:noFill/>
          <a:ln/>
        </p:spPr>
        <p:txBody>
          <a:bodyPr wrap="square" lIns="0" tIns="0" rIns="0" bIns="0" rtlCol="0" anchor="t"/>
          <a:lstStyle/>
          <a:p>
            <a:pPr algn="l" indent="0" marL="0">
              <a:lnSpc>
                <a:spcPts val="1650"/>
              </a:lnSpc>
              <a:buNone/>
            </a:pPr>
            <a:r>
              <a:rPr lang="en-US" sz="1150" dirty="0">
                <a:solidFill>
                  <a:srgbClr val="AFB4BF"/>
                </a:solidFill>
                <a:latin typeface="Calibri" pitchFamily="34" charset="0"/>
                <a:ea typeface="Calibri" pitchFamily="34" charset="-122"/>
                <a:cs typeface="Calibri" pitchFamily="34" charset="-120"/>
              </a:rPr>
              <a:t>Deploying the virtual machines and the Log Analytics workspace in the same Azure region keeps latency low and avoids cross-region transfer charges.</a:t>
            </a:r>
            <a:endParaRPr lang="en-US" sz="1150" dirty="0"/>
          </a:p>
        </p:txBody>
      </p:sp>
      <p:sp>
        <p:nvSpPr>
          <p:cNvPr id="11" name="Shape 8"/>
          <p:cNvSpPr/>
          <p:nvPr/>
        </p:nvSpPr>
        <p:spPr>
          <a:xfrm>
            <a:off x="6227064" y="1517904"/>
            <a:ext cx="5394960" cy="2048256"/>
          </a:xfrm>
          <a:prstGeom prst="roundRect">
            <a:avLst>
              <a:gd name="adj" fmla="val 446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2" name="Shape 9"/>
          <p:cNvSpPr/>
          <p:nvPr/>
        </p:nvSpPr>
        <p:spPr>
          <a:xfrm>
            <a:off x="6537960" y="1828800"/>
            <a:ext cx="548640" cy="548640"/>
          </a:xfrm>
          <a:prstGeom prst="ellipse">
            <a:avLst/>
          </a:prstGeom>
          <a:solidFill>
            <a:srgbClr val="7A3B0B"/>
          </a:solidFill>
          <a:ln w="12700">
            <a:solidFill>
              <a:srgbClr val="7A3B0B"/>
            </a:solidFill>
            <a:prstDash val="solid"/>
          </a:ln>
        </p:spPr>
      </p:sp>
      <p:pic>
        <p:nvPicPr>
          <p:cNvPr id="13" name="Image 1" descr="icons/cpu-w.png">    </p:cNvPr>
          <p:cNvPicPr>
            <a:picLocks noChangeAspect="1"/>
          </p:cNvPicPr>
          <p:nvPr/>
        </p:nvPicPr>
        <p:blipFill>
          <a:blip r:embed="rId2"/>
          <a:stretch>
            <a:fillRect/>
          </a:stretch>
        </p:blipFill>
        <p:spPr>
          <a:xfrm>
            <a:off x="6672377" y="1963217"/>
            <a:ext cx="279806" cy="279806"/>
          </a:xfrm>
          <a:prstGeom prst="rect">
            <a:avLst/>
          </a:prstGeom>
        </p:spPr>
      </p:pic>
      <p:sp>
        <p:nvSpPr>
          <p:cNvPr id="14" name="Text 10"/>
          <p:cNvSpPr txBox="1"/>
          <p:nvPr/>
        </p:nvSpPr>
        <p:spPr>
          <a:xfrm>
            <a:off x="7232904" y="1828800"/>
            <a:ext cx="4078224" cy="548640"/>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Standardise on the Azure Monitor Agent</a:t>
            </a:r>
            <a:endParaRPr lang="en-US" sz="1400" dirty="0"/>
          </a:p>
        </p:txBody>
      </p:sp>
      <p:sp>
        <p:nvSpPr>
          <p:cNvPr id="15" name="Text 11"/>
          <p:cNvSpPr txBox="1"/>
          <p:nvPr/>
        </p:nvSpPr>
        <p:spPr>
          <a:xfrm>
            <a:off x="6537960" y="2523744"/>
            <a:ext cx="4773168" cy="914400"/>
          </a:xfrm>
          <a:prstGeom prst="rect">
            <a:avLst/>
          </a:prstGeom>
          <a:noFill/>
          <a:ln/>
        </p:spPr>
        <p:txBody>
          <a:bodyPr wrap="square" lIns="0" tIns="0" rIns="0" bIns="0" rtlCol="0" anchor="t"/>
          <a:lstStyle/>
          <a:p>
            <a:pPr algn="l" indent="0" marL="0">
              <a:lnSpc>
                <a:spcPts val="1650"/>
              </a:lnSpc>
              <a:buNone/>
            </a:pPr>
            <a:r>
              <a:rPr lang="en-US" sz="1150" dirty="0">
                <a:solidFill>
                  <a:srgbClr val="AFB4BF"/>
                </a:solidFill>
                <a:latin typeface="Calibri" pitchFamily="34" charset="0"/>
                <a:ea typeface="Calibri" pitchFamily="34" charset="-122"/>
                <a:cs typeface="Calibri" pitchFamily="34" charset="-120"/>
              </a:rPr>
              <a:t>AMA is the supported collection path; the legacy agent is retired. One agent covers both Windows and Linux, which simplifies rollout and troubleshooting.</a:t>
            </a:r>
            <a:endParaRPr lang="en-US" sz="1150" dirty="0"/>
          </a:p>
        </p:txBody>
      </p:sp>
      <p:sp>
        <p:nvSpPr>
          <p:cNvPr id="16" name="Shape 12"/>
          <p:cNvSpPr/>
          <p:nvPr/>
        </p:nvSpPr>
        <p:spPr>
          <a:xfrm>
            <a:off x="566928" y="3840480"/>
            <a:ext cx="5394960" cy="2048256"/>
          </a:xfrm>
          <a:prstGeom prst="roundRect">
            <a:avLst>
              <a:gd name="adj" fmla="val 446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7" name="Shape 13"/>
          <p:cNvSpPr/>
          <p:nvPr/>
        </p:nvSpPr>
        <p:spPr>
          <a:xfrm>
            <a:off x="877824" y="4151376"/>
            <a:ext cx="548640" cy="548640"/>
          </a:xfrm>
          <a:prstGeom prst="ellipse">
            <a:avLst/>
          </a:prstGeom>
          <a:solidFill>
            <a:srgbClr val="7A3B0B"/>
          </a:solidFill>
          <a:ln w="12700">
            <a:solidFill>
              <a:srgbClr val="7A3B0B"/>
            </a:solidFill>
            <a:prstDash val="solid"/>
          </a:ln>
        </p:spPr>
      </p:sp>
      <p:pic>
        <p:nvPicPr>
          <p:cNvPr id="18" name="Image 2" descr="icons/filter-w.png">    </p:cNvPr>
          <p:cNvPicPr>
            <a:picLocks noChangeAspect="1"/>
          </p:cNvPicPr>
          <p:nvPr/>
        </p:nvPicPr>
        <p:blipFill>
          <a:blip r:embed="rId3"/>
          <a:stretch>
            <a:fillRect/>
          </a:stretch>
        </p:blipFill>
        <p:spPr>
          <a:xfrm>
            <a:off x="1012241" y="4285793"/>
            <a:ext cx="279806" cy="279806"/>
          </a:xfrm>
          <a:prstGeom prst="rect">
            <a:avLst/>
          </a:prstGeom>
        </p:spPr>
      </p:pic>
      <p:sp>
        <p:nvSpPr>
          <p:cNvPr id="19" name="Text 14"/>
          <p:cNvSpPr txBox="1"/>
          <p:nvPr/>
        </p:nvSpPr>
        <p:spPr>
          <a:xfrm>
            <a:off x="1572768" y="4151376"/>
            <a:ext cx="4078224" cy="548640"/>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Scope collection at the rule, not the agent</a:t>
            </a:r>
            <a:endParaRPr lang="en-US" sz="1400" dirty="0"/>
          </a:p>
        </p:txBody>
      </p:sp>
      <p:sp>
        <p:nvSpPr>
          <p:cNvPr id="20" name="Text 15"/>
          <p:cNvSpPr txBox="1"/>
          <p:nvPr/>
        </p:nvSpPr>
        <p:spPr>
          <a:xfrm>
            <a:off x="877824" y="4846320"/>
            <a:ext cx="4773168" cy="914400"/>
          </a:xfrm>
          <a:prstGeom prst="rect">
            <a:avLst/>
          </a:prstGeom>
          <a:noFill/>
          <a:ln/>
        </p:spPr>
        <p:txBody>
          <a:bodyPr wrap="square" lIns="0" tIns="0" rIns="0" bIns="0" rtlCol="0" anchor="t"/>
          <a:lstStyle/>
          <a:p>
            <a:pPr algn="l" indent="0" marL="0">
              <a:lnSpc>
                <a:spcPts val="1650"/>
              </a:lnSpc>
              <a:buNone/>
            </a:pPr>
            <a:r>
              <a:rPr lang="en-US" sz="1150" dirty="0">
                <a:solidFill>
                  <a:srgbClr val="AFB4BF"/>
                </a:solidFill>
                <a:latin typeface="Calibri" pitchFamily="34" charset="0"/>
                <a:ea typeface="Calibri" pitchFamily="34" charset="-122"/>
                <a:cs typeface="Calibri" pitchFamily="34" charset="-120"/>
              </a:rPr>
              <a:t>Data Collection Rules decide which events are gathered and where they land. Tight rules keep ingestion volume, and therefore cost, predictable.</a:t>
            </a:r>
            <a:endParaRPr lang="en-US" sz="1150" dirty="0"/>
          </a:p>
        </p:txBody>
      </p:sp>
      <p:sp>
        <p:nvSpPr>
          <p:cNvPr id="21" name="Shape 16"/>
          <p:cNvSpPr/>
          <p:nvPr/>
        </p:nvSpPr>
        <p:spPr>
          <a:xfrm>
            <a:off x="6227064" y="3840480"/>
            <a:ext cx="5394960" cy="2048256"/>
          </a:xfrm>
          <a:prstGeom prst="roundRect">
            <a:avLst>
              <a:gd name="adj" fmla="val 446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2" name="Shape 17"/>
          <p:cNvSpPr/>
          <p:nvPr/>
        </p:nvSpPr>
        <p:spPr>
          <a:xfrm>
            <a:off x="6537960" y="4151376"/>
            <a:ext cx="548640" cy="548640"/>
          </a:xfrm>
          <a:prstGeom prst="ellipse">
            <a:avLst/>
          </a:prstGeom>
          <a:solidFill>
            <a:srgbClr val="F97316"/>
          </a:solidFill>
          <a:ln w="12700">
            <a:solidFill>
              <a:srgbClr val="F97316"/>
            </a:solidFill>
            <a:prstDash val="solid"/>
          </a:ln>
        </p:spPr>
      </p:sp>
      <p:pic>
        <p:nvPicPr>
          <p:cNvPr id="23" name="Image 3" descr="icons/eye-w.png">    </p:cNvPr>
          <p:cNvPicPr>
            <a:picLocks noChangeAspect="1"/>
          </p:cNvPicPr>
          <p:nvPr/>
        </p:nvPicPr>
        <p:blipFill>
          <a:blip r:embed="rId4"/>
          <a:stretch>
            <a:fillRect/>
          </a:stretch>
        </p:blipFill>
        <p:spPr>
          <a:xfrm>
            <a:off x="6672377" y="4285793"/>
            <a:ext cx="279806" cy="279806"/>
          </a:xfrm>
          <a:prstGeom prst="rect">
            <a:avLst/>
          </a:prstGeom>
        </p:spPr>
      </p:pic>
      <p:sp>
        <p:nvSpPr>
          <p:cNvPr id="24" name="Text 18"/>
          <p:cNvSpPr txBox="1"/>
          <p:nvPr/>
        </p:nvSpPr>
        <p:spPr>
          <a:xfrm>
            <a:off x="7232904" y="4151376"/>
            <a:ext cx="4078224" cy="548640"/>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Treat connector status as a daily check</a:t>
            </a:r>
            <a:endParaRPr lang="en-US" sz="1400" dirty="0"/>
          </a:p>
        </p:txBody>
      </p:sp>
      <p:sp>
        <p:nvSpPr>
          <p:cNvPr id="25" name="Text 19"/>
          <p:cNvSpPr txBox="1"/>
          <p:nvPr/>
        </p:nvSpPr>
        <p:spPr>
          <a:xfrm>
            <a:off x="6537960" y="4846320"/>
            <a:ext cx="4773168" cy="914400"/>
          </a:xfrm>
          <a:prstGeom prst="rect">
            <a:avLst/>
          </a:prstGeom>
          <a:noFill/>
          <a:ln/>
        </p:spPr>
        <p:txBody>
          <a:bodyPr wrap="square" lIns="0" tIns="0" rIns="0" bIns="0" rtlCol="0" anchor="t"/>
          <a:lstStyle/>
          <a:p>
            <a:pPr algn="l" indent="0" marL="0">
              <a:lnSpc>
                <a:spcPts val="1650"/>
              </a:lnSpc>
              <a:buNone/>
            </a:pPr>
            <a:r>
              <a:rPr lang="en-US" sz="1150" dirty="0">
                <a:solidFill>
                  <a:srgbClr val="AFB4BF"/>
                </a:solidFill>
                <a:latin typeface="Calibri" pitchFamily="34" charset="0"/>
                <a:ea typeface="Calibri" pitchFamily="34" charset="-122"/>
                <a:cs typeface="Calibri" pitchFamily="34" charset="-120"/>
              </a:rPr>
              <a:t>A connector showing Connected with a recent last-log timestamp is the fastest early warning that a telemetry source has gone silent.</a:t>
            </a:r>
            <a:endParaRPr lang="en-US" sz="1150" dirty="0"/>
          </a:p>
        </p:txBody>
      </p:sp>
      <p:sp>
        <p:nvSpPr>
          <p:cNvPr id="26" name="Text 20"/>
          <p:cNvSpPr txBox="1"/>
          <p:nvPr/>
        </p:nvSpPr>
        <p:spPr>
          <a:xfrm>
            <a:off x="566928" y="5943600"/>
            <a:ext cx="11055096" cy="274320"/>
          </a:xfrm>
          <a:prstGeom prst="rect">
            <a:avLst/>
          </a:prstGeom>
          <a:noFill/>
          <a:ln/>
        </p:spPr>
        <p:txBody>
          <a:bodyPr wrap="square" lIns="0" tIns="0" rIns="0" bIns="0" rtlCol="0" anchor="ctr"/>
          <a:lstStyle/>
          <a:p>
            <a:pPr indent="0" marL="0">
              <a:buNone/>
            </a:pPr>
            <a:r>
              <a:rPr lang="en-US" sz="1150" i="1" dirty="0">
                <a:solidFill>
                  <a:srgbClr val="8D919C"/>
                </a:solidFill>
                <a:latin typeface="Calibri" pitchFamily="34" charset="0"/>
                <a:ea typeface="Calibri" pitchFamily="34" charset="-122"/>
                <a:cs typeface="Calibri" pitchFamily="34" charset="-120"/>
              </a:rPr>
              <a:t>Sentinel is billed on data ingested and retained — collection design is a cost decision as much as a security one.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ROADMAP</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Where this build goes next</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17</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554480"/>
            <a:ext cx="2615184" cy="2798064"/>
          </a:xfrm>
          <a:prstGeom prst="roundRect">
            <a:avLst>
              <a:gd name="adj" fmla="val 3497"/>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7" name="Shape 5"/>
          <p:cNvSpPr/>
          <p:nvPr/>
        </p:nvSpPr>
        <p:spPr>
          <a:xfrm>
            <a:off x="841248" y="1828800"/>
            <a:ext cx="566928" cy="566928"/>
          </a:xfrm>
          <a:prstGeom prst="ellipse">
            <a:avLst/>
          </a:prstGeom>
          <a:solidFill>
            <a:srgbClr val="F97316"/>
          </a:solidFill>
          <a:ln w="12700">
            <a:solidFill>
              <a:srgbClr val="F97316"/>
            </a:solidFill>
            <a:prstDash val="solid"/>
          </a:ln>
        </p:spPr>
      </p:sp>
      <p:pic>
        <p:nvPicPr>
          <p:cNvPr id="8" name="Image 0" descr="icons/alert-w.png">    </p:cNvPr>
          <p:cNvPicPr>
            <a:picLocks noChangeAspect="1"/>
          </p:cNvPicPr>
          <p:nvPr/>
        </p:nvPicPr>
        <p:blipFill>
          <a:blip r:embed="rId1"/>
          <a:stretch>
            <a:fillRect/>
          </a:stretch>
        </p:blipFill>
        <p:spPr>
          <a:xfrm>
            <a:off x="980145" y="1967697"/>
            <a:ext cx="289133" cy="289133"/>
          </a:xfrm>
          <a:prstGeom prst="rect">
            <a:avLst/>
          </a:prstGeom>
        </p:spPr>
      </p:pic>
      <p:sp>
        <p:nvSpPr>
          <p:cNvPr id="9" name="Text 6"/>
          <p:cNvSpPr txBox="1"/>
          <p:nvPr/>
        </p:nvSpPr>
        <p:spPr>
          <a:xfrm>
            <a:off x="841248" y="2578608"/>
            <a:ext cx="2066544" cy="548640"/>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Analytics rules</a:t>
            </a:r>
            <a:endParaRPr lang="en-US" sz="1400" dirty="0"/>
          </a:p>
        </p:txBody>
      </p:sp>
      <p:sp>
        <p:nvSpPr>
          <p:cNvPr id="10" name="Text 7"/>
          <p:cNvSpPr txBox="1"/>
          <p:nvPr/>
        </p:nvSpPr>
        <p:spPr>
          <a:xfrm>
            <a:off x="841248" y="3200400"/>
            <a:ext cx="2066544" cy="1188720"/>
          </a:xfrm>
          <a:prstGeom prst="rect">
            <a:avLst/>
          </a:prstGeom>
          <a:noFill/>
          <a:ln/>
        </p:spPr>
        <p:txBody>
          <a:bodyPr wrap="square" lIns="0" tIns="0" rIns="0" bIns="0" rtlCol="0" anchor="t"/>
          <a:lstStyle/>
          <a:p>
            <a:pPr algn="l" indent="0" marL="0">
              <a:lnSpc>
                <a:spcPts val="1650"/>
              </a:lnSpc>
              <a:buNone/>
            </a:pPr>
            <a:r>
              <a:rPr lang="en-US" sz="1150" dirty="0">
                <a:solidFill>
                  <a:srgbClr val="AFB4BF"/>
                </a:solidFill>
                <a:latin typeface="Calibri" pitchFamily="34" charset="0"/>
                <a:ea typeface="Calibri" pitchFamily="34" charset="-122"/>
                <a:cs typeface="Calibri" pitchFamily="34" charset="-120"/>
              </a:rPr>
              <a:t>Enable the twenty rule templates shipped with the Windows connector and tune thresholds to the estate.</a:t>
            </a:r>
            <a:endParaRPr lang="en-US" sz="1150" dirty="0"/>
          </a:p>
        </p:txBody>
      </p:sp>
      <p:sp>
        <p:nvSpPr>
          <p:cNvPr id="11" name="Shape 8"/>
          <p:cNvSpPr/>
          <p:nvPr/>
        </p:nvSpPr>
        <p:spPr>
          <a:xfrm>
            <a:off x="3410712" y="1554480"/>
            <a:ext cx="2615184" cy="2798064"/>
          </a:xfrm>
          <a:prstGeom prst="roundRect">
            <a:avLst>
              <a:gd name="adj" fmla="val 3497"/>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2" name="Shape 9"/>
          <p:cNvSpPr/>
          <p:nvPr/>
        </p:nvSpPr>
        <p:spPr>
          <a:xfrm>
            <a:off x="3685032" y="1828800"/>
            <a:ext cx="566928" cy="566928"/>
          </a:xfrm>
          <a:prstGeom prst="ellipse">
            <a:avLst/>
          </a:prstGeom>
          <a:solidFill>
            <a:srgbClr val="7A3B0B"/>
          </a:solidFill>
          <a:ln w="12700">
            <a:solidFill>
              <a:srgbClr val="7A3B0B"/>
            </a:solidFill>
            <a:prstDash val="solid"/>
          </a:ln>
        </p:spPr>
      </p:sp>
      <p:pic>
        <p:nvPicPr>
          <p:cNvPr id="13" name="Image 1" descr="icons/target-w.png">    </p:cNvPr>
          <p:cNvPicPr>
            <a:picLocks noChangeAspect="1"/>
          </p:cNvPicPr>
          <p:nvPr/>
        </p:nvPicPr>
        <p:blipFill>
          <a:blip r:embed="rId2"/>
          <a:stretch>
            <a:fillRect/>
          </a:stretch>
        </p:blipFill>
        <p:spPr>
          <a:xfrm>
            <a:off x="3823929" y="1967697"/>
            <a:ext cx="289133" cy="289133"/>
          </a:xfrm>
          <a:prstGeom prst="rect">
            <a:avLst/>
          </a:prstGeom>
        </p:spPr>
      </p:pic>
      <p:sp>
        <p:nvSpPr>
          <p:cNvPr id="14" name="Text 10"/>
          <p:cNvSpPr txBox="1"/>
          <p:nvPr/>
        </p:nvSpPr>
        <p:spPr>
          <a:xfrm>
            <a:off x="3685032" y="2578608"/>
            <a:ext cx="2066544" cy="548640"/>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MITRE ATT&amp;CK mapping</a:t>
            </a:r>
            <a:endParaRPr lang="en-US" sz="1400" dirty="0"/>
          </a:p>
        </p:txBody>
      </p:sp>
      <p:sp>
        <p:nvSpPr>
          <p:cNvPr id="15" name="Text 11"/>
          <p:cNvSpPr txBox="1"/>
          <p:nvPr/>
        </p:nvSpPr>
        <p:spPr>
          <a:xfrm>
            <a:off x="3685032" y="3200400"/>
            <a:ext cx="2066544" cy="1188720"/>
          </a:xfrm>
          <a:prstGeom prst="rect">
            <a:avLst/>
          </a:prstGeom>
          <a:noFill/>
          <a:ln/>
        </p:spPr>
        <p:txBody>
          <a:bodyPr wrap="square" lIns="0" tIns="0" rIns="0" bIns="0" rtlCol="0" anchor="t"/>
          <a:lstStyle/>
          <a:p>
            <a:pPr algn="l" indent="0" marL="0">
              <a:lnSpc>
                <a:spcPts val="1650"/>
              </a:lnSpc>
              <a:buNone/>
            </a:pPr>
            <a:r>
              <a:rPr lang="en-US" sz="1150" dirty="0">
                <a:solidFill>
                  <a:srgbClr val="AFB4BF"/>
                </a:solidFill>
                <a:latin typeface="Calibri" pitchFamily="34" charset="0"/>
                <a:ea typeface="Calibri" pitchFamily="34" charset="-122"/>
                <a:cs typeface="Calibri" pitchFamily="34" charset="-120"/>
              </a:rPr>
              <a:t>Map active detections to tactics and techniques to expose coverage gaps rather than assume them.</a:t>
            </a:r>
            <a:endParaRPr lang="en-US" sz="1150" dirty="0"/>
          </a:p>
        </p:txBody>
      </p:sp>
      <p:sp>
        <p:nvSpPr>
          <p:cNvPr id="16" name="Shape 12"/>
          <p:cNvSpPr/>
          <p:nvPr/>
        </p:nvSpPr>
        <p:spPr>
          <a:xfrm>
            <a:off x="6254496" y="1554480"/>
            <a:ext cx="2615184" cy="2798064"/>
          </a:xfrm>
          <a:prstGeom prst="roundRect">
            <a:avLst>
              <a:gd name="adj" fmla="val 3497"/>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7" name="Shape 13"/>
          <p:cNvSpPr/>
          <p:nvPr/>
        </p:nvSpPr>
        <p:spPr>
          <a:xfrm>
            <a:off x="6528816" y="1828800"/>
            <a:ext cx="566928" cy="566928"/>
          </a:xfrm>
          <a:prstGeom prst="ellipse">
            <a:avLst/>
          </a:prstGeom>
          <a:solidFill>
            <a:srgbClr val="F97316"/>
          </a:solidFill>
          <a:ln w="12700">
            <a:solidFill>
              <a:srgbClr val="F97316"/>
            </a:solidFill>
            <a:prstDash val="solid"/>
          </a:ln>
        </p:spPr>
      </p:sp>
      <p:pic>
        <p:nvPicPr>
          <p:cNvPr id="18" name="Image 2" descr="icons/trend-w.png">    </p:cNvPr>
          <p:cNvPicPr>
            <a:picLocks noChangeAspect="1"/>
          </p:cNvPicPr>
          <p:nvPr/>
        </p:nvPicPr>
        <p:blipFill>
          <a:blip r:embed="rId3"/>
          <a:stretch>
            <a:fillRect/>
          </a:stretch>
        </p:blipFill>
        <p:spPr>
          <a:xfrm>
            <a:off x="6667713" y="1967697"/>
            <a:ext cx="289133" cy="289133"/>
          </a:xfrm>
          <a:prstGeom prst="rect">
            <a:avLst/>
          </a:prstGeom>
        </p:spPr>
      </p:pic>
      <p:sp>
        <p:nvSpPr>
          <p:cNvPr id="19" name="Text 14"/>
          <p:cNvSpPr txBox="1"/>
          <p:nvPr/>
        </p:nvSpPr>
        <p:spPr>
          <a:xfrm>
            <a:off x="6528816" y="2578608"/>
            <a:ext cx="2066544" cy="548640"/>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Workbooks and dashboards</a:t>
            </a:r>
            <a:endParaRPr lang="en-US" sz="1400" dirty="0"/>
          </a:p>
        </p:txBody>
      </p:sp>
      <p:sp>
        <p:nvSpPr>
          <p:cNvPr id="20" name="Text 15"/>
          <p:cNvSpPr txBox="1"/>
          <p:nvPr/>
        </p:nvSpPr>
        <p:spPr>
          <a:xfrm>
            <a:off x="6528816" y="3200400"/>
            <a:ext cx="2066544" cy="1188720"/>
          </a:xfrm>
          <a:prstGeom prst="rect">
            <a:avLst/>
          </a:prstGeom>
          <a:noFill/>
          <a:ln/>
        </p:spPr>
        <p:txBody>
          <a:bodyPr wrap="square" lIns="0" tIns="0" rIns="0" bIns="0" rtlCol="0" anchor="t"/>
          <a:lstStyle/>
          <a:p>
            <a:pPr algn="l" indent="0" marL="0">
              <a:lnSpc>
                <a:spcPts val="1650"/>
              </a:lnSpc>
              <a:buNone/>
            </a:pPr>
            <a:r>
              <a:rPr lang="en-US" sz="1150" dirty="0">
                <a:solidFill>
                  <a:srgbClr val="AFB4BF"/>
                </a:solidFill>
                <a:latin typeface="Calibri" pitchFamily="34" charset="0"/>
                <a:ea typeface="Calibri" pitchFamily="34" charset="-122"/>
                <a:cs typeface="Calibri" pitchFamily="34" charset="-120"/>
              </a:rPr>
              <a:t>Build workbooks over SecurityEvent and Syslog to give the SOC an at-a-glance operational view.</a:t>
            </a:r>
            <a:endParaRPr lang="en-US" sz="1150" dirty="0"/>
          </a:p>
        </p:txBody>
      </p:sp>
      <p:sp>
        <p:nvSpPr>
          <p:cNvPr id="21" name="Shape 16"/>
          <p:cNvSpPr/>
          <p:nvPr/>
        </p:nvSpPr>
        <p:spPr>
          <a:xfrm>
            <a:off x="9098280" y="1554480"/>
            <a:ext cx="2615184" cy="2798064"/>
          </a:xfrm>
          <a:prstGeom prst="roundRect">
            <a:avLst>
              <a:gd name="adj" fmla="val 3497"/>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2" name="Shape 17"/>
          <p:cNvSpPr/>
          <p:nvPr/>
        </p:nvSpPr>
        <p:spPr>
          <a:xfrm>
            <a:off x="9372600" y="1828800"/>
            <a:ext cx="566928" cy="566928"/>
          </a:xfrm>
          <a:prstGeom prst="ellipse">
            <a:avLst/>
          </a:prstGeom>
          <a:solidFill>
            <a:srgbClr val="7A3B0B"/>
          </a:solidFill>
          <a:ln w="12700">
            <a:solidFill>
              <a:srgbClr val="7A3B0B"/>
            </a:solidFill>
            <a:prstDash val="solid"/>
          </a:ln>
        </p:spPr>
      </p:sp>
      <p:pic>
        <p:nvPicPr>
          <p:cNvPr id="23" name="Image 3" descr="icons/zap-w.png">    </p:cNvPr>
          <p:cNvPicPr>
            <a:picLocks noChangeAspect="1"/>
          </p:cNvPicPr>
          <p:nvPr/>
        </p:nvPicPr>
        <p:blipFill>
          <a:blip r:embed="rId4"/>
          <a:stretch>
            <a:fillRect/>
          </a:stretch>
        </p:blipFill>
        <p:spPr>
          <a:xfrm>
            <a:off x="9511497" y="1967697"/>
            <a:ext cx="289133" cy="289133"/>
          </a:xfrm>
          <a:prstGeom prst="rect">
            <a:avLst/>
          </a:prstGeom>
        </p:spPr>
      </p:pic>
      <p:sp>
        <p:nvSpPr>
          <p:cNvPr id="24" name="Text 18"/>
          <p:cNvSpPr txBox="1"/>
          <p:nvPr/>
        </p:nvSpPr>
        <p:spPr>
          <a:xfrm>
            <a:off x="9372600" y="2578608"/>
            <a:ext cx="2066544" cy="548640"/>
          </a:xfrm>
          <a:prstGeom prst="rect">
            <a:avLst/>
          </a:prstGeom>
          <a:noFill/>
          <a:ln/>
        </p:spPr>
        <p:txBody>
          <a:bodyPr wrap="square" lIns="0" tIns="0" rIns="0" bIns="0" rtlCol="0" anchor="ctr"/>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Automation with playbooks</a:t>
            </a:r>
            <a:endParaRPr lang="en-US" sz="1400" dirty="0"/>
          </a:p>
        </p:txBody>
      </p:sp>
      <p:sp>
        <p:nvSpPr>
          <p:cNvPr id="25" name="Text 19"/>
          <p:cNvSpPr txBox="1"/>
          <p:nvPr/>
        </p:nvSpPr>
        <p:spPr>
          <a:xfrm>
            <a:off x="9372600" y="3200400"/>
            <a:ext cx="2066544" cy="1188720"/>
          </a:xfrm>
          <a:prstGeom prst="rect">
            <a:avLst/>
          </a:prstGeom>
          <a:noFill/>
          <a:ln/>
        </p:spPr>
        <p:txBody>
          <a:bodyPr wrap="square" lIns="0" tIns="0" rIns="0" bIns="0" rtlCol="0" anchor="t"/>
          <a:lstStyle/>
          <a:p>
            <a:pPr algn="l" indent="0" marL="0">
              <a:lnSpc>
                <a:spcPts val="1650"/>
              </a:lnSpc>
              <a:buNone/>
            </a:pPr>
            <a:r>
              <a:rPr lang="en-US" sz="1150" dirty="0">
                <a:solidFill>
                  <a:srgbClr val="AFB4BF"/>
                </a:solidFill>
                <a:latin typeface="Calibri" pitchFamily="34" charset="0"/>
                <a:ea typeface="Calibri" pitchFamily="34" charset="-122"/>
                <a:cs typeface="Calibri" pitchFamily="34" charset="-120"/>
              </a:rPr>
              <a:t>Use Logic App playbooks to enrich, notify and contain, shortening mean time to respond.</a:t>
            </a:r>
            <a:endParaRPr lang="en-US" sz="1150" dirty="0"/>
          </a:p>
        </p:txBody>
      </p:sp>
      <p:sp>
        <p:nvSpPr>
          <p:cNvPr id="26" name="Shape 20"/>
          <p:cNvSpPr/>
          <p:nvPr/>
        </p:nvSpPr>
        <p:spPr>
          <a:xfrm>
            <a:off x="566928" y="4828032"/>
            <a:ext cx="11055096" cy="1188720"/>
          </a:xfrm>
          <a:prstGeom prst="roundRect">
            <a:avLst>
              <a:gd name="adj" fmla="val 7692"/>
            </a:avLst>
          </a:prstGeom>
          <a:solidFill>
            <a:srgbClr val="1E2129"/>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7" name="Text 21"/>
          <p:cNvSpPr txBox="1"/>
          <p:nvPr/>
        </p:nvSpPr>
        <p:spPr>
          <a:xfrm>
            <a:off x="896112" y="5010912"/>
            <a:ext cx="457200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Further additions under consideration</a:t>
            </a:r>
            <a:endParaRPr lang="en-US" sz="1250" dirty="0"/>
          </a:p>
        </p:txBody>
      </p:sp>
      <p:sp>
        <p:nvSpPr>
          <p:cNvPr id="28" name="Shape 22"/>
          <p:cNvSpPr/>
          <p:nvPr/>
        </p:nvSpPr>
        <p:spPr>
          <a:xfrm>
            <a:off x="896112" y="5394960"/>
            <a:ext cx="640080" cy="329184"/>
          </a:xfrm>
          <a:prstGeom prst="roundRect">
            <a:avLst>
              <a:gd name="adj" fmla="val 50000"/>
            </a:avLst>
          </a:prstGeom>
          <a:solidFill>
            <a:srgbClr val="17191F"/>
          </a:solidFill>
          <a:ln w="12700">
            <a:solidFill>
              <a:srgbClr val="17191F"/>
            </a:solidFill>
            <a:prstDash val="solid"/>
          </a:ln>
        </p:spPr>
      </p:sp>
      <p:sp>
        <p:nvSpPr>
          <p:cNvPr id="29" name="Text 23"/>
          <p:cNvSpPr txBox="1"/>
          <p:nvPr/>
        </p:nvSpPr>
        <p:spPr>
          <a:xfrm>
            <a:off x="896112" y="5394960"/>
            <a:ext cx="640080" cy="329184"/>
          </a:xfrm>
          <a:prstGeom prst="rect">
            <a:avLst/>
          </a:prstGeom>
          <a:noFill/>
          <a:ln/>
        </p:spPr>
        <p:txBody>
          <a:bodyPr wrap="square" lIns="0" tIns="0" rIns="0" bIns="0" rtlCol="0" anchor="ctr"/>
          <a:lstStyle/>
          <a:p>
            <a:pPr algn="ctr" indent="0" marL="0">
              <a:buNone/>
            </a:pPr>
            <a:r>
              <a:rPr lang="en-US" sz="950" b="1" spc="40" kern="0" dirty="0">
                <a:solidFill>
                  <a:srgbClr val="D8DBE3"/>
                </a:solidFill>
                <a:latin typeface="Calibri" pitchFamily="34" charset="0"/>
                <a:ea typeface="Calibri" pitchFamily="34" charset="-122"/>
                <a:cs typeface="Calibri" pitchFamily="34" charset="-120"/>
              </a:rPr>
              <a:t>UEBA</a:t>
            </a:r>
            <a:endParaRPr lang="en-US" sz="950" dirty="0"/>
          </a:p>
        </p:txBody>
      </p:sp>
      <p:sp>
        <p:nvSpPr>
          <p:cNvPr id="30" name="Shape 24"/>
          <p:cNvSpPr/>
          <p:nvPr/>
        </p:nvSpPr>
        <p:spPr>
          <a:xfrm>
            <a:off x="1682496" y="5394960"/>
            <a:ext cx="1805940" cy="329184"/>
          </a:xfrm>
          <a:prstGeom prst="roundRect">
            <a:avLst>
              <a:gd name="adj" fmla="val 50000"/>
            </a:avLst>
          </a:prstGeom>
          <a:solidFill>
            <a:srgbClr val="17191F"/>
          </a:solidFill>
          <a:ln w="12700">
            <a:solidFill>
              <a:srgbClr val="17191F"/>
            </a:solidFill>
            <a:prstDash val="solid"/>
          </a:ln>
        </p:spPr>
      </p:sp>
      <p:sp>
        <p:nvSpPr>
          <p:cNvPr id="31" name="Text 25"/>
          <p:cNvSpPr txBox="1"/>
          <p:nvPr/>
        </p:nvSpPr>
        <p:spPr>
          <a:xfrm>
            <a:off x="1682496" y="5394960"/>
            <a:ext cx="1805940" cy="329184"/>
          </a:xfrm>
          <a:prstGeom prst="rect">
            <a:avLst/>
          </a:prstGeom>
          <a:noFill/>
          <a:ln/>
        </p:spPr>
        <p:txBody>
          <a:bodyPr wrap="square" lIns="0" tIns="0" rIns="0" bIns="0" rtlCol="0" anchor="ctr"/>
          <a:lstStyle/>
          <a:p>
            <a:pPr algn="ctr" indent="0" marL="0">
              <a:buNone/>
            </a:pPr>
            <a:r>
              <a:rPr lang="en-US" sz="950" b="1" spc="40" kern="0" dirty="0">
                <a:solidFill>
                  <a:srgbClr val="D8DBE3"/>
                </a:solidFill>
                <a:latin typeface="Calibri" pitchFamily="34" charset="0"/>
                <a:ea typeface="Calibri" pitchFamily="34" charset="-122"/>
                <a:cs typeface="Calibri" pitchFamily="34" charset="-120"/>
              </a:rPr>
              <a:t>Threat intelligence</a:t>
            </a:r>
            <a:endParaRPr lang="en-US" sz="950" dirty="0"/>
          </a:p>
        </p:txBody>
      </p:sp>
      <p:sp>
        <p:nvSpPr>
          <p:cNvPr id="32" name="Shape 26"/>
          <p:cNvSpPr/>
          <p:nvPr/>
        </p:nvSpPr>
        <p:spPr>
          <a:xfrm>
            <a:off x="3634740" y="5394960"/>
            <a:ext cx="1106424" cy="329184"/>
          </a:xfrm>
          <a:prstGeom prst="roundRect">
            <a:avLst>
              <a:gd name="adj" fmla="val 50000"/>
            </a:avLst>
          </a:prstGeom>
          <a:solidFill>
            <a:srgbClr val="17191F"/>
          </a:solidFill>
          <a:ln w="12700">
            <a:solidFill>
              <a:srgbClr val="17191F"/>
            </a:solidFill>
            <a:prstDash val="solid"/>
          </a:ln>
        </p:spPr>
      </p:sp>
      <p:sp>
        <p:nvSpPr>
          <p:cNvPr id="33" name="Text 27"/>
          <p:cNvSpPr txBox="1"/>
          <p:nvPr/>
        </p:nvSpPr>
        <p:spPr>
          <a:xfrm>
            <a:off x="3634740" y="5394960"/>
            <a:ext cx="1106424" cy="329184"/>
          </a:xfrm>
          <a:prstGeom prst="rect">
            <a:avLst/>
          </a:prstGeom>
          <a:noFill/>
          <a:ln/>
        </p:spPr>
        <p:txBody>
          <a:bodyPr wrap="square" lIns="0" tIns="0" rIns="0" bIns="0" rtlCol="0" anchor="ctr"/>
          <a:lstStyle/>
          <a:p>
            <a:pPr algn="ctr" indent="0" marL="0">
              <a:buNone/>
            </a:pPr>
            <a:r>
              <a:rPr lang="en-US" sz="950" b="1" spc="40" kern="0" dirty="0">
                <a:solidFill>
                  <a:srgbClr val="D8DBE3"/>
                </a:solidFill>
                <a:latin typeface="Calibri" pitchFamily="34" charset="0"/>
                <a:ea typeface="Calibri" pitchFamily="34" charset="-122"/>
                <a:cs typeface="Calibri" pitchFamily="34" charset="-120"/>
              </a:rPr>
              <a:t>Watchlists</a:t>
            </a:r>
            <a:endParaRPr lang="en-US" sz="950" dirty="0"/>
          </a:p>
        </p:txBody>
      </p:sp>
      <p:sp>
        <p:nvSpPr>
          <p:cNvPr id="34" name="Shape 28"/>
          <p:cNvSpPr/>
          <p:nvPr/>
        </p:nvSpPr>
        <p:spPr>
          <a:xfrm>
            <a:off x="4887468" y="5394960"/>
            <a:ext cx="2583180" cy="329184"/>
          </a:xfrm>
          <a:prstGeom prst="roundRect">
            <a:avLst>
              <a:gd name="adj" fmla="val 50000"/>
            </a:avLst>
          </a:prstGeom>
          <a:solidFill>
            <a:srgbClr val="17191F"/>
          </a:solidFill>
          <a:ln w="12700">
            <a:solidFill>
              <a:srgbClr val="17191F"/>
            </a:solidFill>
            <a:prstDash val="solid"/>
          </a:ln>
        </p:spPr>
      </p:sp>
      <p:sp>
        <p:nvSpPr>
          <p:cNvPr id="35" name="Text 29"/>
          <p:cNvSpPr txBox="1"/>
          <p:nvPr/>
        </p:nvSpPr>
        <p:spPr>
          <a:xfrm>
            <a:off x="4887468" y="5394960"/>
            <a:ext cx="2583180" cy="329184"/>
          </a:xfrm>
          <a:prstGeom prst="rect">
            <a:avLst/>
          </a:prstGeom>
          <a:noFill/>
          <a:ln/>
        </p:spPr>
        <p:txBody>
          <a:bodyPr wrap="square" lIns="0" tIns="0" rIns="0" bIns="0" rtlCol="0" anchor="ctr"/>
          <a:lstStyle/>
          <a:p>
            <a:pPr algn="ctr" indent="0" marL="0">
              <a:buNone/>
            </a:pPr>
            <a:r>
              <a:rPr lang="en-US" sz="950" b="1" spc="40" kern="0" dirty="0">
                <a:solidFill>
                  <a:srgbClr val="D8DBE3"/>
                </a:solidFill>
                <a:latin typeface="Calibri" pitchFamily="34" charset="0"/>
                <a:ea typeface="Calibri" pitchFamily="34" charset="-122"/>
                <a:cs typeface="Calibri" pitchFamily="34" charset="-120"/>
              </a:rPr>
              <a:t>Azure Arc for non-Azure hosts</a:t>
            </a:r>
            <a:endParaRPr lang="en-US" sz="950" dirty="0"/>
          </a:p>
        </p:txBody>
      </p:sp>
      <p:sp>
        <p:nvSpPr>
          <p:cNvPr id="36" name="Shape 30"/>
          <p:cNvSpPr/>
          <p:nvPr/>
        </p:nvSpPr>
        <p:spPr>
          <a:xfrm>
            <a:off x="7616952" y="5394960"/>
            <a:ext cx="1805940" cy="329184"/>
          </a:xfrm>
          <a:prstGeom prst="roundRect">
            <a:avLst>
              <a:gd name="adj" fmla="val 50000"/>
            </a:avLst>
          </a:prstGeom>
          <a:solidFill>
            <a:srgbClr val="17191F"/>
          </a:solidFill>
          <a:ln w="12700">
            <a:solidFill>
              <a:srgbClr val="17191F"/>
            </a:solidFill>
            <a:prstDash val="solid"/>
          </a:ln>
        </p:spPr>
      </p:sp>
      <p:sp>
        <p:nvSpPr>
          <p:cNvPr id="37" name="Text 31"/>
          <p:cNvSpPr txBox="1"/>
          <p:nvPr/>
        </p:nvSpPr>
        <p:spPr>
          <a:xfrm>
            <a:off x="7616952" y="5394960"/>
            <a:ext cx="1805940" cy="329184"/>
          </a:xfrm>
          <a:prstGeom prst="rect">
            <a:avLst/>
          </a:prstGeom>
          <a:noFill/>
          <a:ln/>
        </p:spPr>
        <p:txBody>
          <a:bodyPr wrap="square" lIns="0" tIns="0" rIns="0" bIns="0" rtlCol="0" anchor="ctr"/>
          <a:lstStyle/>
          <a:p>
            <a:pPr algn="ctr" indent="0" marL="0">
              <a:buNone/>
            </a:pPr>
            <a:r>
              <a:rPr lang="en-US" sz="950" b="1" spc="40" kern="0" dirty="0">
                <a:solidFill>
                  <a:srgbClr val="D8DBE3"/>
                </a:solidFill>
                <a:latin typeface="Calibri" pitchFamily="34" charset="0"/>
                <a:ea typeface="Calibri" pitchFamily="34" charset="-122"/>
                <a:cs typeface="Calibri" pitchFamily="34" charset="-120"/>
              </a:rPr>
              <a:t>Long-term retention</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8090B"/>
        </a:solidFill>
      </p:bgPr>
    </p:bg>
    <p:spTree>
      <p:nvGrpSpPr>
        <p:cNvPr id="1" name=""/>
        <p:cNvGrpSpPr/>
        <p:nvPr/>
      </p:nvGrpSpPr>
      <p:grpSpPr>
        <a:xfrm>
          <a:off x="0" y="0"/>
          <a:ext cx="0" cy="0"/>
          <a:chOff x="0" y="0"/>
          <a:chExt cx="0" cy="0"/>
        </a:xfrm>
      </p:grpSpPr>
      <p:sp>
        <p:nvSpPr>
          <p:cNvPr id="2" name="Shape 0"/>
          <p:cNvSpPr/>
          <p:nvPr/>
        </p:nvSpPr>
        <p:spPr>
          <a:xfrm>
            <a:off x="9144000" y="2011680"/>
            <a:ext cx="5852160" cy="5852160"/>
          </a:xfrm>
          <a:prstGeom prst="ellipse">
            <a:avLst/>
          </a:prstGeom>
          <a:solidFill>
            <a:srgbClr val="141519">
              <a:alpha val="65000"/>
            </a:srgbClr>
          </a:solidFill>
          <a:ln w="9525">
            <a:solidFill>
              <a:srgbClr val="FFB454">
                <a:alpha val="38000"/>
              </a:srgbClr>
            </a:solidFill>
            <a:prstDash val="solid"/>
          </a:ln>
        </p:spPr>
      </p:sp>
      <p:sp>
        <p:nvSpPr>
          <p:cNvPr id="3" name="Shape 1"/>
          <p:cNvSpPr/>
          <p:nvPr/>
        </p:nvSpPr>
        <p:spPr>
          <a:xfrm>
            <a:off x="9829800" y="2697480"/>
            <a:ext cx="4480560" cy="4480560"/>
          </a:xfrm>
          <a:prstGeom prst="ellipse">
            <a:avLst/>
          </a:prstGeom>
          <a:solidFill>
            <a:srgbClr val="141519">
              <a:alpha val="65000"/>
            </a:srgbClr>
          </a:solidFill>
          <a:ln w="9525">
            <a:solidFill>
              <a:srgbClr val="FFB454">
                <a:alpha val="38000"/>
              </a:srgbClr>
            </a:solidFill>
            <a:prstDash val="solid"/>
          </a:ln>
        </p:spPr>
      </p:sp>
      <p:sp>
        <p:nvSpPr>
          <p:cNvPr id="4" name="Shape 2"/>
          <p:cNvSpPr/>
          <p:nvPr/>
        </p:nvSpPr>
        <p:spPr>
          <a:xfrm>
            <a:off x="10515600" y="3383280"/>
            <a:ext cx="3108960" cy="3108960"/>
          </a:xfrm>
          <a:prstGeom prst="ellipse">
            <a:avLst/>
          </a:prstGeom>
          <a:solidFill>
            <a:srgbClr val="3A1D08">
              <a:alpha val="80000"/>
            </a:srgbClr>
          </a:solidFill>
          <a:ln w="9525">
            <a:solidFill>
              <a:srgbClr val="FFB454">
                <a:alpha val="38000"/>
              </a:srgbClr>
            </a:solidFill>
            <a:prstDash val="solid"/>
          </a:ln>
        </p:spPr>
      </p:sp>
      <p:pic>
        <p:nvPicPr>
          <p:cNvPr id="5" name="Image 0" descr="icons/target-o.png">    </p:cNvPr>
          <p:cNvPicPr>
            <a:picLocks noChangeAspect="1"/>
          </p:cNvPicPr>
          <p:nvPr/>
        </p:nvPicPr>
        <p:blipFill>
          <a:blip r:embed="rId1"/>
          <a:stretch>
            <a:fillRect/>
          </a:stretch>
        </p:blipFill>
        <p:spPr>
          <a:xfrm>
            <a:off x="10991088" y="3858768"/>
            <a:ext cx="1060704" cy="1060704"/>
          </a:xfrm>
          <a:prstGeom prst="rect">
            <a:avLst/>
          </a:prstGeom>
        </p:spPr>
      </p:pic>
      <p:sp>
        <p:nvSpPr>
          <p:cNvPr id="6" name="Text 3"/>
          <p:cNvSpPr txBox="1"/>
          <p:nvPr/>
        </p:nvSpPr>
        <p:spPr>
          <a:xfrm>
            <a:off x="658368" y="2286000"/>
            <a:ext cx="5486400" cy="274320"/>
          </a:xfrm>
          <a:prstGeom prst="rect">
            <a:avLst/>
          </a:prstGeom>
          <a:noFill/>
          <a:ln/>
        </p:spPr>
        <p:txBody>
          <a:bodyPr wrap="square" lIns="0" tIns="0" rIns="0" bIns="0" rtlCol="0" anchor="ctr"/>
          <a:lstStyle/>
          <a:p>
            <a:pPr indent="0" marL="0">
              <a:buNone/>
            </a:pPr>
            <a:r>
              <a:rPr lang="en-US" sz="1200" b="1" spc="300" kern="0" dirty="0">
                <a:solidFill>
                  <a:srgbClr val="FFA94D"/>
                </a:solidFill>
                <a:latin typeface="Calibri" pitchFamily="34" charset="0"/>
                <a:ea typeface="Calibri" pitchFamily="34" charset="-122"/>
                <a:cs typeface="Calibri" pitchFamily="34" charset="-120"/>
              </a:rPr>
              <a:t>PART TWO</a:t>
            </a:r>
            <a:endParaRPr lang="en-US" sz="1200" dirty="0"/>
          </a:p>
        </p:txBody>
      </p:sp>
      <p:sp>
        <p:nvSpPr>
          <p:cNvPr id="7" name="Text 4"/>
          <p:cNvSpPr txBox="1"/>
          <p:nvPr/>
        </p:nvSpPr>
        <p:spPr>
          <a:xfrm>
            <a:off x="621792" y="2651760"/>
            <a:ext cx="8229600" cy="155448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Attack simulation</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&amp; detection</a:t>
            </a:r>
            <a:endParaRPr lang="en-US" sz="4200" dirty="0"/>
          </a:p>
        </p:txBody>
      </p:sp>
      <p:sp>
        <p:nvSpPr>
          <p:cNvPr id="8" name="Text 5"/>
          <p:cNvSpPr txBox="1"/>
          <p:nvPr/>
        </p:nvSpPr>
        <p:spPr>
          <a:xfrm>
            <a:off x="658368" y="4261104"/>
            <a:ext cx="7680960" cy="822960"/>
          </a:xfrm>
          <a:prstGeom prst="rect">
            <a:avLst/>
          </a:prstGeom>
          <a:noFill/>
          <a:ln/>
        </p:spPr>
        <p:txBody>
          <a:bodyPr wrap="square" lIns="0" tIns="0" rIns="0" bIns="0" rtlCol="0" anchor="ctr"/>
          <a:lstStyle/>
          <a:p>
            <a:pPr indent="0" marL="0">
              <a:lnSpc>
                <a:spcPts val="2100"/>
              </a:lnSpc>
              <a:buNone/>
            </a:pPr>
            <a:r>
              <a:rPr lang="en-US" sz="1450" dirty="0">
                <a:solidFill>
                  <a:srgbClr val="CFD3DB"/>
                </a:solidFill>
                <a:latin typeface="Calibri" pitchFamily="34" charset="0"/>
                <a:ea typeface="Calibri" pitchFamily="34" charset="-122"/>
                <a:cs typeface="Calibri" pitchFamily="34" charset="-120"/>
              </a:rPr>
              <a:t>Validating the SIEM the only way that really counts — by launching a live SSH brute-force attack against a target VM and confirming Sentinel captures it.</a:t>
            </a:r>
            <a:endParaRPr lang="en-US" sz="1450" dirty="0"/>
          </a:p>
        </p:txBody>
      </p:sp>
      <p:sp>
        <p:nvSpPr>
          <p:cNvPr id="9" name="Shape 6"/>
          <p:cNvSpPr/>
          <p:nvPr/>
        </p:nvSpPr>
        <p:spPr>
          <a:xfrm>
            <a:off x="658368" y="5230368"/>
            <a:ext cx="1792224" cy="457200"/>
          </a:xfrm>
          <a:prstGeom prst="roundRect">
            <a:avLst>
              <a:gd name="adj" fmla="val 16000"/>
            </a:avLst>
          </a:prstGeom>
          <a:solidFill>
            <a:srgbClr val="17191F"/>
          </a:solidFill>
          <a:ln w="9525">
            <a:solidFill>
              <a:srgbClr val="343946"/>
            </a:solidFill>
            <a:prstDash val="solid"/>
          </a:ln>
        </p:spPr>
      </p:sp>
      <p:sp>
        <p:nvSpPr>
          <p:cNvPr id="10" name="Text 7"/>
          <p:cNvSpPr txBox="1"/>
          <p:nvPr/>
        </p:nvSpPr>
        <p:spPr>
          <a:xfrm>
            <a:off x="658368" y="5230368"/>
            <a:ext cx="1792224" cy="457200"/>
          </a:xfrm>
          <a:prstGeom prst="rect">
            <a:avLst/>
          </a:prstGeom>
          <a:noFill/>
          <a:ln/>
        </p:spPr>
        <p:txBody>
          <a:bodyPr wrap="square" lIns="0" tIns="0" rIns="0" bIns="0" rtlCol="0" anchor="ctr"/>
          <a:lstStyle/>
          <a:p>
            <a:pPr algn="ctr" indent="0" marL="0">
              <a:buNone/>
            </a:pPr>
            <a:r>
              <a:rPr lang="en-US" sz="1050" b="1" dirty="0">
                <a:solidFill>
                  <a:srgbClr val="ECEDF1"/>
                </a:solidFill>
                <a:latin typeface="Calibri" pitchFamily="34" charset="0"/>
                <a:ea typeface="Calibri" pitchFamily="34" charset="-122"/>
                <a:cs typeface="Calibri" pitchFamily="34" charset="-120"/>
              </a:rPr>
              <a:t>1. Deploy target</a:t>
            </a:r>
            <a:endParaRPr lang="en-US" sz="1050" dirty="0"/>
          </a:p>
        </p:txBody>
      </p:sp>
      <p:sp>
        <p:nvSpPr>
          <p:cNvPr id="11" name="Text 8"/>
          <p:cNvSpPr txBox="1"/>
          <p:nvPr/>
        </p:nvSpPr>
        <p:spPr>
          <a:xfrm>
            <a:off x="2450592" y="5230368"/>
            <a:ext cx="201168" cy="457200"/>
          </a:xfrm>
          <a:prstGeom prst="rect">
            <a:avLst/>
          </a:prstGeom>
          <a:noFill/>
          <a:ln/>
        </p:spPr>
        <p:txBody>
          <a:bodyPr wrap="square" lIns="0" tIns="0" rIns="0" bIns="0" rtlCol="0" anchor="ctr"/>
          <a:lstStyle/>
          <a:p>
            <a:pPr algn="ctr" indent="0" marL="0">
              <a:buNone/>
            </a:pPr>
            <a:r>
              <a:rPr lang="en-US" sz="1600" b="1" dirty="0">
                <a:solidFill>
                  <a:srgbClr val="8D919C"/>
                </a:solidFill>
                <a:latin typeface="Calibri" pitchFamily="34" charset="0"/>
                <a:ea typeface="Calibri" pitchFamily="34" charset="-122"/>
                <a:cs typeface="Calibri" pitchFamily="34" charset="-120"/>
              </a:rPr>
              <a:t>›</a:t>
            </a:r>
            <a:endParaRPr lang="en-US" sz="1600" dirty="0"/>
          </a:p>
        </p:txBody>
      </p:sp>
      <p:sp>
        <p:nvSpPr>
          <p:cNvPr id="12" name="Shape 9"/>
          <p:cNvSpPr/>
          <p:nvPr/>
        </p:nvSpPr>
        <p:spPr>
          <a:xfrm>
            <a:off x="2651760" y="5230368"/>
            <a:ext cx="1792224" cy="457200"/>
          </a:xfrm>
          <a:prstGeom prst="roundRect">
            <a:avLst>
              <a:gd name="adj" fmla="val 16000"/>
            </a:avLst>
          </a:prstGeom>
          <a:solidFill>
            <a:srgbClr val="17191F"/>
          </a:solidFill>
          <a:ln w="9525">
            <a:solidFill>
              <a:srgbClr val="343946"/>
            </a:solidFill>
            <a:prstDash val="solid"/>
          </a:ln>
        </p:spPr>
      </p:sp>
      <p:sp>
        <p:nvSpPr>
          <p:cNvPr id="13" name="Text 10"/>
          <p:cNvSpPr txBox="1"/>
          <p:nvPr/>
        </p:nvSpPr>
        <p:spPr>
          <a:xfrm>
            <a:off x="2651760" y="5230368"/>
            <a:ext cx="1792224" cy="457200"/>
          </a:xfrm>
          <a:prstGeom prst="rect">
            <a:avLst/>
          </a:prstGeom>
          <a:noFill/>
          <a:ln/>
        </p:spPr>
        <p:txBody>
          <a:bodyPr wrap="square" lIns="0" tIns="0" rIns="0" bIns="0" rtlCol="0" anchor="ctr"/>
          <a:lstStyle/>
          <a:p>
            <a:pPr algn="ctr" indent="0" marL="0">
              <a:buNone/>
            </a:pPr>
            <a:r>
              <a:rPr lang="en-US" sz="1050" b="1" dirty="0">
                <a:solidFill>
                  <a:srgbClr val="ECEDF1"/>
                </a:solidFill>
                <a:latin typeface="Calibri" pitchFamily="34" charset="0"/>
                <a:ea typeface="Calibri" pitchFamily="34" charset="-122"/>
                <a:cs typeface="Calibri" pitchFamily="34" charset="-120"/>
              </a:rPr>
              <a:t>2. Brute force</a:t>
            </a:r>
            <a:endParaRPr lang="en-US" sz="1050" dirty="0"/>
          </a:p>
        </p:txBody>
      </p:sp>
      <p:sp>
        <p:nvSpPr>
          <p:cNvPr id="14" name="Text 11"/>
          <p:cNvSpPr txBox="1"/>
          <p:nvPr/>
        </p:nvSpPr>
        <p:spPr>
          <a:xfrm>
            <a:off x="4443984" y="5230368"/>
            <a:ext cx="201168" cy="457200"/>
          </a:xfrm>
          <a:prstGeom prst="rect">
            <a:avLst/>
          </a:prstGeom>
          <a:noFill/>
          <a:ln/>
        </p:spPr>
        <p:txBody>
          <a:bodyPr wrap="square" lIns="0" tIns="0" rIns="0" bIns="0" rtlCol="0" anchor="ctr"/>
          <a:lstStyle/>
          <a:p>
            <a:pPr algn="ctr" indent="0" marL="0">
              <a:buNone/>
            </a:pPr>
            <a:r>
              <a:rPr lang="en-US" sz="1600" b="1" dirty="0">
                <a:solidFill>
                  <a:srgbClr val="8D919C"/>
                </a:solidFill>
                <a:latin typeface="Calibri" pitchFamily="34" charset="0"/>
                <a:ea typeface="Calibri" pitchFamily="34" charset="-122"/>
                <a:cs typeface="Calibri" pitchFamily="34" charset="-120"/>
              </a:rPr>
              <a:t>›</a:t>
            </a:r>
            <a:endParaRPr lang="en-US" sz="1600" dirty="0"/>
          </a:p>
        </p:txBody>
      </p:sp>
      <p:sp>
        <p:nvSpPr>
          <p:cNvPr id="15" name="Shape 12"/>
          <p:cNvSpPr/>
          <p:nvPr/>
        </p:nvSpPr>
        <p:spPr>
          <a:xfrm>
            <a:off x="4645152" y="5230368"/>
            <a:ext cx="1792224" cy="457200"/>
          </a:xfrm>
          <a:prstGeom prst="roundRect">
            <a:avLst>
              <a:gd name="adj" fmla="val 16000"/>
            </a:avLst>
          </a:prstGeom>
          <a:solidFill>
            <a:srgbClr val="17191F"/>
          </a:solidFill>
          <a:ln w="9525">
            <a:solidFill>
              <a:srgbClr val="343946"/>
            </a:solidFill>
            <a:prstDash val="solid"/>
          </a:ln>
        </p:spPr>
      </p:sp>
      <p:sp>
        <p:nvSpPr>
          <p:cNvPr id="16" name="Text 13"/>
          <p:cNvSpPr txBox="1"/>
          <p:nvPr/>
        </p:nvSpPr>
        <p:spPr>
          <a:xfrm>
            <a:off x="4645152" y="5230368"/>
            <a:ext cx="1792224" cy="457200"/>
          </a:xfrm>
          <a:prstGeom prst="rect">
            <a:avLst/>
          </a:prstGeom>
          <a:noFill/>
          <a:ln/>
        </p:spPr>
        <p:txBody>
          <a:bodyPr wrap="square" lIns="0" tIns="0" rIns="0" bIns="0" rtlCol="0" anchor="ctr"/>
          <a:lstStyle/>
          <a:p>
            <a:pPr algn="ctr" indent="0" marL="0">
              <a:buNone/>
            </a:pPr>
            <a:r>
              <a:rPr lang="en-US" sz="1050" b="1" dirty="0">
                <a:solidFill>
                  <a:srgbClr val="ECEDF1"/>
                </a:solidFill>
                <a:latin typeface="Calibri" pitchFamily="34" charset="0"/>
                <a:ea typeface="Calibri" pitchFamily="34" charset="-122"/>
                <a:cs typeface="Calibri" pitchFamily="34" charset="-120"/>
              </a:rPr>
              <a:t>3. Compromise</a:t>
            </a:r>
            <a:endParaRPr lang="en-US" sz="1050" dirty="0"/>
          </a:p>
        </p:txBody>
      </p:sp>
      <p:sp>
        <p:nvSpPr>
          <p:cNvPr id="17" name="Text 14"/>
          <p:cNvSpPr txBox="1"/>
          <p:nvPr/>
        </p:nvSpPr>
        <p:spPr>
          <a:xfrm>
            <a:off x="6437376" y="5230368"/>
            <a:ext cx="201168" cy="457200"/>
          </a:xfrm>
          <a:prstGeom prst="rect">
            <a:avLst/>
          </a:prstGeom>
          <a:noFill/>
          <a:ln/>
        </p:spPr>
        <p:txBody>
          <a:bodyPr wrap="square" lIns="0" tIns="0" rIns="0" bIns="0" rtlCol="0" anchor="ctr"/>
          <a:lstStyle/>
          <a:p>
            <a:pPr algn="ctr" indent="0" marL="0">
              <a:buNone/>
            </a:pPr>
            <a:r>
              <a:rPr lang="en-US" sz="1600" b="1" dirty="0">
                <a:solidFill>
                  <a:srgbClr val="8D919C"/>
                </a:solidFill>
                <a:latin typeface="Calibri" pitchFamily="34" charset="0"/>
                <a:ea typeface="Calibri" pitchFamily="34" charset="-122"/>
                <a:cs typeface="Calibri" pitchFamily="34" charset="-120"/>
              </a:rPr>
              <a:t>›</a:t>
            </a:r>
            <a:endParaRPr lang="en-US" sz="1600" dirty="0"/>
          </a:p>
        </p:txBody>
      </p:sp>
      <p:sp>
        <p:nvSpPr>
          <p:cNvPr id="18" name="Shape 15"/>
          <p:cNvSpPr/>
          <p:nvPr/>
        </p:nvSpPr>
        <p:spPr>
          <a:xfrm>
            <a:off x="6638544" y="5230368"/>
            <a:ext cx="1792224" cy="457200"/>
          </a:xfrm>
          <a:prstGeom prst="roundRect">
            <a:avLst>
              <a:gd name="adj" fmla="val 16000"/>
            </a:avLst>
          </a:prstGeom>
          <a:solidFill>
            <a:srgbClr val="F97316"/>
          </a:solidFill>
          <a:ln w="9525">
            <a:solidFill>
              <a:srgbClr val="F97316"/>
            </a:solidFill>
            <a:prstDash val="solid"/>
          </a:ln>
        </p:spPr>
      </p:sp>
      <p:sp>
        <p:nvSpPr>
          <p:cNvPr id="19" name="Text 16"/>
          <p:cNvSpPr txBox="1"/>
          <p:nvPr/>
        </p:nvSpPr>
        <p:spPr>
          <a:xfrm>
            <a:off x="6638544" y="5230368"/>
            <a:ext cx="1792224" cy="457200"/>
          </a:xfrm>
          <a:prstGeom prst="rect">
            <a:avLst/>
          </a:prstGeom>
          <a:noFill/>
          <a:ln/>
        </p:spPr>
        <p:txBody>
          <a:bodyPr wrap="square" lIns="0" tIns="0" rIns="0" bIns="0" rtlCol="0" anchor="ctr"/>
          <a:lstStyle/>
          <a:p>
            <a:pPr algn="ctr" indent="0" marL="0">
              <a:buNone/>
            </a:pPr>
            <a:r>
              <a:rPr lang="en-US" sz="1050" b="1" dirty="0">
                <a:solidFill>
                  <a:srgbClr val="1A0E03"/>
                </a:solidFill>
                <a:latin typeface="Calibri" pitchFamily="34" charset="0"/>
                <a:ea typeface="Calibri" pitchFamily="34" charset="-122"/>
                <a:cs typeface="Calibri" pitchFamily="34" charset="-120"/>
              </a:rPr>
              <a:t>4. Detect in Sentinel</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ATTACK SIMULATION</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Scenario: SSH brute force on a target VM</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517904"/>
            <a:ext cx="5212080" cy="2286000"/>
          </a:xfrm>
          <a:prstGeom prst="roundRect">
            <a:avLst>
              <a:gd name="adj" fmla="val 4000"/>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7" name="Shape 5"/>
          <p:cNvSpPr/>
          <p:nvPr/>
        </p:nvSpPr>
        <p:spPr>
          <a:xfrm>
            <a:off x="877824" y="1810512"/>
            <a:ext cx="548640" cy="548640"/>
          </a:xfrm>
          <a:prstGeom prst="ellipse">
            <a:avLst/>
          </a:prstGeom>
          <a:solidFill>
            <a:srgbClr val="F97316"/>
          </a:solidFill>
          <a:ln w="12700">
            <a:solidFill>
              <a:srgbClr val="F97316"/>
            </a:solidFill>
            <a:prstDash val="solid"/>
          </a:ln>
        </p:spPr>
      </p:sp>
      <p:pic>
        <p:nvPicPr>
          <p:cNvPr id="8" name="Image 0" descr="icons/target-w.png">    </p:cNvPr>
          <p:cNvPicPr>
            <a:picLocks noChangeAspect="1"/>
          </p:cNvPicPr>
          <p:nvPr/>
        </p:nvPicPr>
        <p:blipFill>
          <a:blip r:embed="rId1"/>
          <a:stretch>
            <a:fillRect/>
          </a:stretch>
        </p:blipFill>
        <p:spPr>
          <a:xfrm>
            <a:off x="1012241" y="1944929"/>
            <a:ext cx="279806" cy="279806"/>
          </a:xfrm>
          <a:prstGeom prst="rect">
            <a:avLst/>
          </a:prstGeom>
        </p:spPr>
      </p:pic>
      <p:sp>
        <p:nvSpPr>
          <p:cNvPr id="9" name="Text 6"/>
          <p:cNvSpPr txBox="1"/>
          <p:nvPr/>
        </p:nvSpPr>
        <p:spPr>
          <a:xfrm>
            <a:off x="1572768" y="1883664"/>
            <a:ext cx="39319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objective</a:t>
            </a:r>
            <a:endParaRPr lang="en-US" sz="1500" dirty="0"/>
          </a:p>
        </p:txBody>
      </p:sp>
      <p:sp>
        <p:nvSpPr>
          <p:cNvPr id="10" name="Text 7"/>
          <p:cNvSpPr txBox="1"/>
          <p:nvPr/>
        </p:nvSpPr>
        <p:spPr>
          <a:xfrm>
            <a:off x="877824" y="2395728"/>
            <a:ext cx="4626864" cy="1280160"/>
          </a:xfrm>
          <a:prstGeom prst="rect">
            <a:avLst/>
          </a:prstGeom>
          <a:noFill/>
          <a:ln/>
        </p:spPr>
        <p:txBody>
          <a:bodyPr wrap="square" lIns="0" tIns="0" rIns="0" bIns="0" rtlCol="0" anchor="t"/>
          <a:lstStyle/>
          <a:p>
            <a:pPr algn="l" indent="0" marL="0">
              <a:lnSpc>
                <a:spcPts val="1700"/>
              </a:lnSpc>
              <a:buNone/>
            </a:pPr>
            <a:r>
              <a:rPr lang="en-US" sz="1200" dirty="0">
                <a:solidFill>
                  <a:srgbClr val="AFB4BF"/>
                </a:solidFill>
                <a:latin typeface="Calibri" pitchFamily="34" charset="0"/>
                <a:ea typeface="Calibri" pitchFamily="34" charset="-122"/>
                <a:cs typeface="Calibri" pitchFamily="34" charset="-120"/>
              </a:rPr>
              <a:t>Stand up a deliberately weak Linux VM, break into it over SSH with a password-guessing attack, and then confirm the whole intrusion is visible in Sentinel. This closes the loop between collecting logs and actually detecting an attack in them.</a:t>
            </a:r>
            <a:endParaRPr lang="en-US" sz="1200" dirty="0"/>
          </a:p>
        </p:txBody>
      </p:sp>
      <p:sp>
        <p:nvSpPr>
          <p:cNvPr id="11" name="Shape 8"/>
          <p:cNvSpPr/>
          <p:nvPr/>
        </p:nvSpPr>
        <p:spPr>
          <a:xfrm>
            <a:off x="6035040" y="1517904"/>
            <a:ext cx="5586984" cy="2286000"/>
          </a:xfrm>
          <a:prstGeom prst="roundRect">
            <a:avLst>
              <a:gd name="adj" fmla="val 4000"/>
            </a:avLst>
          </a:prstGeom>
          <a:solidFill>
            <a:srgbClr val="1E2129"/>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2" name="Text 9"/>
          <p:cNvSpPr txBox="1"/>
          <p:nvPr/>
        </p:nvSpPr>
        <p:spPr>
          <a:xfrm>
            <a:off x="6345936" y="1828800"/>
            <a:ext cx="4572000" cy="274320"/>
          </a:xfrm>
          <a:prstGeom prst="rect">
            <a:avLst/>
          </a:prstGeom>
          <a:noFill/>
          <a:ln/>
        </p:spPr>
        <p:txBody>
          <a:bodyPr wrap="square" lIns="0" tIns="0" rIns="0" bIns="0" rtlCol="0" anchor="ctr"/>
          <a:lstStyle/>
          <a:p>
            <a:pPr indent="0" marL="0">
              <a:buNone/>
            </a:pPr>
            <a:r>
              <a:rPr lang="en-US" sz="1300" b="1" spc="60" kern="0" dirty="0">
                <a:solidFill>
                  <a:srgbClr val="FFA94D"/>
                </a:solidFill>
                <a:latin typeface="Calibri" pitchFamily="34" charset="0"/>
                <a:ea typeface="Calibri" pitchFamily="34" charset="-122"/>
                <a:cs typeface="Calibri" pitchFamily="34" charset="-120"/>
              </a:rPr>
              <a:t>Lab set-up</a:t>
            </a:r>
            <a:endParaRPr lang="en-US" sz="1300" dirty="0"/>
          </a:p>
        </p:txBody>
      </p:sp>
      <p:sp>
        <p:nvSpPr>
          <p:cNvPr id="13" name="Text 10"/>
          <p:cNvSpPr txBox="1"/>
          <p:nvPr/>
        </p:nvSpPr>
        <p:spPr>
          <a:xfrm>
            <a:off x="6345936" y="2231136"/>
            <a:ext cx="1737360" cy="274320"/>
          </a:xfrm>
          <a:prstGeom prst="rect">
            <a:avLst/>
          </a:prstGeom>
          <a:noFill/>
          <a:ln/>
        </p:spPr>
        <p:txBody>
          <a:bodyPr wrap="square" lIns="0" tIns="0" rIns="0" bIns="0" rtlCol="0" anchor="ctr"/>
          <a:lstStyle/>
          <a:p>
            <a:pPr indent="0" marL="0">
              <a:buNone/>
            </a:pPr>
            <a:r>
              <a:rPr lang="en-US" sz="1050" dirty="0">
                <a:solidFill>
                  <a:srgbClr val="8D919C"/>
                </a:solidFill>
                <a:latin typeface="Calibri" pitchFamily="34" charset="0"/>
                <a:ea typeface="Calibri" pitchFamily="34" charset="-122"/>
                <a:cs typeface="Calibri" pitchFamily="34" charset="-120"/>
              </a:rPr>
              <a:t>Attacker</a:t>
            </a:r>
            <a:endParaRPr lang="en-US" sz="1050" dirty="0"/>
          </a:p>
        </p:txBody>
      </p:sp>
      <p:sp>
        <p:nvSpPr>
          <p:cNvPr id="14" name="Text 11"/>
          <p:cNvSpPr txBox="1"/>
          <p:nvPr/>
        </p:nvSpPr>
        <p:spPr>
          <a:xfrm>
            <a:off x="8065008" y="2231136"/>
            <a:ext cx="3383280" cy="274320"/>
          </a:xfrm>
          <a:prstGeom prst="rect">
            <a:avLst/>
          </a:prstGeom>
          <a:noFill/>
          <a:ln/>
        </p:spPr>
        <p:txBody>
          <a:bodyPr wrap="square" lIns="0" tIns="0" rIns="0" bIns="0" rtlCol="0" anchor="ctr"/>
          <a:lstStyle/>
          <a:p>
            <a:pPr indent="0" marL="0">
              <a:buNone/>
            </a:pPr>
            <a:r>
              <a:rPr lang="en-US" sz="1050" b="1" dirty="0">
                <a:solidFill>
                  <a:srgbClr val="ECEDF1"/>
                </a:solidFill>
                <a:latin typeface="Calibri" pitchFamily="34" charset="0"/>
                <a:ea typeface="Calibri" pitchFamily="34" charset="-122"/>
                <a:cs typeface="Calibri" pitchFamily="34" charset="-120"/>
              </a:rPr>
              <a:t>UbuntuVM — existing lab host, via Azure Cloud Shell</a:t>
            </a:r>
            <a:endParaRPr lang="en-US" sz="1050" dirty="0"/>
          </a:p>
        </p:txBody>
      </p:sp>
      <p:sp>
        <p:nvSpPr>
          <p:cNvPr id="15" name="Text 12"/>
          <p:cNvSpPr txBox="1"/>
          <p:nvPr/>
        </p:nvSpPr>
        <p:spPr>
          <a:xfrm>
            <a:off x="6345936" y="2523744"/>
            <a:ext cx="1737360" cy="274320"/>
          </a:xfrm>
          <a:prstGeom prst="rect">
            <a:avLst/>
          </a:prstGeom>
          <a:noFill/>
          <a:ln/>
        </p:spPr>
        <p:txBody>
          <a:bodyPr wrap="square" lIns="0" tIns="0" rIns="0" bIns="0" rtlCol="0" anchor="ctr"/>
          <a:lstStyle/>
          <a:p>
            <a:pPr indent="0" marL="0">
              <a:buNone/>
            </a:pPr>
            <a:r>
              <a:rPr lang="en-US" sz="1050" dirty="0">
                <a:solidFill>
                  <a:srgbClr val="8D919C"/>
                </a:solidFill>
                <a:latin typeface="Calibri" pitchFamily="34" charset="0"/>
                <a:ea typeface="Calibri" pitchFamily="34" charset="-122"/>
                <a:cs typeface="Calibri" pitchFamily="34" charset="-120"/>
              </a:rPr>
              <a:t>Target</a:t>
            </a:r>
            <a:endParaRPr lang="en-US" sz="1050" dirty="0"/>
          </a:p>
        </p:txBody>
      </p:sp>
      <p:sp>
        <p:nvSpPr>
          <p:cNvPr id="16" name="Text 13"/>
          <p:cNvSpPr txBox="1"/>
          <p:nvPr/>
        </p:nvSpPr>
        <p:spPr>
          <a:xfrm>
            <a:off x="8065008" y="2523744"/>
            <a:ext cx="3383280" cy="274320"/>
          </a:xfrm>
          <a:prstGeom prst="rect">
            <a:avLst/>
          </a:prstGeom>
          <a:noFill/>
          <a:ln/>
        </p:spPr>
        <p:txBody>
          <a:bodyPr wrap="square" lIns="0" tIns="0" rIns="0" bIns="0" rtlCol="0" anchor="ctr"/>
          <a:lstStyle/>
          <a:p>
            <a:pPr indent="0" marL="0">
              <a:buNone/>
            </a:pPr>
            <a:r>
              <a:rPr lang="en-US" sz="1050" b="1" dirty="0">
                <a:solidFill>
                  <a:srgbClr val="ECEDF1"/>
                </a:solidFill>
                <a:latin typeface="Calibri" pitchFamily="34" charset="0"/>
                <a:ea typeface="Calibri" pitchFamily="34" charset="-122"/>
                <a:cs typeface="Calibri" pitchFamily="34" charset="-120"/>
              </a:rPr>
              <a:t>TargetUbuntuVM — new VM, password auth enabled</a:t>
            </a:r>
            <a:endParaRPr lang="en-US" sz="1050" dirty="0"/>
          </a:p>
        </p:txBody>
      </p:sp>
      <p:sp>
        <p:nvSpPr>
          <p:cNvPr id="17" name="Text 14"/>
          <p:cNvSpPr txBox="1"/>
          <p:nvPr/>
        </p:nvSpPr>
        <p:spPr>
          <a:xfrm>
            <a:off x="6345936" y="2816352"/>
            <a:ext cx="1737360" cy="274320"/>
          </a:xfrm>
          <a:prstGeom prst="rect">
            <a:avLst/>
          </a:prstGeom>
          <a:noFill/>
          <a:ln/>
        </p:spPr>
        <p:txBody>
          <a:bodyPr wrap="square" lIns="0" tIns="0" rIns="0" bIns="0" rtlCol="0" anchor="ctr"/>
          <a:lstStyle/>
          <a:p>
            <a:pPr indent="0" marL="0">
              <a:buNone/>
            </a:pPr>
            <a:r>
              <a:rPr lang="en-US" sz="1050" dirty="0">
                <a:solidFill>
                  <a:srgbClr val="8D919C"/>
                </a:solidFill>
                <a:latin typeface="Calibri" pitchFamily="34" charset="0"/>
                <a:ea typeface="Calibri" pitchFamily="34" charset="-122"/>
                <a:cs typeface="Calibri" pitchFamily="34" charset="-120"/>
              </a:rPr>
              <a:t>Target public IP</a:t>
            </a:r>
            <a:endParaRPr lang="en-US" sz="1050" dirty="0"/>
          </a:p>
        </p:txBody>
      </p:sp>
      <p:sp>
        <p:nvSpPr>
          <p:cNvPr id="18" name="Text 15"/>
          <p:cNvSpPr txBox="1"/>
          <p:nvPr/>
        </p:nvSpPr>
        <p:spPr>
          <a:xfrm>
            <a:off x="8065008" y="2816352"/>
            <a:ext cx="3383280" cy="274320"/>
          </a:xfrm>
          <a:prstGeom prst="rect">
            <a:avLst/>
          </a:prstGeom>
          <a:noFill/>
          <a:ln/>
        </p:spPr>
        <p:txBody>
          <a:bodyPr wrap="square" lIns="0" tIns="0" rIns="0" bIns="0" rtlCol="0" anchor="ctr"/>
          <a:lstStyle/>
          <a:p>
            <a:pPr indent="0" marL="0">
              <a:buNone/>
            </a:pPr>
            <a:r>
              <a:rPr lang="en-US" sz="1050" b="1" dirty="0">
                <a:solidFill>
                  <a:srgbClr val="ECEDF1"/>
                </a:solidFill>
                <a:latin typeface="Calibri" pitchFamily="34" charset="0"/>
                <a:ea typeface="Calibri" pitchFamily="34" charset="-122"/>
                <a:cs typeface="Calibri" pitchFamily="34" charset="-120"/>
              </a:rPr>
              <a:t>20.81.249.104  ·  East US 2</a:t>
            </a:r>
            <a:endParaRPr lang="en-US" sz="1050" dirty="0"/>
          </a:p>
        </p:txBody>
      </p:sp>
      <p:sp>
        <p:nvSpPr>
          <p:cNvPr id="19" name="Text 16"/>
          <p:cNvSpPr txBox="1"/>
          <p:nvPr/>
        </p:nvSpPr>
        <p:spPr>
          <a:xfrm>
            <a:off x="6345936" y="3108960"/>
            <a:ext cx="1737360" cy="274320"/>
          </a:xfrm>
          <a:prstGeom prst="rect">
            <a:avLst/>
          </a:prstGeom>
          <a:noFill/>
          <a:ln/>
        </p:spPr>
        <p:txBody>
          <a:bodyPr wrap="square" lIns="0" tIns="0" rIns="0" bIns="0" rtlCol="0" anchor="ctr"/>
          <a:lstStyle/>
          <a:p>
            <a:pPr indent="0" marL="0">
              <a:buNone/>
            </a:pPr>
            <a:r>
              <a:rPr lang="en-US" sz="1050" dirty="0">
                <a:solidFill>
                  <a:srgbClr val="8D919C"/>
                </a:solidFill>
                <a:latin typeface="Calibri" pitchFamily="34" charset="0"/>
                <a:ea typeface="Calibri" pitchFamily="34" charset="-122"/>
                <a:cs typeface="Calibri" pitchFamily="34" charset="-120"/>
              </a:rPr>
              <a:t>Tool</a:t>
            </a:r>
            <a:endParaRPr lang="en-US" sz="1050" dirty="0"/>
          </a:p>
        </p:txBody>
      </p:sp>
      <p:sp>
        <p:nvSpPr>
          <p:cNvPr id="20" name="Text 17"/>
          <p:cNvSpPr txBox="1"/>
          <p:nvPr/>
        </p:nvSpPr>
        <p:spPr>
          <a:xfrm>
            <a:off x="8065008" y="3108960"/>
            <a:ext cx="3383280" cy="274320"/>
          </a:xfrm>
          <a:prstGeom prst="rect">
            <a:avLst/>
          </a:prstGeom>
          <a:noFill/>
          <a:ln/>
        </p:spPr>
        <p:txBody>
          <a:bodyPr wrap="square" lIns="0" tIns="0" rIns="0" bIns="0" rtlCol="0" anchor="ctr"/>
          <a:lstStyle/>
          <a:p>
            <a:pPr indent="0" marL="0">
              <a:buNone/>
            </a:pPr>
            <a:r>
              <a:rPr lang="en-US" sz="1050" b="1" dirty="0">
                <a:solidFill>
                  <a:srgbClr val="ECEDF1"/>
                </a:solidFill>
                <a:latin typeface="Calibri" pitchFamily="34" charset="0"/>
                <a:ea typeface="Calibri" pitchFamily="34" charset="-122"/>
                <a:cs typeface="Calibri" pitchFamily="34" charset="-120"/>
              </a:rPr>
              <a:t>Hydra v9.5, parallel SSH login attempts</a:t>
            </a:r>
            <a:endParaRPr lang="en-US" sz="1050" dirty="0"/>
          </a:p>
        </p:txBody>
      </p:sp>
      <p:sp>
        <p:nvSpPr>
          <p:cNvPr id="21" name="Text 18"/>
          <p:cNvSpPr txBox="1"/>
          <p:nvPr/>
        </p:nvSpPr>
        <p:spPr>
          <a:xfrm>
            <a:off x="6345936" y="3401568"/>
            <a:ext cx="1737360" cy="274320"/>
          </a:xfrm>
          <a:prstGeom prst="rect">
            <a:avLst/>
          </a:prstGeom>
          <a:noFill/>
          <a:ln/>
        </p:spPr>
        <p:txBody>
          <a:bodyPr wrap="square" lIns="0" tIns="0" rIns="0" bIns="0" rtlCol="0" anchor="ctr"/>
          <a:lstStyle/>
          <a:p>
            <a:pPr indent="0" marL="0">
              <a:buNone/>
            </a:pPr>
            <a:r>
              <a:rPr lang="en-US" sz="1050" dirty="0">
                <a:solidFill>
                  <a:srgbClr val="8D919C"/>
                </a:solidFill>
                <a:latin typeface="Calibri" pitchFamily="34" charset="0"/>
                <a:ea typeface="Calibri" pitchFamily="34" charset="-122"/>
                <a:cs typeface="Calibri" pitchFamily="34" charset="-120"/>
              </a:rPr>
              <a:t>Exposure</a:t>
            </a:r>
            <a:endParaRPr lang="en-US" sz="1050" dirty="0"/>
          </a:p>
        </p:txBody>
      </p:sp>
      <p:sp>
        <p:nvSpPr>
          <p:cNvPr id="22" name="Text 19"/>
          <p:cNvSpPr txBox="1"/>
          <p:nvPr/>
        </p:nvSpPr>
        <p:spPr>
          <a:xfrm>
            <a:off x="8065008" y="3401568"/>
            <a:ext cx="3383280" cy="274320"/>
          </a:xfrm>
          <a:prstGeom prst="rect">
            <a:avLst/>
          </a:prstGeom>
          <a:noFill/>
          <a:ln/>
        </p:spPr>
        <p:txBody>
          <a:bodyPr wrap="square" lIns="0" tIns="0" rIns="0" bIns="0" rtlCol="0" anchor="ctr"/>
          <a:lstStyle/>
          <a:p>
            <a:pPr indent="0" marL="0">
              <a:buNone/>
            </a:pPr>
            <a:r>
              <a:rPr lang="en-US" sz="1050" b="1" dirty="0">
                <a:solidFill>
                  <a:srgbClr val="ECEDF1"/>
                </a:solidFill>
                <a:latin typeface="Calibri" pitchFamily="34" charset="0"/>
                <a:ea typeface="Calibri" pitchFamily="34" charset="-122"/>
                <a:cs typeface="Calibri" pitchFamily="34" charset="-120"/>
              </a:rPr>
              <a:t>NSG rule UserRule_SSH allows port 22 inbound</a:t>
            </a:r>
            <a:endParaRPr lang="en-US" sz="1050" dirty="0"/>
          </a:p>
        </p:txBody>
      </p:sp>
      <p:sp>
        <p:nvSpPr>
          <p:cNvPr id="23" name="Shape 20"/>
          <p:cNvSpPr/>
          <p:nvPr/>
        </p:nvSpPr>
        <p:spPr>
          <a:xfrm>
            <a:off x="566928" y="4005072"/>
            <a:ext cx="3566160" cy="2011680"/>
          </a:xfrm>
          <a:prstGeom prst="roundRect">
            <a:avLst>
              <a:gd name="adj" fmla="val 4545"/>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4" name="Shape 21"/>
          <p:cNvSpPr/>
          <p:nvPr/>
        </p:nvSpPr>
        <p:spPr>
          <a:xfrm>
            <a:off x="859536" y="4279392"/>
            <a:ext cx="512064" cy="512064"/>
          </a:xfrm>
          <a:prstGeom prst="ellipse">
            <a:avLst/>
          </a:prstGeom>
          <a:solidFill>
            <a:srgbClr val="F97316"/>
          </a:solidFill>
          <a:ln w="12700">
            <a:solidFill>
              <a:srgbClr val="F97316"/>
            </a:solidFill>
            <a:prstDash val="solid"/>
          </a:ln>
        </p:spPr>
      </p:sp>
      <p:pic>
        <p:nvPicPr>
          <p:cNvPr id="25" name="Image 1" descr="icons/server-w.png">    </p:cNvPr>
          <p:cNvPicPr>
            <a:picLocks noChangeAspect="1"/>
          </p:cNvPicPr>
          <p:nvPr/>
        </p:nvPicPr>
        <p:blipFill>
          <a:blip r:embed="rId2"/>
          <a:stretch>
            <a:fillRect/>
          </a:stretch>
        </p:blipFill>
        <p:spPr>
          <a:xfrm>
            <a:off x="984992" y="4404848"/>
            <a:ext cx="261153" cy="261153"/>
          </a:xfrm>
          <a:prstGeom prst="rect">
            <a:avLst/>
          </a:prstGeom>
        </p:spPr>
      </p:pic>
      <p:sp>
        <p:nvSpPr>
          <p:cNvPr id="26" name="Text 22"/>
          <p:cNvSpPr txBox="1"/>
          <p:nvPr/>
        </p:nvSpPr>
        <p:spPr>
          <a:xfrm>
            <a:off x="859536" y="4901184"/>
            <a:ext cx="301752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Create the target</a:t>
            </a:r>
            <a:endParaRPr lang="en-US" sz="1350" dirty="0"/>
          </a:p>
        </p:txBody>
      </p:sp>
      <p:sp>
        <p:nvSpPr>
          <p:cNvPr id="27" name="Text 23"/>
          <p:cNvSpPr txBox="1"/>
          <p:nvPr/>
        </p:nvSpPr>
        <p:spPr>
          <a:xfrm>
            <a:off x="859536" y="5248656"/>
            <a:ext cx="2999232" cy="731520"/>
          </a:xfrm>
          <a:prstGeom prst="rect">
            <a:avLst/>
          </a:prstGeom>
          <a:noFill/>
          <a:ln/>
        </p:spPr>
        <p:txBody>
          <a:bodyPr wrap="square" lIns="0" tIns="0" rIns="0" bIns="0" rtlCol="0" anchor="t"/>
          <a:lstStyle/>
          <a:p>
            <a:pPr algn="l" indent="0" marL="0">
              <a:lnSpc>
                <a:spcPts val="1600"/>
              </a:lnSpc>
              <a:buNone/>
            </a:pPr>
            <a:r>
              <a:rPr lang="en-US" sz="1150" dirty="0">
                <a:solidFill>
                  <a:srgbClr val="AFB4BF"/>
                </a:solidFill>
                <a:latin typeface="Calibri" pitchFamily="34" charset="0"/>
                <a:ea typeface="Calibri" pitchFamily="34" charset="-122"/>
                <a:cs typeface="Calibri" pitchFamily="34" charset="-120"/>
              </a:rPr>
              <a:t>Deploy TargetUbuntuVM with a username and password set, since a brute force needs credentials to guess.</a:t>
            </a:r>
            <a:endParaRPr lang="en-US" sz="1150" dirty="0"/>
          </a:p>
        </p:txBody>
      </p:sp>
      <p:sp>
        <p:nvSpPr>
          <p:cNvPr id="28" name="Shape 24"/>
          <p:cNvSpPr/>
          <p:nvPr/>
        </p:nvSpPr>
        <p:spPr>
          <a:xfrm>
            <a:off x="4306824" y="4005072"/>
            <a:ext cx="3566160" cy="2011680"/>
          </a:xfrm>
          <a:prstGeom prst="roundRect">
            <a:avLst>
              <a:gd name="adj" fmla="val 4545"/>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9" name="Shape 25"/>
          <p:cNvSpPr/>
          <p:nvPr/>
        </p:nvSpPr>
        <p:spPr>
          <a:xfrm>
            <a:off x="4599432" y="4279392"/>
            <a:ext cx="512064" cy="512064"/>
          </a:xfrm>
          <a:prstGeom prst="ellipse">
            <a:avLst/>
          </a:prstGeom>
          <a:solidFill>
            <a:srgbClr val="7A3B0B"/>
          </a:solidFill>
          <a:ln w="12700">
            <a:solidFill>
              <a:srgbClr val="7A3B0B"/>
            </a:solidFill>
            <a:prstDash val="solid"/>
          </a:ln>
        </p:spPr>
      </p:sp>
      <p:pic>
        <p:nvPicPr>
          <p:cNvPr id="30" name="Image 2" descr="icons/terminal-w.png">    </p:cNvPr>
          <p:cNvPicPr>
            <a:picLocks noChangeAspect="1"/>
          </p:cNvPicPr>
          <p:nvPr/>
        </p:nvPicPr>
        <p:blipFill>
          <a:blip r:embed="rId3"/>
          <a:stretch>
            <a:fillRect/>
          </a:stretch>
        </p:blipFill>
        <p:spPr>
          <a:xfrm>
            <a:off x="4724888" y="4404848"/>
            <a:ext cx="261153" cy="261153"/>
          </a:xfrm>
          <a:prstGeom prst="rect">
            <a:avLst/>
          </a:prstGeom>
        </p:spPr>
      </p:pic>
      <p:sp>
        <p:nvSpPr>
          <p:cNvPr id="31" name="Text 26"/>
          <p:cNvSpPr txBox="1"/>
          <p:nvPr/>
        </p:nvSpPr>
        <p:spPr>
          <a:xfrm>
            <a:off x="4599432" y="4901184"/>
            <a:ext cx="301752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Connect to attacker</a:t>
            </a:r>
            <a:endParaRPr lang="en-US" sz="1350" dirty="0"/>
          </a:p>
        </p:txBody>
      </p:sp>
      <p:sp>
        <p:nvSpPr>
          <p:cNvPr id="32" name="Text 27"/>
          <p:cNvSpPr txBox="1"/>
          <p:nvPr/>
        </p:nvSpPr>
        <p:spPr>
          <a:xfrm>
            <a:off x="4599432" y="5248656"/>
            <a:ext cx="2999232" cy="731520"/>
          </a:xfrm>
          <a:prstGeom prst="rect">
            <a:avLst/>
          </a:prstGeom>
          <a:noFill/>
          <a:ln/>
        </p:spPr>
        <p:txBody>
          <a:bodyPr wrap="square" lIns="0" tIns="0" rIns="0" bIns="0" rtlCol="0" anchor="t"/>
          <a:lstStyle/>
          <a:p>
            <a:pPr algn="l" indent="0" marL="0">
              <a:lnSpc>
                <a:spcPts val="1600"/>
              </a:lnSpc>
              <a:buNone/>
            </a:pPr>
            <a:r>
              <a:rPr lang="en-US" sz="1150" dirty="0">
                <a:solidFill>
                  <a:srgbClr val="AFB4BF"/>
                </a:solidFill>
                <a:latin typeface="Calibri" pitchFamily="34" charset="0"/>
                <a:ea typeface="Calibri" pitchFamily="34" charset="-122"/>
                <a:cs typeface="Calibri" pitchFamily="34" charset="-120"/>
              </a:rPr>
              <a:t>Use SSH via Azure CLI to reach the source UbuntuVM and open a Cloud Shell session.</a:t>
            </a:r>
            <a:endParaRPr lang="en-US" sz="1150" dirty="0"/>
          </a:p>
        </p:txBody>
      </p:sp>
      <p:sp>
        <p:nvSpPr>
          <p:cNvPr id="33" name="Shape 28"/>
          <p:cNvSpPr/>
          <p:nvPr/>
        </p:nvSpPr>
        <p:spPr>
          <a:xfrm>
            <a:off x="8046720" y="4005072"/>
            <a:ext cx="3566160" cy="2011680"/>
          </a:xfrm>
          <a:prstGeom prst="roundRect">
            <a:avLst>
              <a:gd name="adj" fmla="val 4545"/>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34" name="Shape 29"/>
          <p:cNvSpPr/>
          <p:nvPr/>
        </p:nvSpPr>
        <p:spPr>
          <a:xfrm>
            <a:off x="8339328" y="4279392"/>
            <a:ext cx="512064" cy="512064"/>
          </a:xfrm>
          <a:prstGeom prst="ellipse">
            <a:avLst/>
          </a:prstGeom>
          <a:solidFill>
            <a:srgbClr val="F97316"/>
          </a:solidFill>
          <a:ln w="12700">
            <a:solidFill>
              <a:srgbClr val="F97316"/>
            </a:solidFill>
            <a:prstDash val="solid"/>
          </a:ln>
        </p:spPr>
      </p:sp>
      <p:pic>
        <p:nvPicPr>
          <p:cNvPr id="35" name="Image 3" descr="icons/key-w.png">    </p:cNvPr>
          <p:cNvPicPr>
            <a:picLocks noChangeAspect="1"/>
          </p:cNvPicPr>
          <p:nvPr/>
        </p:nvPicPr>
        <p:blipFill>
          <a:blip r:embed="rId4"/>
          <a:stretch>
            <a:fillRect/>
          </a:stretch>
        </p:blipFill>
        <p:spPr>
          <a:xfrm>
            <a:off x="8464784" y="4404848"/>
            <a:ext cx="261153" cy="261153"/>
          </a:xfrm>
          <a:prstGeom prst="rect">
            <a:avLst/>
          </a:prstGeom>
        </p:spPr>
      </p:pic>
      <p:sp>
        <p:nvSpPr>
          <p:cNvPr id="36" name="Text 30"/>
          <p:cNvSpPr txBox="1"/>
          <p:nvPr/>
        </p:nvSpPr>
        <p:spPr>
          <a:xfrm>
            <a:off x="8339328" y="4901184"/>
            <a:ext cx="3017520"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Prepare wordlists</a:t>
            </a:r>
            <a:endParaRPr lang="en-US" sz="1350" dirty="0"/>
          </a:p>
        </p:txBody>
      </p:sp>
      <p:sp>
        <p:nvSpPr>
          <p:cNvPr id="37" name="Text 31"/>
          <p:cNvSpPr txBox="1"/>
          <p:nvPr/>
        </p:nvSpPr>
        <p:spPr>
          <a:xfrm>
            <a:off x="8339328" y="5248656"/>
            <a:ext cx="2999232" cy="731520"/>
          </a:xfrm>
          <a:prstGeom prst="rect">
            <a:avLst/>
          </a:prstGeom>
          <a:noFill/>
          <a:ln/>
        </p:spPr>
        <p:txBody>
          <a:bodyPr wrap="square" lIns="0" tIns="0" rIns="0" bIns="0" rtlCol="0" anchor="t"/>
          <a:lstStyle/>
          <a:p>
            <a:pPr algn="l" indent="0" marL="0">
              <a:lnSpc>
                <a:spcPts val="1600"/>
              </a:lnSpc>
              <a:buNone/>
            </a:pPr>
            <a:r>
              <a:rPr lang="en-US" sz="1150" dirty="0">
                <a:solidFill>
                  <a:srgbClr val="AFB4BF"/>
                </a:solidFill>
                <a:latin typeface="Calibri" pitchFamily="34" charset="0"/>
                <a:ea typeface="Calibri" pitchFamily="34" charset="-122"/>
                <a:cs typeface="Calibri" pitchFamily="34" charset="-120"/>
              </a:rPr>
              <a:t>Build UsernameList and PasswordList files holding candidate credential combinations.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ATTACK SIMULATION</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Reaching the target: SSH, NSG and prerequisites</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481328"/>
            <a:ext cx="6583680" cy="4059936"/>
          </a:xfrm>
          <a:prstGeom prst="roundRect">
            <a:avLst>
              <a:gd name="adj" fmla="val 2027"/>
            </a:avLst>
          </a:prstGeom>
          <a:solidFill>
            <a:srgbClr val="1B1E24"/>
          </a:solidFill>
          <a:ln w="11430">
            <a:solidFill>
              <a:srgbClr val="3A3F4A"/>
            </a:solidFill>
            <a:prstDash val="solid"/>
          </a:ln>
          <a:effectLst>
            <a:outerShdw sx="100000" sy="100000" kx="0" ky="0" algn="bl" rotWithShape="0" blurRad="228600" dist="38100" dir="5400000">
              <a:srgbClr val="000000">
                <a:alpha val="34000"/>
              </a:srgbClr>
            </a:outerShdw>
          </a:effectLst>
        </p:spPr>
      </p:sp>
      <p:pic>
        <p:nvPicPr>
          <p:cNvPr id="7" name="Image 0" descr="img/image10.png">    </p:cNvPr>
          <p:cNvPicPr>
            <a:picLocks noChangeAspect="1"/>
          </p:cNvPicPr>
          <p:nvPr/>
        </p:nvPicPr>
        <p:blipFill>
          <a:blip r:embed="rId1"/>
          <a:stretch>
            <a:fillRect/>
          </a:stretch>
        </p:blipFill>
        <p:spPr>
          <a:xfrm>
            <a:off x="658368" y="1572768"/>
            <a:ext cx="6400800" cy="3877056"/>
          </a:xfrm>
          <a:prstGeom prst="rect">
            <a:avLst/>
          </a:prstGeom>
        </p:spPr>
      </p:pic>
      <p:sp>
        <p:nvSpPr>
          <p:cNvPr id="8" name="Text 5"/>
          <p:cNvSpPr txBox="1"/>
          <p:nvPr/>
        </p:nvSpPr>
        <p:spPr>
          <a:xfrm>
            <a:off x="658368" y="5559552"/>
            <a:ext cx="6583680" cy="237744"/>
          </a:xfrm>
          <a:prstGeom prst="rect">
            <a:avLst/>
          </a:prstGeom>
          <a:noFill/>
          <a:ln/>
        </p:spPr>
        <p:txBody>
          <a:bodyPr wrap="square" lIns="0" tIns="0" rIns="0" bIns="0" rtlCol="0" anchor="ctr"/>
          <a:lstStyle/>
          <a:p>
            <a:pPr indent="0" marL="0">
              <a:buNone/>
            </a:pPr>
            <a:r>
              <a:rPr lang="en-US" sz="950" i="1" dirty="0">
                <a:solidFill>
                  <a:srgbClr val="8D919C"/>
                </a:solidFill>
                <a:latin typeface="Calibri" pitchFamily="34" charset="0"/>
                <a:ea typeface="Calibri" pitchFamily="34" charset="-122"/>
                <a:cs typeface="Calibri" pitchFamily="34" charset="-120"/>
              </a:rPr>
              <a:t>Figure 8 — UbuntuVM Connect blade: destination, port 22 and the SSH-via-CLI option</a:t>
            </a:r>
            <a:endParaRPr lang="en-US" sz="950" dirty="0"/>
          </a:p>
        </p:txBody>
      </p:sp>
      <p:sp>
        <p:nvSpPr>
          <p:cNvPr id="9" name="Shape 6"/>
          <p:cNvSpPr/>
          <p:nvPr/>
        </p:nvSpPr>
        <p:spPr>
          <a:xfrm>
            <a:off x="7424928" y="1572768"/>
            <a:ext cx="4197096" cy="1207008"/>
          </a:xfrm>
          <a:prstGeom prst="roundRect">
            <a:avLst>
              <a:gd name="adj" fmla="val 7576"/>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0" name="Shape 7"/>
          <p:cNvSpPr/>
          <p:nvPr/>
        </p:nvSpPr>
        <p:spPr>
          <a:xfrm>
            <a:off x="7662672" y="1810512"/>
            <a:ext cx="493776" cy="493776"/>
          </a:xfrm>
          <a:prstGeom prst="ellipse">
            <a:avLst/>
          </a:prstGeom>
          <a:solidFill>
            <a:srgbClr val="F97316"/>
          </a:solidFill>
          <a:ln w="12700">
            <a:solidFill>
              <a:srgbClr val="F97316"/>
            </a:solidFill>
            <a:prstDash val="solid"/>
          </a:ln>
        </p:spPr>
      </p:sp>
      <p:pic>
        <p:nvPicPr>
          <p:cNvPr id="11" name="Image 1" descr="icons/check-w.png">    </p:cNvPr>
          <p:cNvPicPr>
            <a:picLocks noChangeAspect="1"/>
          </p:cNvPicPr>
          <p:nvPr/>
        </p:nvPicPr>
        <p:blipFill>
          <a:blip r:embed="rId2"/>
          <a:stretch>
            <a:fillRect/>
          </a:stretch>
        </p:blipFill>
        <p:spPr>
          <a:xfrm>
            <a:off x="7783647" y="1931487"/>
            <a:ext cx="251826" cy="251826"/>
          </a:xfrm>
          <a:prstGeom prst="rect">
            <a:avLst/>
          </a:prstGeom>
        </p:spPr>
      </p:pic>
      <p:sp>
        <p:nvSpPr>
          <p:cNvPr id="12" name="Text 8"/>
          <p:cNvSpPr txBox="1"/>
          <p:nvPr/>
        </p:nvSpPr>
        <p:spPr>
          <a:xfrm>
            <a:off x="8284464" y="1755648"/>
            <a:ext cx="3099816"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Port 22 reachable</a:t>
            </a:r>
            <a:endParaRPr lang="en-US" sz="1300" dirty="0"/>
          </a:p>
        </p:txBody>
      </p:sp>
      <p:sp>
        <p:nvSpPr>
          <p:cNvPr id="13" name="Text 9"/>
          <p:cNvSpPr txBox="1"/>
          <p:nvPr/>
        </p:nvSpPr>
        <p:spPr>
          <a:xfrm>
            <a:off x="8284464" y="2048256"/>
            <a:ext cx="3099816" cy="658368"/>
          </a:xfrm>
          <a:prstGeom prst="rect">
            <a:avLst/>
          </a:prstGeom>
          <a:noFill/>
          <a:ln/>
        </p:spPr>
        <p:txBody>
          <a:bodyPr wrap="square" lIns="0" tIns="0" rIns="0" bIns="0" rtlCol="0" anchor="t"/>
          <a:lstStyle/>
          <a:p>
            <a:pPr algn="l" indent="0" marL="0">
              <a:lnSpc>
                <a:spcPts val="1450"/>
              </a:lnSpc>
              <a:buNone/>
            </a:pPr>
            <a:r>
              <a:rPr lang="en-US" sz="1050" dirty="0">
                <a:solidFill>
                  <a:srgbClr val="AFB4BF"/>
                </a:solidFill>
                <a:latin typeface="Calibri" pitchFamily="34" charset="0"/>
                <a:ea typeface="Calibri" pitchFamily="34" charset="-122"/>
                <a:cs typeface="Calibri" pitchFamily="34" charset="-120"/>
              </a:rPr>
              <a:t>The Connect blade confirms port 22 is accessible from the source IP before any attempt is made.</a:t>
            </a:r>
            <a:endParaRPr lang="en-US" sz="1050" dirty="0"/>
          </a:p>
        </p:txBody>
      </p:sp>
      <p:sp>
        <p:nvSpPr>
          <p:cNvPr id="14" name="Shape 10"/>
          <p:cNvSpPr/>
          <p:nvPr/>
        </p:nvSpPr>
        <p:spPr>
          <a:xfrm>
            <a:off x="7424928" y="2907792"/>
            <a:ext cx="4197096" cy="1207008"/>
          </a:xfrm>
          <a:prstGeom prst="roundRect">
            <a:avLst>
              <a:gd name="adj" fmla="val 7576"/>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5" name="Shape 11"/>
          <p:cNvSpPr/>
          <p:nvPr/>
        </p:nvSpPr>
        <p:spPr>
          <a:xfrm>
            <a:off x="7662672" y="3145536"/>
            <a:ext cx="493776" cy="493776"/>
          </a:xfrm>
          <a:prstGeom prst="ellipse">
            <a:avLst/>
          </a:prstGeom>
          <a:solidFill>
            <a:srgbClr val="7A3B0B"/>
          </a:solidFill>
          <a:ln w="12700">
            <a:solidFill>
              <a:srgbClr val="7A3B0B"/>
            </a:solidFill>
            <a:prstDash val="solid"/>
          </a:ln>
        </p:spPr>
      </p:sp>
      <p:pic>
        <p:nvPicPr>
          <p:cNvPr id="16" name="Image 2" descr="icons/shield-w.png">    </p:cNvPr>
          <p:cNvPicPr>
            <a:picLocks noChangeAspect="1"/>
          </p:cNvPicPr>
          <p:nvPr/>
        </p:nvPicPr>
        <p:blipFill>
          <a:blip r:embed="rId3"/>
          <a:stretch>
            <a:fillRect/>
          </a:stretch>
        </p:blipFill>
        <p:spPr>
          <a:xfrm>
            <a:off x="7783647" y="3266511"/>
            <a:ext cx="251826" cy="251826"/>
          </a:xfrm>
          <a:prstGeom prst="rect">
            <a:avLst/>
          </a:prstGeom>
        </p:spPr>
      </p:pic>
      <p:sp>
        <p:nvSpPr>
          <p:cNvPr id="17" name="Text 12"/>
          <p:cNvSpPr txBox="1"/>
          <p:nvPr/>
        </p:nvSpPr>
        <p:spPr>
          <a:xfrm>
            <a:off x="8284464" y="3090672"/>
            <a:ext cx="3099816"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NSG rule in place</a:t>
            </a:r>
            <a:endParaRPr lang="en-US" sz="1300" dirty="0"/>
          </a:p>
        </p:txBody>
      </p:sp>
      <p:sp>
        <p:nvSpPr>
          <p:cNvPr id="18" name="Text 13"/>
          <p:cNvSpPr txBox="1"/>
          <p:nvPr/>
        </p:nvSpPr>
        <p:spPr>
          <a:xfrm>
            <a:off x="8284464" y="3383280"/>
            <a:ext cx="3099816" cy="658368"/>
          </a:xfrm>
          <a:prstGeom prst="rect">
            <a:avLst/>
          </a:prstGeom>
          <a:noFill/>
          <a:ln/>
        </p:spPr>
        <p:txBody>
          <a:bodyPr wrap="square" lIns="0" tIns="0" rIns="0" bIns="0" rtlCol="0" anchor="t"/>
          <a:lstStyle/>
          <a:p>
            <a:pPr algn="l" indent="0" marL="0">
              <a:lnSpc>
                <a:spcPts val="1450"/>
              </a:lnSpc>
              <a:buNone/>
            </a:pPr>
            <a:r>
              <a:rPr lang="en-US" sz="1050" dirty="0">
                <a:solidFill>
                  <a:srgbClr val="AFB4BF"/>
                </a:solidFill>
                <a:latin typeface="Calibri" pitchFamily="34" charset="0"/>
                <a:ea typeface="Calibri" pitchFamily="34" charset="-122"/>
                <a:cs typeface="Calibri" pitchFamily="34" charset="-120"/>
              </a:rPr>
              <a:t>NSG diagnostics show UserRule_SSH on UbuntuVM-nsg explicitly allowing SSH traffic to the interface.</a:t>
            </a:r>
            <a:endParaRPr lang="en-US" sz="1050" dirty="0"/>
          </a:p>
        </p:txBody>
      </p:sp>
      <p:sp>
        <p:nvSpPr>
          <p:cNvPr id="19" name="Shape 14"/>
          <p:cNvSpPr/>
          <p:nvPr/>
        </p:nvSpPr>
        <p:spPr>
          <a:xfrm>
            <a:off x="7424928" y="4242816"/>
            <a:ext cx="4197096" cy="1207008"/>
          </a:xfrm>
          <a:prstGeom prst="roundRect">
            <a:avLst>
              <a:gd name="adj" fmla="val 7576"/>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0" name="Shape 15"/>
          <p:cNvSpPr/>
          <p:nvPr/>
        </p:nvSpPr>
        <p:spPr>
          <a:xfrm>
            <a:off x="7662672" y="4480560"/>
            <a:ext cx="493776" cy="493776"/>
          </a:xfrm>
          <a:prstGeom prst="ellipse">
            <a:avLst/>
          </a:prstGeom>
          <a:solidFill>
            <a:srgbClr val="F97316"/>
          </a:solidFill>
          <a:ln w="12700">
            <a:solidFill>
              <a:srgbClr val="F97316"/>
            </a:solidFill>
            <a:prstDash val="solid"/>
          </a:ln>
        </p:spPr>
      </p:sp>
      <p:pic>
        <p:nvPicPr>
          <p:cNvPr id="21" name="Image 3" descr="icons/key-w.png">    </p:cNvPr>
          <p:cNvPicPr>
            <a:picLocks noChangeAspect="1"/>
          </p:cNvPicPr>
          <p:nvPr/>
        </p:nvPicPr>
        <p:blipFill>
          <a:blip r:embed="rId4"/>
          <a:stretch>
            <a:fillRect/>
          </a:stretch>
        </p:blipFill>
        <p:spPr>
          <a:xfrm>
            <a:off x="7783647" y="4601535"/>
            <a:ext cx="251826" cy="251826"/>
          </a:xfrm>
          <a:prstGeom prst="rect">
            <a:avLst/>
          </a:prstGeom>
        </p:spPr>
      </p:pic>
      <p:sp>
        <p:nvSpPr>
          <p:cNvPr id="22" name="Text 16"/>
          <p:cNvSpPr txBox="1"/>
          <p:nvPr/>
        </p:nvSpPr>
        <p:spPr>
          <a:xfrm>
            <a:off x="8284464" y="4425696"/>
            <a:ext cx="3099816"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Connect via Cloud Shell</a:t>
            </a:r>
            <a:endParaRPr lang="en-US" sz="1300" dirty="0"/>
          </a:p>
        </p:txBody>
      </p:sp>
      <p:sp>
        <p:nvSpPr>
          <p:cNvPr id="23" name="Text 17"/>
          <p:cNvSpPr txBox="1"/>
          <p:nvPr/>
        </p:nvSpPr>
        <p:spPr>
          <a:xfrm>
            <a:off x="8284464" y="4718304"/>
            <a:ext cx="3099816" cy="658368"/>
          </a:xfrm>
          <a:prstGeom prst="rect">
            <a:avLst/>
          </a:prstGeom>
          <a:noFill/>
          <a:ln/>
        </p:spPr>
        <p:txBody>
          <a:bodyPr wrap="square" lIns="0" tIns="0" rIns="0" bIns="0" rtlCol="0" anchor="t"/>
          <a:lstStyle/>
          <a:p>
            <a:pPr algn="l" indent="0" marL="0">
              <a:lnSpc>
                <a:spcPts val="1450"/>
              </a:lnSpc>
              <a:buNone/>
            </a:pPr>
            <a:r>
              <a:rPr lang="en-US" sz="1050" dirty="0">
                <a:solidFill>
                  <a:srgbClr val="AFB4BF"/>
                </a:solidFill>
                <a:latin typeface="Calibri" pitchFamily="34" charset="0"/>
                <a:ea typeface="Calibri" pitchFamily="34" charset="-122"/>
                <a:cs typeface="Calibri" pitchFamily="34" charset="-120"/>
              </a:rPr>
              <a:t>Entra ID SSH extension and a system-assigned managed identity are configured, so Cloud Shell connects with no private key.</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ATTACK SIMULATION</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Launching the Hydra brute force</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Text 4"/>
          <p:cNvSpPr txBox="1"/>
          <p:nvPr/>
        </p:nvSpPr>
        <p:spPr>
          <a:xfrm>
            <a:off x="566928" y="1481328"/>
            <a:ext cx="4572000" cy="219456"/>
          </a:xfrm>
          <a:prstGeom prst="rect">
            <a:avLst/>
          </a:prstGeom>
          <a:noFill/>
          <a:ln/>
        </p:spPr>
        <p:txBody>
          <a:bodyPr wrap="square" lIns="0" tIns="0" rIns="0" bIns="0" rtlCol="0" anchor="ctr"/>
          <a:lstStyle/>
          <a:p>
            <a:pPr indent="0" marL="0">
              <a:buNone/>
            </a:pPr>
            <a:r>
              <a:rPr lang="en-US" sz="950" b="1" spc="180" kern="0" dirty="0">
                <a:solidFill>
                  <a:srgbClr val="8D919C"/>
                </a:solidFill>
                <a:latin typeface="Calibri" pitchFamily="34" charset="0"/>
                <a:ea typeface="Calibri" pitchFamily="34" charset="-122"/>
                <a:cs typeface="Calibri" pitchFamily="34" charset="-120"/>
              </a:rPr>
              <a:t>PREPARATION</a:t>
            </a:r>
            <a:endParaRPr lang="en-US" sz="950" dirty="0"/>
          </a:p>
        </p:txBody>
      </p:sp>
      <p:sp>
        <p:nvSpPr>
          <p:cNvPr id="7" name="Shape 5"/>
          <p:cNvSpPr/>
          <p:nvPr/>
        </p:nvSpPr>
        <p:spPr>
          <a:xfrm>
            <a:off x="566928" y="1719072"/>
            <a:ext cx="3017520" cy="996696"/>
          </a:xfrm>
          <a:prstGeom prst="roundRect">
            <a:avLst>
              <a:gd name="adj" fmla="val 8257"/>
            </a:avLst>
          </a:prstGeom>
          <a:solidFill>
            <a:srgbClr val="1B1E24"/>
          </a:solidFill>
          <a:ln w="11430">
            <a:solidFill>
              <a:srgbClr val="3A3F4A"/>
            </a:solidFill>
            <a:prstDash val="solid"/>
          </a:ln>
          <a:effectLst>
            <a:outerShdw sx="100000" sy="100000" kx="0" ky="0" algn="bl" rotWithShape="0" blurRad="228600" dist="38100" dir="5400000">
              <a:srgbClr val="000000">
                <a:alpha val="34000"/>
              </a:srgbClr>
            </a:outerShdw>
          </a:effectLst>
        </p:spPr>
      </p:sp>
      <p:pic>
        <p:nvPicPr>
          <p:cNvPr id="8" name="Image 0" descr="img/image13.png">    </p:cNvPr>
          <p:cNvPicPr>
            <a:picLocks noChangeAspect="1"/>
          </p:cNvPicPr>
          <p:nvPr/>
        </p:nvPicPr>
        <p:blipFill>
          <a:blip r:embed="rId1"/>
          <a:stretch>
            <a:fillRect/>
          </a:stretch>
        </p:blipFill>
        <p:spPr>
          <a:xfrm>
            <a:off x="658368" y="1810512"/>
            <a:ext cx="2834640" cy="813816"/>
          </a:xfrm>
          <a:prstGeom prst="rect">
            <a:avLst/>
          </a:prstGeom>
        </p:spPr>
      </p:pic>
      <p:sp>
        <p:nvSpPr>
          <p:cNvPr id="9" name="Text 6"/>
          <p:cNvSpPr txBox="1"/>
          <p:nvPr/>
        </p:nvSpPr>
        <p:spPr>
          <a:xfrm>
            <a:off x="3712464" y="1847088"/>
            <a:ext cx="2651760" cy="822960"/>
          </a:xfrm>
          <a:prstGeom prst="rect">
            <a:avLst/>
          </a:prstGeom>
          <a:noFill/>
          <a:ln/>
        </p:spPr>
        <p:txBody>
          <a:bodyPr wrap="square" lIns="0" tIns="0" rIns="0" bIns="0" rtlCol="0" anchor="ctr"/>
          <a:lstStyle/>
          <a:p>
            <a:pPr indent="0" marL="0">
              <a:lnSpc>
                <a:spcPts val="1500"/>
              </a:lnSpc>
              <a:buNone/>
            </a:pPr>
            <a:r>
              <a:rPr lang="en-US" sz="1100" dirty="0">
                <a:solidFill>
                  <a:srgbClr val="AFB4BF"/>
                </a:solidFill>
                <a:latin typeface="Calibri" pitchFamily="34" charset="0"/>
                <a:ea typeface="Calibri" pitchFamily="34" charset="-122"/>
                <a:cs typeface="Calibri" pitchFamily="34" charset="-120"/>
              </a:rPr>
              <a:t>Wordlists staged in Cloud Shell: UsernameList + PasswordList</a:t>
            </a:r>
            <a:endParaRPr lang="en-US" sz="1100" dirty="0"/>
          </a:p>
        </p:txBody>
      </p:sp>
      <p:sp>
        <p:nvSpPr>
          <p:cNvPr id="10" name="Shape 7"/>
          <p:cNvSpPr/>
          <p:nvPr/>
        </p:nvSpPr>
        <p:spPr>
          <a:xfrm>
            <a:off x="566928" y="2889504"/>
            <a:ext cx="5815584" cy="1060704"/>
          </a:xfrm>
          <a:prstGeom prst="roundRect">
            <a:avLst>
              <a:gd name="adj" fmla="val 6897"/>
            </a:avLst>
          </a:prstGeom>
          <a:solidFill>
            <a:srgbClr val="101217"/>
          </a:solidFill>
          <a:ln w="9525">
            <a:solidFill>
              <a:srgbClr val="5C3512"/>
            </a:solidFill>
            <a:prstDash val="solid"/>
          </a:ln>
        </p:spPr>
      </p:sp>
      <p:sp>
        <p:nvSpPr>
          <p:cNvPr id="11" name="Text 8"/>
          <p:cNvSpPr txBox="1"/>
          <p:nvPr/>
        </p:nvSpPr>
        <p:spPr>
          <a:xfrm>
            <a:off x="804672" y="2889504"/>
            <a:ext cx="5486400" cy="1060704"/>
          </a:xfrm>
          <a:prstGeom prst="rect">
            <a:avLst/>
          </a:prstGeom>
          <a:noFill/>
          <a:ln/>
        </p:spPr>
        <p:txBody>
          <a:bodyPr wrap="square" lIns="0" tIns="0" rIns="0" bIns="0" rtlCol="0" anchor="ctr"/>
          <a:lstStyle/>
          <a:p>
            <a:pPr indent="0" marL="0">
              <a:lnSpc>
                <a:spcPts val="1600"/>
              </a:lnSpc>
              <a:buNone/>
            </a:pPr>
            <a:r>
              <a:rPr lang="en-US" sz="1150" dirty="0">
                <a:solidFill>
                  <a:srgbClr val="9BE7B4"/>
                </a:solidFill>
                <a:latin typeface="Courier New" pitchFamily="34" charset="0"/>
                <a:ea typeface="Courier New" pitchFamily="34" charset="-122"/>
                <a:cs typeface="Courier New" pitchFamily="34" charset="-120"/>
              </a:rPr>
              <a:t>$ sudo apt update &amp;&amp; sudo apt upgrade
</a:t>
            </a:r>
            <a:pPr indent="0" marL="0">
              <a:lnSpc>
                <a:spcPts val="1600"/>
              </a:lnSpc>
              <a:buNone/>
            </a:pPr>
            <a:r>
              <a:rPr lang="en-US" sz="1150" dirty="0">
                <a:solidFill>
                  <a:srgbClr val="9BE7B4"/>
                </a:solidFill>
                <a:latin typeface="Courier New" pitchFamily="34" charset="0"/>
                <a:ea typeface="Courier New" pitchFamily="34" charset="-122"/>
                <a:cs typeface="Courier New" pitchFamily="34" charset="-120"/>
              </a:rPr>
              <a:t>$ sudo apt install hydra
</a:t>
            </a:r>
            <a:pPr indent="0" marL="0">
              <a:lnSpc>
                <a:spcPts val="1600"/>
              </a:lnSpc>
              <a:buNone/>
            </a:pPr>
            <a:r>
              <a:rPr lang="en-US" sz="1150" dirty="0">
                <a:solidFill>
                  <a:srgbClr val="FFA94D"/>
                </a:solidFill>
                <a:latin typeface="Courier New" pitchFamily="34" charset="0"/>
                <a:ea typeface="Courier New" pitchFamily="34" charset="-122"/>
                <a:cs typeface="Courier New" pitchFamily="34" charset="-120"/>
              </a:rPr>
              <a:t>$ hydra -L UsernameList -P PasswordList \</a:t>
            </a:r>
            <a:endParaRPr lang="en-US" sz="1150" dirty="0"/>
          </a:p>
          <a:p>
            <a:pPr indent="0" marL="0">
              <a:lnSpc>
                <a:spcPts val="1600"/>
              </a:lnSpc>
              <a:buNone/>
            </a:pPr>
            <a:r>
              <a:rPr lang="en-US" sz="1150" dirty="0">
                <a:solidFill>
                  <a:srgbClr val="FFA94D"/>
                </a:solidFill>
                <a:latin typeface="Courier New" pitchFamily="34" charset="0"/>
                <a:ea typeface="Courier New" pitchFamily="34" charset="-122"/>
                <a:cs typeface="Courier New" pitchFamily="34" charset="-120"/>
              </a:rPr>
              <a:t>     -T4 -V ssh://20.81.249.104</a:t>
            </a:r>
            <a:endParaRPr lang="en-US" sz="1150" dirty="0"/>
          </a:p>
        </p:txBody>
      </p:sp>
      <p:sp>
        <p:nvSpPr>
          <p:cNvPr id="12" name="Text 9"/>
          <p:cNvSpPr txBox="1"/>
          <p:nvPr/>
        </p:nvSpPr>
        <p:spPr>
          <a:xfrm>
            <a:off x="566928" y="4059936"/>
            <a:ext cx="5815584" cy="457200"/>
          </a:xfrm>
          <a:prstGeom prst="rect">
            <a:avLst/>
          </a:prstGeom>
          <a:noFill/>
          <a:ln/>
        </p:spPr>
        <p:txBody>
          <a:bodyPr wrap="square" lIns="0" tIns="0" rIns="0" bIns="0" rtlCol="0" anchor="ctr"/>
          <a:lstStyle/>
          <a:p>
            <a:pPr indent="0" marL="0">
              <a:lnSpc>
                <a:spcPts val="1500"/>
              </a:lnSpc>
              <a:buNone/>
            </a:pPr>
            <a:r>
              <a:rPr lang="en-US" sz="1100" i="1" dirty="0">
                <a:solidFill>
                  <a:srgbClr val="8D919C"/>
                </a:solidFill>
                <a:latin typeface="Calibri" pitchFamily="34" charset="0"/>
                <a:ea typeface="Calibri" pitchFamily="34" charset="-122"/>
                <a:cs typeface="Calibri" pitchFamily="34" charset="-120"/>
              </a:rPr>
              <a:t>Update the repos, install Hydra, then run parallel SSH login attempts against the target's public IP.</a:t>
            </a:r>
            <a:endParaRPr lang="en-US" sz="1100" dirty="0"/>
          </a:p>
        </p:txBody>
      </p:sp>
      <p:sp>
        <p:nvSpPr>
          <p:cNvPr id="13" name="Shape 10"/>
          <p:cNvSpPr/>
          <p:nvPr/>
        </p:nvSpPr>
        <p:spPr>
          <a:xfrm>
            <a:off x="566928" y="4681728"/>
            <a:ext cx="5815584" cy="1335024"/>
          </a:xfrm>
          <a:prstGeom prst="roundRect">
            <a:avLst>
              <a:gd name="adj" fmla="val 6849"/>
            </a:avLst>
          </a:prstGeom>
          <a:solidFill>
            <a:srgbClr val="1E2129"/>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4" name="Text 11"/>
          <p:cNvSpPr txBox="1"/>
          <p:nvPr/>
        </p:nvSpPr>
        <p:spPr>
          <a:xfrm>
            <a:off x="841248" y="4864608"/>
            <a:ext cx="3657600" cy="256032"/>
          </a:xfrm>
          <a:prstGeom prst="rect">
            <a:avLst/>
          </a:prstGeom>
          <a:noFill/>
          <a:ln/>
        </p:spPr>
        <p:txBody>
          <a:bodyPr wrap="square" lIns="0" tIns="0" rIns="0" bIns="0" rtlCol="0" anchor="ctr"/>
          <a:lstStyle/>
          <a:p>
            <a:pPr indent="0" marL="0">
              <a:buNone/>
            </a:pPr>
            <a:r>
              <a:rPr lang="en-US" sz="1200" b="1" dirty="0">
                <a:solidFill>
                  <a:srgbClr val="FFA94D"/>
                </a:solidFill>
                <a:latin typeface="Calibri" pitchFamily="34" charset="0"/>
                <a:ea typeface="Calibri" pitchFamily="34" charset="-122"/>
                <a:cs typeface="Calibri" pitchFamily="34" charset="-120"/>
              </a:rPr>
              <a:t>Target identified</a:t>
            </a:r>
            <a:endParaRPr lang="en-US" sz="1200" dirty="0"/>
          </a:p>
        </p:txBody>
      </p:sp>
      <p:sp>
        <p:nvSpPr>
          <p:cNvPr id="15" name="Shape 12"/>
          <p:cNvSpPr/>
          <p:nvPr/>
        </p:nvSpPr>
        <p:spPr>
          <a:xfrm>
            <a:off x="749808" y="5084064"/>
            <a:ext cx="5449824" cy="758952"/>
          </a:xfrm>
          <a:prstGeom prst="roundRect">
            <a:avLst>
              <a:gd name="adj" fmla="val 10843"/>
            </a:avLst>
          </a:prstGeom>
          <a:solidFill>
            <a:srgbClr val="1B1E24"/>
          </a:solidFill>
          <a:ln w="11430">
            <a:solidFill>
              <a:srgbClr val="3A3F4A"/>
            </a:solidFill>
            <a:prstDash val="solid"/>
          </a:ln>
          <a:effectLst>
            <a:outerShdw sx="100000" sy="100000" kx="0" ky="0" algn="bl" rotWithShape="0" blurRad="228600" dist="38100" dir="5400000">
              <a:srgbClr val="000000">
                <a:alpha val="34000"/>
              </a:srgbClr>
            </a:outerShdw>
          </a:effectLst>
        </p:spPr>
      </p:sp>
      <p:pic>
        <p:nvPicPr>
          <p:cNvPr id="16" name="Image 1" descr="img/image14.png">    </p:cNvPr>
          <p:cNvPicPr>
            <a:picLocks noChangeAspect="1"/>
          </p:cNvPicPr>
          <p:nvPr/>
        </p:nvPicPr>
        <p:blipFill>
          <a:blip r:embed="rId2"/>
          <a:stretch>
            <a:fillRect/>
          </a:stretch>
        </p:blipFill>
        <p:spPr>
          <a:xfrm>
            <a:off x="841248" y="5175504"/>
            <a:ext cx="5266944" cy="576072"/>
          </a:xfrm>
          <a:prstGeom prst="rect">
            <a:avLst/>
          </a:prstGeom>
        </p:spPr>
      </p:pic>
      <p:sp>
        <p:nvSpPr>
          <p:cNvPr id="17" name="Shape 13"/>
          <p:cNvSpPr/>
          <p:nvPr/>
        </p:nvSpPr>
        <p:spPr>
          <a:xfrm>
            <a:off x="6656832" y="1719072"/>
            <a:ext cx="5056632" cy="1984248"/>
          </a:xfrm>
          <a:prstGeom prst="roundRect">
            <a:avLst>
              <a:gd name="adj" fmla="val 4147"/>
            </a:avLst>
          </a:prstGeom>
          <a:solidFill>
            <a:srgbClr val="1B1E24"/>
          </a:solidFill>
          <a:ln w="11430">
            <a:solidFill>
              <a:srgbClr val="3A3F4A"/>
            </a:solidFill>
            <a:prstDash val="solid"/>
          </a:ln>
          <a:effectLst>
            <a:outerShdw sx="100000" sy="100000" kx="0" ky="0" algn="bl" rotWithShape="0" blurRad="228600" dist="38100" dir="5400000">
              <a:srgbClr val="000000">
                <a:alpha val="34000"/>
              </a:srgbClr>
            </a:outerShdw>
          </a:effectLst>
        </p:spPr>
      </p:sp>
      <p:pic>
        <p:nvPicPr>
          <p:cNvPr id="18" name="Image 2" descr="img/image15.png">    </p:cNvPr>
          <p:cNvPicPr>
            <a:picLocks noChangeAspect="1"/>
          </p:cNvPicPr>
          <p:nvPr/>
        </p:nvPicPr>
        <p:blipFill>
          <a:blip r:embed="rId3"/>
          <a:stretch>
            <a:fillRect/>
          </a:stretch>
        </p:blipFill>
        <p:spPr>
          <a:xfrm>
            <a:off x="6748272" y="1810512"/>
            <a:ext cx="4873752" cy="1801368"/>
          </a:xfrm>
          <a:prstGeom prst="rect">
            <a:avLst/>
          </a:prstGeom>
        </p:spPr>
      </p:pic>
      <p:sp>
        <p:nvSpPr>
          <p:cNvPr id="19" name="Text 14"/>
          <p:cNvSpPr txBox="1"/>
          <p:nvPr/>
        </p:nvSpPr>
        <p:spPr>
          <a:xfrm>
            <a:off x="6748272" y="3675888"/>
            <a:ext cx="4846320" cy="237744"/>
          </a:xfrm>
          <a:prstGeom prst="rect">
            <a:avLst/>
          </a:prstGeom>
          <a:noFill/>
          <a:ln/>
        </p:spPr>
        <p:txBody>
          <a:bodyPr wrap="square" lIns="0" tIns="0" rIns="0" bIns="0" rtlCol="0" anchor="ctr"/>
          <a:lstStyle/>
          <a:p>
            <a:pPr indent="0" marL="0">
              <a:buNone/>
            </a:pPr>
            <a:r>
              <a:rPr lang="en-US" sz="950" i="1" dirty="0">
                <a:solidFill>
                  <a:srgbClr val="8D919C"/>
                </a:solidFill>
                <a:latin typeface="Calibri" pitchFamily="34" charset="0"/>
                <a:ea typeface="Calibri" pitchFamily="34" charset="-122"/>
                <a:cs typeface="Calibri" pitchFamily="34" charset="-120"/>
              </a:rPr>
              <a:t>Figure 9 — Hydra output: one valid credential found</a:t>
            </a:r>
            <a:endParaRPr lang="en-US" sz="950" dirty="0"/>
          </a:p>
        </p:txBody>
      </p:sp>
      <p:sp>
        <p:nvSpPr>
          <p:cNvPr id="20" name="Shape 15"/>
          <p:cNvSpPr/>
          <p:nvPr/>
        </p:nvSpPr>
        <p:spPr>
          <a:xfrm>
            <a:off x="6748272" y="4078224"/>
            <a:ext cx="4873752" cy="1938528"/>
          </a:xfrm>
          <a:prstGeom prst="roundRect">
            <a:avLst>
              <a:gd name="adj" fmla="val 4717"/>
            </a:avLst>
          </a:prstGeom>
          <a:solidFill>
            <a:srgbClr val="24160A"/>
          </a:solidFill>
          <a:ln w="9525">
            <a:solidFill>
              <a:srgbClr val="5C3512"/>
            </a:solidFill>
            <a:prstDash val="solid"/>
          </a:ln>
          <a:effectLst>
            <a:outerShdw sx="100000" sy="100000" kx="0" ky="0" algn="bl" rotWithShape="0" blurRad="177800" dist="38100" dir="5400000">
              <a:srgbClr val="000000">
                <a:alpha val="27000"/>
              </a:srgbClr>
            </a:outerShdw>
          </a:effectLst>
        </p:spPr>
      </p:sp>
      <p:pic>
        <p:nvPicPr>
          <p:cNvPr id="21" name="Image 3" descr="icons/alert-a.png">    </p:cNvPr>
          <p:cNvPicPr>
            <a:picLocks noChangeAspect="1"/>
          </p:cNvPicPr>
          <p:nvPr/>
        </p:nvPicPr>
        <p:blipFill>
          <a:blip r:embed="rId4"/>
          <a:stretch>
            <a:fillRect/>
          </a:stretch>
        </p:blipFill>
        <p:spPr>
          <a:xfrm>
            <a:off x="7022592" y="4334256"/>
            <a:ext cx="274320" cy="274320"/>
          </a:xfrm>
          <a:prstGeom prst="rect">
            <a:avLst/>
          </a:prstGeom>
        </p:spPr>
      </p:pic>
      <p:sp>
        <p:nvSpPr>
          <p:cNvPr id="22" name="Text 16"/>
          <p:cNvSpPr txBox="1"/>
          <p:nvPr/>
        </p:nvSpPr>
        <p:spPr>
          <a:xfrm>
            <a:off x="7388352" y="4315968"/>
            <a:ext cx="4114800" cy="310896"/>
          </a:xfrm>
          <a:prstGeom prst="rect">
            <a:avLst/>
          </a:prstGeom>
          <a:noFill/>
          <a:ln/>
        </p:spPr>
        <p:txBody>
          <a:bodyPr wrap="square" lIns="0" tIns="0" rIns="0" bIns="0" rtlCol="0" anchor="ctr"/>
          <a:lstStyle/>
          <a:p>
            <a:pPr indent="0" marL="0">
              <a:buNone/>
            </a:pPr>
            <a:r>
              <a:rPr lang="en-US" sz="1350" b="1" dirty="0">
                <a:solidFill>
                  <a:srgbClr val="FFA94D"/>
                </a:solidFill>
                <a:latin typeface="Calibri" pitchFamily="34" charset="0"/>
                <a:ea typeface="Calibri" pitchFamily="34" charset="-122"/>
                <a:cs typeface="Calibri" pitchFamily="34" charset="-120"/>
              </a:rPr>
              <a:t>Result: target compromised</a:t>
            </a:r>
            <a:endParaRPr lang="en-US" sz="1350" dirty="0"/>
          </a:p>
        </p:txBody>
      </p:sp>
      <p:sp>
        <p:nvSpPr>
          <p:cNvPr id="23" name="Text 17"/>
          <p:cNvSpPr txBox="1"/>
          <p:nvPr/>
        </p:nvSpPr>
        <p:spPr>
          <a:xfrm>
            <a:off x="7022592" y="4718304"/>
            <a:ext cx="4389120" cy="1188720"/>
          </a:xfrm>
          <a:prstGeom prst="rect">
            <a:avLst/>
          </a:prstGeom>
          <a:noFill/>
          <a:ln/>
        </p:spPr>
        <p:txBody>
          <a:bodyPr wrap="square" lIns="0" tIns="0" rIns="0" bIns="0" rtlCol="0" anchor="ctr"/>
          <a:lstStyle/>
          <a:p>
            <a:pPr indent="0" marL="0">
              <a:lnSpc>
                <a:spcPts val="1600"/>
              </a:lnSpc>
              <a:buNone/>
            </a:pPr>
            <a:r>
              <a:rPr lang="en-US" sz="1150" dirty="0">
                <a:solidFill>
                  <a:srgbClr val="D2D5DD"/>
                </a:solidFill>
                <a:latin typeface="Calibri" pitchFamily="34" charset="0"/>
                <a:ea typeface="Calibri" pitchFamily="34" charset="-122"/>
                <a:cs typeface="Calibri" pitchFamily="34" charset="-120"/>
              </a:rPr>
              <a:t>16 login attempts ran across 4 parallel tasks. Hydra recovered a working SSH credential:
</a:t>
            </a:r>
            <a:pPr indent="0" marL="0">
              <a:lnSpc>
                <a:spcPts val="1600"/>
              </a:lnSpc>
              <a:buNone/>
            </a:pPr>
            <a:r>
              <a:rPr lang="en-US" sz="1150" dirty="0">
                <a:solidFill>
                  <a:srgbClr val="8D919C"/>
                </a:solidFill>
                <a:latin typeface="Calibri" pitchFamily="34" charset="0"/>
                <a:ea typeface="Calibri" pitchFamily="34" charset="-122"/>
                <a:cs typeface="Calibri" pitchFamily="34" charset="-120"/>
              </a:rPr>
              <a:t>login </a:t>
            </a:r>
            <a:pPr indent="0" marL="0">
              <a:lnSpc>
                <a:spcPts val="1600"/>
              </a:lnSpc>
              <a:buNone/>
            </a:pPr>
            <a:r>
              <a:rPr lang="en-US" sz="1150" b="1" dirty="0">
                <a:solidFill>
                  <a:srgbClr val="FFB454"/>
                </a:solidFill>
                <a:latin typeface="Calibri" pitchFamily="34" charset="0"/>
                <a:ea typeface="Calibri" pitchFamily="34" charset="-122"/>
                <a:cs typeface="Calibri" pitchFamily="34" charset="-120"/>
              </a:rPr>
              <a:t>christian</a:t>
            </a:r>
            <a:pPr indent="0" marL="0">
              <a:lnSpc>
                <a:spcPts val="1600"/>
              </a:lnSpc>
              <a:buNone/>
            </a:pPr>
            <a:r>
              <a:rPr lang="en-US" sz="1150" dirty="0">
                <a:solidFill>
                  <a:srgbClr val="8D919C"/>
                </a:solidFill>
                <a:latin typeface="Calibri" pitchFamily="34" charset="0"/>
                <a:ea typeface="Calibri" pitchFamily="34" charset="-122"/>
                <a:cs typeface="Calibri" pitchFamily="34" charset="-120"/>
              </a:rPr>
              <a:t>   password </a:t>
            </a:r>
            <a:pPr indent="0" marL="0">
              <a:lnSpc>
                <a:spcPts val="1600"/>
              </a:lnSpc>
              <a:buNone/>
            </a:pPr>
            <a:r>
              <a:rPr lang="en-US" sz="1150" b="1" dirty="0">
                <a:solidFill>
                  <a:srgbClr val="FFB454"/>
                </a:solidFill>
                <a:latin typeface="Calibri" pitchFamily="34" charset="0"/>
                <a:ea typeface="Calibri" pitchFamily="34" charset="-122"/>
                <a:cs typeface="Calibri" pitchFamily="34" charset="-120"/>
              </a:rPr>
              <a:t>Password@2026</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DETECTION</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Bringing the target into Sentinel via the DCR</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481328"/>
            <a:ext cx="6949440" cy="3438144"/>
          </a:xfrm>
          <a:prstGeom prst="roundRect">
            <a:avLst>
              <a:gd name="adj" fmla="val 2394"/>
            </a:avLst>
          </a:prstGeom>
          <a:solidFill>
            <a:srgbClr val="1B1E24"/>
          </a:solidFill>
          <a:ln w="11430">
            <a:solidFill>
              <a:srgbClr val="3A3F4A"/>
            </a:solidFill>
            <a:prstDash val="solid"/>
          </a:ln>
          <a:effectLst>
            <a:outerShdw sx="100000" sy="100000" kx="0" ky="0" algn="bl" rotWithShape="0" blurRad="228600" dist="38100" dir="5400000">
              <a:srgbClr val="000000">
                <a:alpha val="34000"/>
              </a:srgbClr>
            </a:outerShdw>
          </a:effectLst>
        </p:spPr>
      </p:sp>
      <p:pic>
        <p:nvPicPr>
          <p:cNvPr id="7" name="Image 0" descr="img/image16.png">    </p:cNvPr>
          <p:cNvPicPr>
            <a:picLocks noChangeAspect="1"/>
          </p:cNvPicPr>
          <p:nvPr/>
        </p:nvPicPr>
        <p:blipFill>
          <a:blip r:embed="rId1"/>
          <a:stretch>
            <a:fillRect/>
          </a:stretch>
        </p:blipFill>
        <p:spPr>
          <a:xfrm>
            <a:off x="658368" y="1572768"/>
            <a:ext cx="6766560" cy="3255264"/>
          </a:xfrm>
          <a:prstGeom prst="rect">
            <a:avLst/>
          </a:prstGeom>
        </p:spPr>
      </p:pic>
      <p:sp>
        <p:nvSpPr>
          <p:cNvPr id="8" name="Text 5"/>
          <p:cNvSpPr txBox="1"/>
          <p:nvPr/>
        </p:nvSpPr>
        <p:spPr>
          <a:xfrm>
            <a:off x="658368" y="4937760"/>
            <a:ext cx="6858000" cy="237744"/>
          </a:xfrm>
          <a:prstGeom prst="rect">
            <a:avLst/>
          </a:prstGeom>
          <a:noFill/>
          <a:ln/>
        </p:spPr>
        <p:txBody>
          <a:bodyPr wrap="square" lIns="0" tIns="0" rIns="0" bIns="0" rtlCol="0" anchor="ctr"/>
          <a:lstStyle/>
          <a:p>
            <a:pPr indent="0" marL="0">
              <a:buNone/>
            </a:pPr>
            <a:r>
              <a:rPr lang="en-US" sz="950" i="1" dirty="0">
                <a:solidFill>
                  <a:srgbClr val="8D919C"/>
                </a:solidFill>
                <a:latin typeface="Calibri" pitchFamily="34" charset="0"/>
                <a:ea typeface="Calibri" pitchFamily="34" charset="-122"/>
                <a:cs typeface="Calibri" pitchFamily="34" charset="-120"/>
              </a:rPr>
              <a:t>Figure 10 — Editing myubuntuDCRnew to add TargetUbuntuVM as a collected resource</a:t>
            </a:r>
            <a:endParaRPr lang="en-US" sz="950" dirty="0"/>
          </a:p>
        </p:txBody>
      </p:sp>
      <p:sp>
        <p:nvSpPr>
          <p:cNvPr id="9" name="Shape 6"/>
          <p:cNvSpPr/>
          <p:nvPr/>
        </p:nvSpPr>
        <p:spPr>
          <a:xfrm>
            <a:off x="7790688" y="1572768"/>
            <a:ext cx="3831336" cy="3255264"/>
          </a:xfrm>
          <a:prstGeom prst="roundRect">
            <a:avLst>
              <a:gd name="adj" fmla="val 2809"/>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0" name="Text 7"/>
          <p:cNvSpPr txBox="1"/>
          <p:nvPr/>
        </p:nvSpPr>
        <p:spPr>
          <a:xfrm>
            <a:off x="8083296" y="1828800"/>
            <a:ext cx="324612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Why this step matters</a:t>
            </a:r>
            <a:endParaRPr lang="en-US" sz="1350" dirty="0"/>
          </a:p>
        </p:txBody>
      </p:sp>
      <p:sp>
        <p:nvSpPr>
          <p:cNvPr id="11" name="Text 8"/>
          <p:cNvSpPr txBox="1"/>
          <p:nvPr/>
        </p:nvSpPr>
        <p:spPr>
          <a:xfrm>
            <a:off x="8083296" y="2212848"/>
            <a:ext cx="3246120" cy="1463040"/>
          </a:xfrm>
          <a:prstGeom prst="rect">
            <a:avLst/>
          </a:prstGeom>
          <a:noFill/>
          <a:ln/>
        </p:spPr>
        <p:txBody>
          <a:bodyPr wrap="square" lIns="0" tIns="0" rIns="0" bIns="0" rtlCol="0" anchor="t"/>
          <a:lstStyle/>
          <a:p>
            <a:pPr algn="l" indent="0" marL="0">
              <a:lnSpc>
                <a:spcPts val="1650"/>
              </a:lnSpc>
              <a:buNone/>
            </a:pPr>
            <a:r>
              <a:rPr lang="en-US" sz="1150" dirty="0">
                <a:solidFill>
                  <a:srgbClr val="AFB4BF"/>
                </a:solidFill>
                <a:latin typeface="Calibri" pitchFamily="34" charset="0"/>
                <a:ea typeface="Calibri" pitchFamily="34" charset="-122"/>
                <a:cs typeface="Calibri" pitchFamily="34" charset="-120"/>
              </a:rPr>
              <a:t>A VM only appears in Sentinel once a Data Collection Rule scopes it in. The new target is added to myubuntuDCRnew under the Resources tab, which also installs the Azure Monitor Agent and enables a system-assigned managed identity on the machine.</a:t>
            </a:r>
            <a:endParaRPr lang="en-US" sz="1150" dirty="0"/>
          </a:p>
        </p:txBody>
      </p:sp>
      <p:pic>
        <p:nvPicPr>
          <p:cNvPr id="12" name="Image 1" descr="icons/check-o.png">    </p:cNvPr>
          <p:cNvPicPr>
            <a:picLocks noChangeAspect="1"/>
          </p:cNvPicPr>
          <p:nvPr/>
        </p:nvPicPr>
        <p:blipFill>
          <a:blip r:embed="rId2"/>
          <a:stretch>
            <a:fillRect/>
          </a:stretch>
        </p:blipFill>
        <p:spPr>
          <a:xfrm>
            <a:off x="8101584" y="3730752"/>
            <a:ext cx="182880" cy="182880"/>
          </a:xfrm>
          <a:prstGeom prst="rect">
            <a:avLst/>
          </a:prstGeom>
        </p:spPr>
      </p:pic>
      <p:sp>
        <p:nvSpPr>
          <p:cNvPr id="13" name="Text 9"/>
          <p:cNvSpPr txBox="1"/>
          <p:nvPr/>
        </p:nvSpPr>
        <p:spPr>
          <a:xfrm>
            <a:off x="8375904" y="3685032"/>
            <a:ext cx="2953512" cy="329184"/>
          </a:xfrm>
          <a:prstGeom prst="rect">
            <a:avLst/>
          </a:prstGeom>
          <a:noFill/>
          <a:ln/>
        </p:spPr>
        <p:txBody>
          <a:bodyPr wrap="square" lIns="0" tIns="0" rIns="0" bIns="0" rtlCol="0" anchor="ctr"/>
          <a:lstStyle/>
          <a:p>
            <a:pPr indent="0" marL="0">
              <a:lnSpc>
                <a:spcPts val="1400"/>
              </a:lnSpc>
              <a:buNone/>
            </a:pPr>
            <a:r>
              <a:rPr lang="en-US" sz="1100" dirty="0">
                <a:solidFill>
                  <a:srgbClr val="ECEDF1"/>
                </a:solidFill>
                <a:latin typeface="Calibri" pitchFamily="34" charset="0"/>
                <a:ea typeface="Calibri" pitchFamily="34" charset="-122"/>
                <a:cs typeface="Calibri" pitchFamily="34" charset="-120"/>
              </a:rPr>
              <a:t>TargetUbuntuVM selected alongside UbuntuVM</a:t>
            </a:r>
            <a:endParaRPr lang="en-US" sz="1100" dirty="0"/>
          </a:p>
        </p:txBody>
      </p:sp>
      <p:pic>
        <p:nvPicPr>
          <p:cNvPr id="14" name="Image 2" descr="icons/check-o.png">    </p:cNvPr>
          <p:cNvPicPr>
            <a:picLocks noChangeAspect="1"/>
          </p:cNvPicPr>
          <p:nvPr/>
        </p:nvPicPr>
        <p:blipFill>
          <a:blip r:embed="rId3"/>
          <a:stretch>
            <a:fillRect/>
          </a:stretch>
        </p:blipFill>
        <p:spPr>
          <a:xfrm>
            <a:off x="8101584" y="4096512"/>
            <a:ext cx="182880" cy="182880"/>
          </a:xfrm>
          <a:prstGeom prst="rect">
            <a:avLst/>
          </a:prstGeom>
        </p:spPr>
      </p:pic>
      <p:sp>
        <p:nvSpPr>
          <p:cNvPr id="15" name="Text 10"/>
          <p:cNvSpPr txBox="1"/>
          <p:nvPr/>
        </p:nvSpPr>
        <p:spPr>
          <a:xfrm>
            <a:off x="8375904" y="4050792"/>
            <a:ext cx="2953512" cy="329184"/>
          </a:xfrm>
          <a:prstGeom prst="rect">
            <a:avLst/>
          </a:prstGeom>
          <a:noFill/>
          <a:ln/>
        </p:spPr>
        <p:txBody>
          <a:bodyPr wrap="square" lIns="0" tIns="0" rIns="0" bIns="0" rtlCol="0" anchor="ctr"/>
          <a:lstStyle/>
          <a:p>
            <a:pPr indent="0" marL="0">
              <a:lnSpc>
                <a:spcPts val="1400"/>
              </a:lnSpc>
              <a:buNone/>
            </a:pPr>
            <a:r>
              <a:rPr lang="en-US" sz="1100" dirty="0">
                <a:solidFill>
                  <a:srgbClr val="ECEDF1"/>
                </a:solidFill>
                <a:latin typeface="Calibri" pitchFamily="34" charset="0"/>
                <a:ea typeface="Calibri" pitchFamily="34" charset="-122"/>
                <a:cs typeface="Calibri" pitchFamily="34" charset="-120"/>
              </a:rPr>
              <a:t>AMA installed automatically on selection</a:t>
            </a:r>
            <a:endParaRPr lang="en-US" sz="1100" dirty="0"/>
          </a:p>
        </p:txBody>
      </p:sp>
      <p:pic>
        <p:nvPicPr>
          <p:cNvPr id="16" name="Image 3" descr="icons/check-o.png">    </p:cNvPr>
          <p:cNvPicPr>
            <a:picLocks noChangeAspect="1"/>
          </p:cNvPicPr>
          <p:nvPr/>
        </p:nvPicPr>
        <p:blipFill>
          <a:blip r:embed="rId4"/>
          <a:stretch>
            <a:fillRect/>
          </a:stretch>
        </p:blipFill>
        <p:spPr>
          <a:xfrm>
            <a:off x="8101584" y="4462272"/>
            <a:ext cx="182880" cy="182880"/>
          </a:xfrm>
          <a:prstGeom prst="rect">
            <a:avLst/>
          </a:prstGeom>
        </p:spPr>
      </p:pic>
      <p:sp>
        <p:nvSpPr>
          <p:cNvPr id="17" name="Text 11"/>
          <p:cNvSpPr txBox="1"/>
          <p:nvPr/>
        </p:nvSpPr>
        <p:spPr>
          <a:xfrm>
            <a:off x="8375904" y="4416552"/>
            <a:ext cx="2953512" cy="329184"/>
          </a:xfrm>
          <a:prstGeom prst="rect">
            <a:avLst/>
          </a:prstGeom>
          <a:noFill/>
          <a:ln/>
        </p:spPr>
        <p:txBody>
          <a:bodyPr wrap="square" lIns="0" tIns="0" rIns="0" bIns="0" rtlCol="0" anchor="ctr"/>
          <a:lstStyle/>
          <a:p>
            <a:pPr indent="0" marL="0">
              <a:lnSpc>
                <a:spcPts val="1400"/>
              </a:lnSpc>
              <a:buNone/>
            </a:pPr>
            <a:r>
              <a:rPr lang="en-US" sz="1100" dirty="0">
                <a:solidFill>
                  <a:srgbClr val="ECEDF1"/>
                </a:solidFill>
                <a:latin typeface="Calibri" pitchFamily="34" charset="0"/>
                <a:ea typeface="Calibri" pitchFamily="34" charset="-122"/>
                <a:cs typeface="Calibri" pitchFamily="34" charset="-120"/>
              </a:rPr>
              <a:t>Syslog now flows to LAWmuler</a:t>
            </a:r>
            <a:endParaRPr lang="en-US" sz="1100" dirty="0"/>
          </a:p>
        </p:txBody>
      </p:sp>
      <p:sp>
        <p:nvSpPr>
          <p:cNvPr id="18" name="Shape 12"/>
          <p:cNvSpPr/>
          <p:nvPr/>
        </p:nvSpPr>
        <p:spPr>
          <a:xfrm>
            <a:off x="566928" y="5138928"/>
            <a:ext cx="11055096" cy="877824"/>
          </a:xfrm>
          <a:prstGeom prst="roundRect">
            <a:avLst>
              <a:gd name="adj" fmla="val 10417"/>
            </a:avLst>
          </a:prstGeom>
          <a:solidFill>
            <a:srgbClr val="24160A"/>
          </a:solidFill>
          <a:ln w="9525">
            <a:solidFill>
              <a:srgbClr val="5C3512"/>
            </a:solidFill>
            <a:prstDash val="solid"/>
          </a:ln>
        </p:spPr>
      </p:sp>
      <p:pic>
        <p:nvPicPr>
          <p:cNvPr id="19" name="Image 4" descr="icons/alert-o.png">    </p:cNvPr>
          <p:cNvPicPr>
            <a:picLocks noChangeAspect="1"/>
          </p:cNvPicPr>
          <p:nvPr/>
        </p:nvPicPr>
        <p:blipFill>
          <a:blip r:embed="rId5"/>
          <a:stretch>
            <a:fillRect/>
          </a:stretch>
        </p:blipFill>
        <p:spPr>
          <a:xfrm>
            <a:off x="859536" y="5449824"/>
            <a:ext cx="256032" cy="256032"/>
          </a:xfrm>
          <a:prstGeom prst="rect">
            <a:avLst/>
          </a:prstGeom>
        </p:spPr>
      </p:pic>
      <p:sp>
        <p:nvSpPr>
          <p:cNvPr id="20" name="Text 13"/>
          <p:cNvSpPr txBox="1"/>
          <p:nvPr/>
        </p:nvSpPr>
        <p:spPr>
          <a:xfrm>
            <a:off x="1261872" y="5138928"/>
            <a:ext cx="10058400" cy="877824"/>
          </a:xfrm>
          <a:prstGeom prst="rect">
            <a:avLst/>
          </a:prstGeom>
          <a:noFill/>
          <a:ln/>
        </p:spPr>
        <p:txBody>
          <a:bodyPr wrap="square" lIns="0" tIns="0" rIns="0" bIns="0" rtlCol="0" anchor="ctr"/>
          <a:lstStyle/>
          <a:p>
            <a:pPr indent="0" marL="0">
              <a:lnSpc>
                <a:spcPts val="1600"/>
              </a:lnSpc>
              <a:buNone/>
            </a:pPr>
            <a:r>
              <a:rPr lang="en-US" sz="1250" b="1" dirty="0">
                <a:solidFill>
                  <a:srgbClr val="FFA94D"/>
                </a:solidFill>
                <a:latin typeface="Calibri" pitchFamily="34" charset="0"/>
                <a:ea typeface="Calibri" pitchFamily="34" charset="-122"/>
                <a:cs typeface="Calibri" pitchFamily="34" charset="-120"/>
              </a:rPr>
              <a:t>Key takeaway: if the target had not been added to the DCR, the attack would have succeeded silently — Sentinel can only detect what it is told to collect.</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DETECTION</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Catching the attack in Sentinel logs</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517904"/>
            <a:ext cx="11055096" cy="786384"/>
          </a:xfrm>
          <a:prstGeom prst="roundRect">
            <a:avLst>
              <a:gd name="adj" fmla="val 9302"/>
            </a:avLst>
          </a:prstGeom>
          <a:solidFill>
            <a:srgbClr val="101217"/>
          </a:solidFill>
          <a:ln w="9525">
            <a:solidFill>
              <a:srgbClr val="5C3512"/>
            </a:solidFill>
            <a:prstDash val="solid"/>
          </a:ln>
        </p:spPr>
      </p:sp>
      <p:sp>
        <p:nvSpPr>
          <p:cNvPr id="7" name="Text 5"/>
          <p:cNvSpPr txBox="1"/>
          <p:nvPr/>
        </p:nvSpPr>
        <p:spPr>
          <a:xfrm>
            <a:off x="841248" y="1517904"/>
            <a:ext cx="10607040" cy="786384"/>
          </a:xfrm>
          <a:prstGeom prst="rect">
            <a:avLst/>
          </a:prstGeom>
          <a:noFill/>
          <a:ln/>
        </p:spPr>
        <p:txBody>
          <a:bodyPr wrap="square" lIns="0" tIns="0" rIns="0" bIns="0" rtlCol="0" anchor="ctr"/>
          <a:lstStyle/>
          <a:p>
            <a:pPr indent="0" marL="0">
              <a:lnSpc>
                <a:spcPts val="1500"/>
              </a:lnSpc>
              <a:buNone/>
            </a:pPr>
            <a:r>
              <a:rPr lang="en-US" sz="1150" dirty="0">
                <a:solidFill>
                  <a:srgbClr val="FFB454"/>
                </a:solidFill>
                <a:latin typeface="Courier New" pitchFamily="34" charset="0"/>
                <a:ea typeface="Courier New" pitchFamily="34" charset="-122"/>
                <a:cs typeface="Courier New" pitchFamily="34" charset="-120"/>
              </a:rPr>
              <a:t>Syslog
</a:t>
            </a:r>
            <a:pPr indent="0" marL="0">
              <a:lnSpc>
                <a:spcPts val="1500"/>
              </a:lnSpc>
              <a:buNone/>
            </a:pPr>
            <a:r>
              <a:rPr lang="en-US" sz="1150" dirty="0">
                <a:solidFill>
                  <a:srgbClr val="D2D5DD"/>
                </a:solidFill>
                <a:latin typeface="Courier New" pitchFamily="34" charset="0"/>
                <a:ea typeface="Courier New" pitchFamily="34" charset="-122"/>
                <a:cs typeface="Courier New" pitchFamily="34" charset="-120"/>
              </a:rPr>
              <a:t>| project TimeGenerated, EventTime, SyslogMessage, ProcessID, ProcessName, HostIP, Computer
</a:t>
            </a:r>
            <a:pPr indent="0" marL="0">
              <a:lnSpc>
                <a:spcPts val="1500"/>
              </a:lnSpc>
              <a:buNone/>
            </a:pPr>
            <a:r>
              <a:rPr lang="en-US" sz="1150" dirty="0">
                <a:solidFill>
                  <a:srgbClr val="FFA94D"/>
                </a:solidFill>
                <a:latin typeface="Courier New" pitchFamily="34" charset="0"/>
                <a:ea typeface="Courier New" pitchFamily="34" charset="-122"/>
                <a:cs typeface="Courier New" pitchFamily="34" charset="-120"/>
              </a:rPr>
              <a:t>| where Computer contains "TargetUbuntuVM"</a:t>
            </a:r>
            <a:endParaRPr lang="en-US" sz="1150" dirty="0"/>
          </a:p>
        </p:txBody>
      </p:sp>
      <p:sp>
        <p:nvSpPr>
          <p:cNvPr id="8" name="Shape 6"/>
          <p:cNvSpPr/>
          <p:nvPr/>
        </p:nvSpPr>
        <p:spPr>
          <a:xfrm>
            <a:off x="566928" y="2487168"/>
            <a:ext cx="5532120" cy="3218688"/>
          </a:xfrm>
          <a:prstGeom prst="roundRect">
            <a:avLst>
              <a:gd name="adj" fmla="val 2557"/>
            </a:avLst>
          </a:prstGeom>
          <a:solidFill>
            <a:srgbClr val="1B1E24"/>
          </a:solidFill>
          <a:ln w="11430">
            <a:solidFill>
              <a:srgbClr val="3A3F4A"/>
            </a:solidFill>
            <a:prstDash val="solid"/>
          </a:ln>
          <a:effectLst>
            <a:outerShdw sx="100000" sy="100000" kx="0" ky="0" algn="bl" rotWithShape="0" blurRad="228600" dist="38100" dir="5400000">
              <a:srgbClr val="000000">
                <a:alpha val="34000"/>
              </a:srgbClr>
            </a:outerShdw>
          </a:effectLst>
        </p:spPr>
      </p:sp>
      <p:pic>
        <p:nvPicPr>
          <p:cNvPr id="9" name="Image 0" descr="img/image17.png">    </p:cNvPr>
          <p:cNvPicPr>
            <a:picLocks noChangeAspect="1"/>
          </p:cNvPicPr>
          <p:nvPr/>
        </p:nvPicPr>
        <p:blipFill>
          <a:blip r:embed="rId1"/>
          <a:stretch>
            <a:fillRect/>
          </a:stretch>
        </p:blipFill>
        <p:spPr>
          <a:xfrm>
            <a:off x="658368" y="2578608"/>
            <a:ext cx="5349240" cy="3035808"/>
          </a:xfrm>
          <a:prstGeom prst="rect">
            <a:avLst/>
          </a:prstGeom>
        </p:spPr>
      </p:pic>
      <p:sp>
        <p:nvSpPr>
          <p:cNvPr id="10" name="Text 7"/>
          <p:cNvSpPr txBox="1"/>
          <p:nvPr/>
        </p:nvSpPr>
        <p:spPr>
          <a:xfrm>
            <a:off x="658368" y="5705856"/>
            <a:ext cx="5120640" cy="237744"/>
          </a:xfrm>
          <a:prstGeom prst="rect">
            <a:avLst/>
          </a:prstGeom>
          <a:noFill/>
          <a:ln/>
        </p:spPr>
        <p:txBody>
          <a:bodyPr wrap="square" lIns="0" tIns="0" rIns="0" bIns="0" rtlCol="0" anchor="ctr"/>
          <a:lstStyle/>
          <a:p>
            <a:pPr indent="0" marL="0">
              <a:buNone/>
            </a:pPr>
            <a:r>
              <a:rPr lang="en-US" sz="950" i="1" dirty="0">
                <a:solidFill>
                  <a:srgbClr val="8D919C"/>
                </a:solidFill>
                <a:latin typeface="Calibri" pitchFamily="34" charset="0"/>
                <a:ea typeface="Calibri" pitchFamily="34" charset="-122"/>
                <a:cs typeface="Calibri" pitchFamily="34" charset="-120"/>
              </a:rPr>
              <a:t>Figure 11 — Advanced hunting (Defender portal)</a:t>
            </a:r>
            <a:endParaRPr lang="en-US" sz="950" dirty="0"/>
          </a:p>
        </p:txBody>
      </p:sp>
      <p:sp>
        <p:nvSpPr>
          <p:cNvPr id="11" name="Shape 8"/>
          <p:cNvSpPr/>
          <p:nvPr/>
        </p:nvSpPr>
        <p:spPr>
          <a:xfrm>
            <a:off x="6181344" y="2487168"/>
            <a:ext cx="5532120" cy="2980944"/>
          </a:xfrm>
          <a:prstGeom prst="roundRect">
            <a:avLst>
              <a:gd name="adj" fmla="val 2761"/>
            </a:avLst>
          </a:prstGeom>
          <a:solidFill>
            <a:srgbClr val="1B1E24"/>
          </a:solidFill>
          <a:ln w="11430">
            <a:solidFill>
              <a:srgbClr val="3A3F4A"/>
            </a:solidFill>
            <a:prstDash val="solid"/>
          </a:ln>
          <a:effectLst>
            <a:outerShdw sx="100000" sy="100000" kx="0" ky="0" algn="bl" rotWithShape="0" blurRad="228600" dist="38100" dir="5400000">
              <a:srgbClr val="000000">
                <a:alpha val="34000"/>
              </a:srgbClr>
            </a:outerShdw>
          </a:effectLst>
        </p:spPr>
      </p:sp>
      <p:pic>
        <p:nvPicPr>
          <p:cNvPr id="12" name="Image 1" descr="img/image18.png">    </p:cNvPr>
          <p:cNvPicPr>
            <a:picLocks noChangeAspect="1"/>
          </p:cNvPicPr>
          <p:nvPr/>
        </p:nvPicPr>
        <p:blipFill>
          <a:blip r:embed="rId2"/>
          <a:stretch>
            <a:fillRect/>
          </a:stretch>
        </p:blipFill>
        <p:spPr>
          <a:xfrm>
            <a:off x="6272784" y="2578608"/>
            <a:ext cx="5349240" cy="2798064"/>
          </a:xfrm>
          <a:prstGeom prst="rect">
            <a:avLst/>
          </a:prstGeom>
        </p:spPr>
      </p:pic>
      <p:sp>
        <p:nvSpPr>
          <p:cNvPr id="13" name="Text 9"/>
          <p:cNvSpPr txBox="1"/>
          <p:nvPr/>
        </p:nvSpPr>
        <p:spPr>
          <a:xfrm>
            <a:off x="6272784" y="5705856"/>
            <a:ext cx="5120640" cy="237744"/>
          </a:xfrm>
          <a:prstGeom prst="rect">
            <a:avLst/>
          </a:prstGeom>
          <a:noFill/>
          <a:ln/>
        </p:spPr>
        <p:txBody>
          <a:bodyPr wrap="square" lIns="0" tIns="0" rIns="0" bIns="0" rtlCol="0" anchor="ctr"/>
          <a:lstStyle/>
          <a:p>
            <a:pPr indent="0" marL="0">
              <a:buNone/>
            </a:pPr>
            <a:r>
              <a:rPr lang="en-US" sz="950" i="1" dirty="0">
                <a:solidFill>
                  <a:srgbClr val="8D919C"/>
                </a:solidFill>
                <a:latin typeface="Calibri" pitchFamily="34" charset="0"/>
                <a:ea typeface="Calibri" pitchFamily="34" charset="-122"/>
                <a:cs typeface="Calibri" pitchFamily="34" charset="-120"/>
              </a:rPr>
              <a:t>Figure 12 — Same query in the Azure portal Logs blade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0E11"/>
        </a:solidFill>
      </p:bgPr>
    </p:bg>
    <p:spTree>
      <p:nvGrpSpPr>
        <p:cNvPr id="1" name=""/>
        <p:cNvGrpSpPr/>
        <p:nvPr/>
      </p:nvGrpSpPr>
      <p:grpSpPr>
        <a:xfrm>
          <a:off x="0" y="0"/>
          <a:ext cx="0" cy="0"/>
          <a:chOff x="0" y="0"/>
          <a:chExt cx="0" cy="0"/>
        </a:xfrm>
      </p:grpSpPr>
      <p:sp>
        <p:nvSpPr>
          <p:cNvPr id="2" name="Text 0"/>
          <p:cNvSpPr txBox="1"/>
          <p:nvPr/>
        </p:nvSpPr>
        <p:spPr>
          <a:xfrm>
            <a:off x="566928" y="384048"/>
            <a:ext cx="8229600" cy="237744"/>
          </a:xfrm>
          <a:prstGeom prst="rect">
            <a:avLst/>
          </a:prstGeom>
          <a:noFill/>
          <a:ln/>
        </p:spPr>
        <p:txBody>
          <a:bodyPr wrap="square" lIns="0" tIns="0" rIns="0" bIns="0" rtlCol="0" anchor="ctr"/>
          <a:lstStyle/>
          <a:p>
            <a:pPr indent="0" marL="0">
              <a:buNone/>
            </a:pPr>
            <a:r>
              <a:rPr lang="en-US" sz="1050" b="1" spc="220" kern="0" dirty="0">
                <a:solidFill>
                  <a:srgbClr val="F97316"/>
                </a:solidFill>
                <a:latin typeface="Calibri" pitchFamily="34" charset="0"/>
                <a:ea typeface="Calibri" pitchFamily="34" charset="-122"/>
                <a:cs typeface="Calibri" pitchFamily="34" charset="-120"/>
              </a:rPr>
              <a:t>DETECTION</a:t>
            </a:r>
            <a:endParaRPr lang="en-US" sz="1050" dirty="0"/>
          </a:p>
        </p:txBody>
      </p:sp>
      <p:sp>
        <p:nvSpPr>
          <p:cNvPr id="3" name="Text 1"/>
          <p:cNvSpPr txBox="1"/>
          <p:nvPr/>
        </p:nvSpPr>
        <p:spPr>
          <a:xfrm>
            <a:off x="566928" y="658368"/>
            <a:ext cx="10607040"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What the captured logs reveal</a:t>
            </a:r>
            <a:endParaRPr lang="en-US" sz="3100" dirty="0"/>
          </a:p>
        </p:txBody>
      </p:sp>
      <p:sp>
        <p:nvSpPr>
          <p:cNvPr id="4" name="Text 2"/>
          <p:cNvSpPr txBox="1"/>
          <p:nvPr/>
        </p:nvSpPr>
        <p:spPr>
          <a:xfrm>
            <a:off x="11076127" y="6355080"/>
            <a:ext cx="548640" cy="274320"/>
          </a:xfrm>
          <a:prstGeom prst="rect">
            <a:avLst/>
          </a:prstGeom>
          <a:noFill/>
          <a:ln/>
        </p:spPr>
        <p:txBody>
          <a:bodyPr wrap="square" lIns="0" tIns="0" rIns="0" bIns="0" rtlCol="0" anchor="ctr"/>
          <a:lstStyle/>
          <a:p>
            <a:pPr algn="r" indent="0" marL="0">
              <a:buNone/>
            </a:pPr>
            <a:r>
              <a:rPr lang="en-US" sz="1000" dirty="0">
                <a:solidFill>
                  <a:srgbClr val="8D919C"/>
                </a:solidFill>
                <a:latin typeface="Calibri" pitchFamily="34" charset="0"/>
                <a:ea typeface="Calibri" pitchFamily="34" charset="-122"/>
                <a:cs typeface="Calibri" pitchFamily="34" charset="-120"/>
              </a:rPr>
              <a:t>24</a:t>
            </a:r>
            <a:endParaRPr lang="en-US" sz="1000" dirty="0"/>
          </a:p>
        </p:txBody>
      </p:sp>
      <p:sp>
        <p:nvSpPr>
          <p:cNvPr id="5" name="Text 3"/>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8D919C"/>
                </a:solidFill>
                <a:latin typeface="Calibri" pitchFamily="34" charset="0"/>
                <a:ea typeface="Calibri" pitchFamily="34" charset="-122"/>
                <a:cs typeface="Calibri" pitchFamily="34" charset="-120"/>
              </a:rPr>
              <a:t>Azure Security &amp; SIEM Deployment</a:t>
            </a:r>
            <a:endParaRPr lang="en-US" sz="950" dirty="0"/>
          </a:p>
        </p:txBody>
      </p:sp>
      <p:sp>
        <p:nvSpPr>
          <p:cNvPr id="6" name="Shape 4"/>
          <p:cNvSpPr/>
          <p:nvPr/>
        </p:nvSpPr>
        <p:spPr>
          <a:xfrm>
            <a:off x="566928" y="1517904"/>
            <a:ext cx="5394960" cy="1572768"/>
          </a:xfrm>
          <a:prstGeom prst="roundRect">
            <a:avLst>
              <a:gd name="adj" fmla="val 581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7" name="Shape 5"/>
          <p:cNvSpPr/>
          <p:nvPr/>
        </p:nvSpPr>
        <p:spPr>
          <a:xfrm>
            <a:off x="859536" y="1792224"/>
            <a:ext cx="530352" cy="530352"/>
          </a:xfrm>
          <a:prstGeom prst="ellipse">
            <a:avLst/>
          </a:prstGeom>
          <a:solidFill>
            <a:srgbClr val="F97316"/>
          </a:solidFill>
          <a:ln w="12700">
            <a:solidFill>
              <a:srgbClr val="F97316"/>
            </a:solidFill>
            <a:prstDash val="solid"/>
          </a:ln>
        </p:spPr>
      </p:sp>
      <p:pic>
        <p:nvPicPr>
          <p:cNvPr id="8" name="Image 0" descr="icons/alert-w.png">    </p:cNvPr>
          <p:cNvPicPr>
            <a:picLocks noChangeAspect="1"/>
          </p:cNvPicPr>
          <p:nvPr/>
        </p:nvPicPr>
        <p:blipFill>
          <a:blip r:embed="rId1"/>
          <a:stretch>
            <a:fillRect/>
          </a:stretch>
        </p:blipFill>
        <p:spPr>
          <a:xfrm>
            <a:off x="989472" y="1922160"/>
            <a:ext cx="270480" cy="270480"/>
          </a:xfrm>
          <a:prstGeom prst="rect">
            <a:avLst/>
          </a:prstGeom>
        </p:spPr>
      </p:pic>
      <p:sp>
        <p:nvSpPr>
          <p:cNvPr id="9" name="Text 6"/>
          <p:cNvSpPr txBox="1"/>
          <p:nvPr/>
        </p:nvSpPr>
        <p:spPr>
          <a:xfrm>
            <a:off x="1536192" y="1773936"/>
            <a:ext cx="4114800" cy="54864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Repeated authentication failures</a:t>
            </a:r>
            <a:endParaRPr lang="en-US" sz="1350" dirty="0"/>
          </a:p>
        </p:txBody>
      </p:sp>
      <p:sp>
        <p:nvSpPr>
          <p:cNvPr id="10" name="Text 7"/>
          <p:cNvSpPr txBox="1"/>
          <p:nvPr/>
        </p:nvSpPr>
        <p:spPr>
          <a:xfrm>
            <a:off x="877824" y="2414016"/>
            <a:ext cx="4773168" cy="640080"/>
          </a:xfrm>
          <a:prstGeom prst="rect">
            <a:avLst/>
          </a:prstGeom>
          <a:noFill/>
          <a:ln/>
        </p:spPr>
        <p:txBody>
          <a:bodyPr wrap="square" lIns="0" tIns="0" rIns="0" bIns="0" rtlCol="0" anchor="t"/>
          <a:lstStyle/>
          <a:p>
            <a:pPr algn="l" indent="0" marL="0">
              <a:lnSpc>
                <a:spcPts val="1500"/>
              </a:lnSpc>
              <a:buNone/>
            </a:pPr>
            <a:r>
              <a:rPr lang="en-US" sz="1100" dirty="0">
                <a:solidFill>
                  <a:srgbClr val="AFB4BF"/>
                </a:solidFill>
                <a:latin typeface="Calibri" pitchFamily="34" charset="0"/>
                <a:ea typeface="Calibri" pitchFamily="34" charset="-122"/>
                <a:cs typeface="Calibri" pitchFamily="34" charset="-120"/>
              </a:rPr>
              <a:t>Hundreds of failed-password and invalid-user events for root and ubuntu accounts — the classic brute-force fingerprint.</a:t>
            </a:r>
            <a:endParaRPr lang="en-US" sz="1100" dirty="0"/>
          </a:p>
        </p:txBody>
      </p:sp>
      <p:sp>
        <p:nvSpPr>
          <p:cNvPr id="11" name="Shape 8"/>
          <p:cNvSpPr/>
          <p:nvPr/>
        </p:nvSpPr>
        <p:spPr>
          <a:xfrm>
            <a:off x="6227064" y="1517904"/>
            <a:ext cx="5394960" cy="1572768"/>
          </a:xfrm>
          <a:prstGeom prst="roundRect">
            <a:avLst>
              <a:gd name="adj" fmla="val 581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2" name="Shape 9"/>
          <p:cNvSpPr/>
          <p:nvPr/>
        </p:nvSpPr>
        <p:spPr>
          <a:xfrm>
            <a:off x="6519672" y="1792224"/>
            <a:ext cx="530352" cy="530352"/>
          </a:xfrm>
          <a:prstGeom prst="ellipse">
            <a:avLst/>
          </a:prstGeom>
          <a:solidFill>
            <a:srgbClr val="7A3B0B"/>
          </a:solidFill>
          <a:ln w="12700">
            <a:solidFill>
              <a:srgbClr val="7A3B0B"/>
            </a:solidFill>
            <a:prstDash val="solid"/>
          </a:ln>
        </p:spPr>
      </p:sp>
      <p:pic>
        <p:nvPicPr>
          <p:cNvPr id="13" name="Image 1" descr="icons/globe-w.png">    </p:cNvPr>
          <p:cNvPicPr>
            <a:picLocks noChangeAspect="1"/>
          </p:cNvPicPr>
          <p:nvPr/>
        </p:nvPicPr>
        <p:blipFill>
          <a:blip r:embed="rId2"/>
          <a:stretch>
            <a:fillRect/>
          </a:stretch>
        </p:blipFill>
        <p:spPr>
          <a:xfrm>
            <a:off x="6649608" y="1922160"/>
            <a:ext cx="270480" cy="270480"/>
          </a:xfrm>
          <a:prstGeom prst="rect">
            <a:avLst/>
          </a:prstGeom>
        </p:spPr>
      </p:pic>
      <p:sp>
        <p:nvSpPr>
          <p:cNvPr id="14" name="Text 10"/>
          <p:cNvSpPr txBox="1"/>
          <p:nvPr/>
        </p:nvSpPr>
        <p:spPr>
          <a:xfrm>
            <a:off x="7196328" y="1773936"/>
            <a:ext cx="4114800" cy="54864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External source addresses</a:t>
            </a:r>
            <a:endParaRPr lang="en-US" sz="1350" dirty="0"/>
          </a:p>
        </p:txBody>
      </p:sp>
      <p:sp>
        <p:nvSpPr>
          <p:cNvPr id="15" name="Text 11"/>
          <p:cNvSpPr txBox="1"/>
          <p:nvPr/>
        </p:nvSpPr>
        <p:spPr>
          <a:xfrm>
            <a:off x="6537960" y="2414016"/>
            <a:ext cx="4773168" cy="640080"/>
          </a:xfrm>
          <a:prstGeom prst="rect">
            <a:avLst/>
          </a:prstGeom>
          <a:noFill/>
          <a:ln/>
        </p:spPr>
        <p:txBody>
          <a:bodyPr wrap="square" lIns="0" tIns="0" rIns="0" bIns="0" rtlCol="0" anchor="t"/>
          <a:lstStyle/>
          <a:p>
            <a:pPr algn="l" indent="0" marL="0">
              <a:lnSpc>
                <a:spcPts val="1500"/>
              </a:lnSpc>
              <a:buNone/>
            </a:pPr>
            <a:r>
              <a:rPr lang="en-US" sz="1100" dirty="0">
                <a:solidFill>
                  <a:srgbClr val="AFB4BF"/>
                </a:solidFill>
                <a:latin typeface="Calibri" pitchFamily="34" charset="0"/>
                <a:ea typeface="Calibri" pitchFamily="34" charset="-122"/>
                <a:cs typeface="Calibri" pitchFamily="34" charset="-120"/>
              </a:rPr>
              <a:t>Attempts arrive from public IPs such as 209.99.188.170 and 62.60.130.242, flagging internet-facing exposure.</a:t>
            </a:r>
            <a:endParaRPr lang="en-US" sz="1100" dirty="0"/>
          </a:p>
        </p:txBody>
      </p:sp>
      <p:sp>
        <p:nvSpPr>
          <p:cNvPr id="16" name="Shape 12"/>
          <p:cNvSpPr/>
          <p:nvPr/>
        </p:nvSpPr>
        <p:spPr>
          <a:xfrm>
            <a:off x="566928" y="3328416"/>
            <a:ext cx="5394960" cy="1572768"/>
          </a:xfrm>
          <a:prstGeom prst="roundRect">
            <a:avLst>
              <a:gd name="adj" fmla="val 581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17" name="Shape 13"/>
          <p:cNvSpPr/>
          <p:nvPr/>
        </p:nvSpPr>
        <p:spPr>
          <a:xfrm>
            <a:off x="859536" y="3602736"/>
            <a:ext cx="530352" cy="530352"/>
          </a:xfrm>
          <a:prstGeom prst="ellipse">
            <a:avLst/>
          </a:prstGeom>
          <a:solidFill>
            <a:srgbClr val="F97316"/>
          </a:solidFill>
          <a:ln w="12700">
            <a:solidFill>
              <a:srgbClr val="F97316"/>
            </a:solidFill>
            <a:prstDash val="solid"/>
          </a:ln>
        </p:spPr>
      </p:sp>
      <p:pic>
        <p:nvPicPr>
          <p:cNvPr id="18" name="Image 2" descr="icons/grid-w.png">    </p:cNvPr>
          <p:cNvPicPr>
            <a:picLocks noChangeAspect="1"/>
          </p:cNvPicPr>
          <p:nvPr/>
        </p:nvPicPr>
        <p:blipFill>
          <a:blip r:embed="rId3"/>
          <a:stretch>
            <a:fillRect/>
          </a:stretch>
        </p:blipFill>
        <p:spPr>
          <a:xfrm>
            <a:off x="989472" y="3732672"/>
            <a:ext cx="270480" cy="270480"/>
          </a:xfrm>
          <a:prstGeom prst="rect">
            <a:avLst/>
          </a:prstGeom>
        </p:spPr>
      </p:pic>
      <p:sp>
        <p:nvSpPr>
          <p:cNvPr id="19" name="Text 14"/>
          <p:cNvSpPr txBox="1"/>
          <p:nvPr/>
        </p:nvSpPr>
        <p:spPr>
          <a:xfrm>
            <a:off x="1536192" y="3584448"/>
            <a:ext cx="4114800" cy="54864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Rich per-event context</a:t>
            </a:r>
            <a:endParaRPr lang="en-US" sz="1350" dirty="0"/>
          </a:p>
        </p:txBody>
      </p:sp>
      <p:sp>
        <p:nvSpPr>
          <p:cNvPr id="20" name="Text 15"/>
          <p:cNvSpPr txBox="1"/>
          <p:nvPr/>
        </p:nvSpPr>
        <p:spPr>
          <a:xfrm>
            <a:off x="877824" y="4224528"/>
            <a:ext cx="4773168" cy="640080"/>
          </a:xfrm>
          <a:prstGeom prst="rect">
            <a:avLst/>
          </a:prstGeom>
          <a:noFill/>
          <a:ln/>
        </p:spPr>
        <p:txBody>
          <a:bodyPr wrap="square" lIns="0" tIns="0" rIns="0" bIns="0" rtlCol="0" anchor="t"/>
          <a:lstStyle/>
          <a:p>
            <a:pPr algn="l" indent="0" marL="0">
              <a:lnSpc>
                <a:spcPts val="1500"/>
              </a:lnSpc>
              <a:buNone/>
            </a:pPr>
            <a:r>
              <a:rPr lang="en-US" sz="1100" dirty="0">
                <a:solidFill>
                  <a:srgbClr val="AFB4BF"/>
                </a:solidFill>
                <a:latin typeface="Calibri" pitchFamily="34" charset="0"/>
                <a:ea typeface="Calibri" pitchFamily="34" charset="-122"/>
                <a:cs typeface="Calibri" pitchFamily="34" charset="-120"/>
              </a:rPr>
              <a:t>Projecting ProcessID, ProcessName, HostIP and Computer ties every event to sshd on TargetUbuntuVM at 172.16.0.4.</a:t>
            </a:r>
            <a:endParaRPr lang="en-US" sz="1100" dirty="0"/>
          </a:p>
        </p:txBody>
      </p:sp>
      <p:sp>
        <p:nvSpPr>
          <p:cNvPr id="21" name="Shape 16"/>
          <p:cNvSpPr/>
          <p:nvPr/>
        </p:nvSpPr>
        <p:spPr>
          <a:xfrm>
            <a:off x="6227064" y="3328416"/>
            <a:ext cx="5394960" cy="1572768"/>
          </a:xfrm>
          <a:prstGeom prst="roundRect">
            <a:avLst>
              <a:gd name="adj" fmla="val 5814"/>
            </a:avLst>
          </a:prstGeom>
          <a:solidFill>
            <a:srgbClr val="17191F"/>
          </a:solidFill>
          <a:ln w="9525">
            <a:solidFill>
              <a:srgbClr val="2E323B"/>
            </a:solidFill>
            <a:prstDash val="solid"/>
          </a:ln>
          <a:effectLst>
            <a:outerShdw sx="100000" sy="100000" kx="0" ky="0" algn="bl" rotWithShape="0" blurRad="177800" dist="38100" dir="5400000">
              <a:srgbClr val="000000">
                <a:alpha val="27000"/>
              </a:srgbClr>
            </a:outerShdw>
          </a:effectLst>
        </p:spPr>
      </p:sp>
      <p:sp>
        <p:nvSpPr>
          <p:cNvPr id="22" name="Shape 17"/>
          <p:cNvSpPr/>
          <p:nvPr/>
        </p:nvSpPr>
        <p:spPr>
          <a:xfrm>
            <a:off x="6519672" y="3602736"/>
            <a:ext cx="530352" cy="530352"/>
          </a:xfrm>
          <a:prstGeom prst="ellipse">
            <a:avLst/>
          </a:prstGeom>
          <a:solidFill>
            <a:srgbClr val="7A3B0B"/>
          </a:solidFill>
          <a:ln w="12700">
            <a:solidFill>
              <a:srgbClr val="7A3B0B"/>
            </a:solidFill>
            <a:prstDash val="solid"/>
          </a:ln>
        </p:spPr>
      </p:sp>
      <p:pic>
        <p:nvPicPr>
          <p:cNvPr id="23" name="Image 3" descr="icons/eye-w.png">    </p:cNvPr>
          <p:cNvPicPr>
            <a:picLocks noChangeAspect="1"/>
          </p:cNvPicPr>
          <p:nvPr/>
        </p:nvPicPr>
        <p:blipFill>
          <a:blip r:embed="rId4"/>
          <a:stretch>
            <a:fillRect/>
          </a:stretch>
        </p:blipFill>
        <p:spPr>
          <a:xfrm>
            <a:off x="6649608" y="3732672"/>
            <a:ext cx="270480" cy="270480"/>
          </a:xfrm>
          <a:prstGeom prst="rect">
            <a:avLst/>
          </a:prstGeom>
        </p:spPr>
      </p:pic>
      <p:sp>
        <p:nvSpPr>
          <p:cNvPr id="24" name="Text 18"/>
          <p:cNvSpPr txBox="1"/>
          <p:nvPr/>
        </p:nvSpPr>
        <p:spPr>
          <a:xfrm>
            <a:off x="7196328" y="3584448"/>
            <a:ext cx="4114800" cy="54864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Both portals agree</a:t>
            </a:r>
            <a:endParaRPr lang="en-US" sz="1350" dirty="0"/>
          </a:p>
        </p:txBody>
      </p:sp>
      <p:sp>
        <p:nvSpPr>
          <p:cNvPr id="25" name="Text 19"/>
          <p:cNvSpPr txBox="1"/>
          <p:nvPr/>
        </p:nvSpPr>
        <p:spPr>
          <a:xfrm>
            <a:off x="6537960" y="4224528"/>
            <a:ext cx="4773168" cy="640080"/>
          </a:xfrm>
          <a:prstGeom prst="rect">
            <a:avLst/>
          </a:prstGeom>
          <a:noFill/>
          <a:ln/>
        </p:spPr>
        <p:txBody>
          <a:bodyPr wrap="square" lIns="0" tIns="0" rIns="0" bIns="0" rtlCol="0" anchor="t"/>
          <a:lstStyle/>
          <a:p>
            <a:pPr algn="l" indent="0" marL="0">
              <a:lnSpc>
                <a:spcPts val="1500"/>
              </a:lnSpc>
              <a:buNone/>
            </a:pPr>
            <a:r>
              <a:rPr lang="en-US" sz="1100" dirty="0">
                <a:solidFill>
                  <a:srgbClr val="AFB4BF"/>
                </a:solidFill>
                <a:latin typeface="Calibri" pitchFamily="34" charset="0"/>
                <a:ea typeface="Calibri" pitchFamily="34" charset="-122"/>
                <a:cs typeface="Calibri" pitchFamily="34" charset="-120"/>
              </a:rPr>
              <a:t>Advanced hunting and the legacy Logs blade return the same 900-plus events, confirming the pipeline is consistent.</a:t>
            </a:r>
            <a:endParaRPr lang="en-US" sz="1100" dirty="0"/>
          </a:p>
        </p:txBody>
      </p:sp>
      <p:sp>
        <p:nvSpPr>
          <p:cNvPr id="26" name="Shape 20"/>
          <p:cNvSpPr/>
          <p:nvPr/>
        </p:nvSpPr>
        <p:spPr>
          <a:xfrm>
            <a:off x="566928" y="5138928"/>
            <a:ext cx="11055096" cy="877824"/>
          </a:xfrm>
          <a:prstGeom prst="roundRect">
            <a:avLst>
              <a:gd name="adj" fmla="val 10417"/>
            </a:avLst>
          </a:prstGeom>
          <a:solidFill>
            <a:srgbClr val="1E2129"/>
          </a:solidFill>
          <a:ln w="9525">
            <a:solidFill>
              <a:srgbClr val="2E323B"/>
            </a:solidFill>
            <a:prstDash val="solid"/>
          </a:ln>
        </p:spPr>
      </p:sp>
      <p:pic>
        <p:nvPicPr>
          <p:cNvPr id="27" name="Image 4" descr="icons/zap-o.png">    </p:cNvPr>
          <p:cNvPicPr>
            <a:picLocks noChangeAspect="1"/>
          </p:cNvPicPr>
          <p:nvPr/>
        </p:nvPicPr>
        <p:blipFill>
          <a:blip r:embed="rId5"/>
          <a:stretch>
            <a:fillRect/>
          </a:stretch>
        </p:blipFill>
        <p:spPr>
          <a:xfrm>
            <a:off x="859536" y="5449824"/>
            <a:ext cx="256032" cy="256032"/>
          </a:xfrm>
          <a:prstGeom prst="rect">
            <a:avLst/>
          </a:prstGeom>
        </p:spPr>
      </p:pic>
      <p:sp>
        <p:nvSpPr>
          <p:cNvPr id="28" name="Text 21"/>
          <p:cNvSpPr txBox="1"/>
          <p:nvPr/>
        </p:nvSpPr>
        <p:spPr>
          <a:xfrm>
            <a:off x="1261872" y="5138928"/>
            <a:ext cx="10058400" cy="877824"/>
          </a:xfrm>
          <a:prstGeom prst="rect">
            <a:avLst/>
          </a:prstGeom>
          <a:noFill/>
          <a:ln/>
        </p:spPr>
        <p:txBody>
          <a:bodyPr wrap="square" lIns="0" tIns="0" rIns="0" bIns="0" rtlCol="0" anchor="ctr"/>
          <a:lstStyle/>
          <a:p>
            <a:pPr indent="0" marL="0">
              <a:lnSpc>
                <a:spcPts val="1600"/>
              </a:lnSpc>
              <a:buNone/>
            </a:pPr>
            <a:r>
              <a:rPr lang="en-US" sz="1200" dirty="0">
                <a:solidFill>
                  <a:srgbClr val="C6CAD3"/>
                </a:solidFill>
                <a:latin typeface="Calibri" pitchFamily="34" charset="0"/>
                <a:ea typeface="Calibri" pitchFamily="34" charset="-122"/>
                <a:cs typeface="Calibri" pitchFamily="34" charset="-120"/>
              </a:rPr>
              <a:t>Natural next step: promote this query into a scheduled analytics rule so Sentinel raises an incident automatically the next time this pattern appears — moving from manual hunt to real-time detection.</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8090B"/>
        </a:solidFill>
      </p:bgPr>
    </p:bg>
    <p:spTree>
      <p:nvGrpSpPr>
        <p:cNvPr id="1" name=""/>
        <p:cNvGrpSpPr/>
        <p:nvPr/>
      </p:nvGrpSpPr>
      <p:grpSpPr>
        <a:xfrm>
          <a:off x="0" y="0"/>
          <a:ext cx="0" cy="0"/>
          <a:chOff x="0" y="0"/>
          <a:chExt cx="0" cy="0"/>
        </a:xfrm>
      </p:grpSpPr>
      <p:sp>
        <p:nvSpPr>
          <p:cNvPr id="2" name="Shape 0"/>
          <p:cNvSpPr/>
          <p:nvPr/>
        </p:nvSpPr>
        <p:spPr>
          <a:xfrm>
            <a:off x="-1280160" y="914400"/>
            <a:ext cx="5120640" cy="5120640"/>
          </a:xfrm>
          <a:prstGeom prst="ellipse">
            <a:avLst/>
          </a:prstGeom>
          <a:solidFill>
            <a:srgbClr val="16181E">
              <a:alpha val="70000"/>
            </a:srgbClr>
          </a:solidFill>
          <a:ln w="9525">
            <a:solidFill>
              <a:srgbClr val="FFB454">
                <a:alpha val="35000"/>
              </a:srgbClr>
            </a:solidFill>
            <a:prstDash val="solid"/>
          </a:ln>
        </p:spPr>
      </p:sp>
      <p:sp>
        <p:nvSpPr>
          <p:cNvPr id="3" name="Shape 1"/>
          <p:cNvSpPr/>
          <p:nvPr/>
        </p:nvSpPr>
        <p:spPr>
          <a:xfrm>
            <a:off x="-640080" y="1554480"/>
            <a:ext cx="3840480" cy="3840480"/>
          </a:xfrm>
          <a:prstGeom prst="ellipse">
            <a:avLst/>
          </a:prstGeom>
          <a:solidFill>
            <a:srgbClr val="16181E">
              <a:alpha val="70000"/>
            </a:srgbClr>
          </a:solidFill>
          <a:ln w="9525">
            <a:solidFill>
              <a:srgbClr val="FFB454">
                <a:alpha val="35000"/>
              </a:srgbClr>
            </a:solidFill>
            <a:prstDash val="solid"/>
          </a:ln>
        </p:spPr>
      </p:sp>
      <p:sp>
        <p:nvSpPr>
          <p:cNvPr id="4" name="Shape 2"/>
          <p:cNvSpPr/>
          <p:nvPr/>
        </p:nvSpPr>
        <p:spPr>
          <a:xfrm>
            <a:off x="0" y="2194560"/>
            <a:ext cx="2560320" cy="2560320"/>
          </a:xfrm>
          <a:prstGeom prst="ellipse">
            <a:avLst/>
          </a:prstGeom>
          <a:solidFill>
            <a:srgbClr val="F97316">
              <a:alpha val="75000"/>
            </a:srgbClr>
          </a:solidFill>
          <a:ln w="9525">
            <a:solidFill>
              <a:srgbClr val="FFB454">
                <a:alpha val="35000"/>
              </a:srgbClr>
            </a:solidFill>
            <a:prstDash val="solid"/>
          </a:ln>
        </p:spPr>
      </p:sp>
      <p:sp>
        <p:nvSpPr>
          <p:cNvPr id="5" name="Text 3"/>
          <p:cNvSpPr txBox="1"/>
          <p:nvPr/>
        </p:nvSpPr>
        <p:spPr>
          <a:xfrm>
            <a:off x="3108960" y="1298448"/>
            <a:ext cx="5486400" cy="274320"/>
          </a:xfrm>
          <a:prstGeom prst="rect">
            <a:avLst/>
          </a:prstGeom>
          <a:noFill/>
          <a:ln/>
        </p:spPr>
        <p:txBody>
          <a:bodyPr wrap="square" lIns="0" tIns="0" rIns="0" bIns="0" rtlCol="0" anchor="ctr"/>
          <a:lstStyle/>
          <a:p>
            <a:pPr indent="0" marL="0">
              <a:buNone/>
            </a:pPr>
            <a:r>
              <a:rPr lang="en-US" sz="1150" b="1" spc="260" kern="0" dirty="0">
                <a:solidFill>
                  <a:srgbClr val="FFA94D"/>
                </a:solidFill>
                <a:latin typeface="Calibri" pitchFamily="34" charset="0"/>
                <a:ea typeface="Calibri" pitchFamily="34" charset="-122"/>
                <a:cs typeface="Calibri" pitchFamily="34" charset="-120"/>
              </a:rPr>
              <a:t>IN SUMMARY</a:t>
            </a:r>
            <a:endParaRPr lang="en-US" sz="1150" dirty="0"/>
          </a:p>
        </p:txBody>
      </p:sp>
      <p:sp>
        <p:nvSpPr>
          <p:cNvPr id="6" name="Text 4"/>
          <p:cNvSpPr txBox="1"/>
          <p:nvPr/>
        </p:nvSpPr>
        <p:spPr>
          <a:xfrm>
            <a:off x="3072384" y="1664208"/>
            <a:ext cx="841248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 working SIEM, proven end to end</a:t>
            </a:r>
            <a:endParaRPr lang="en-US" sz="3400" dirty="0"/>
          </a:p>
        </p:txBody>
      </p:sp>
      <p:sp>
        <p:nvSpPr>
          <p:cNvPr id="7" name="Shape 5"/>
          <p:cNvSpPr/>
          <p:nvPr/>
        </p:nvSpPr>
        <p:spPr>
          <a:xfrm>
            <a:off x="3072384" y="2706624"/>
            <a:ext cx="8540496" cy="896112"/>
          </a:xfrm>
          <a:prstGeom prst="roundRect">
            <a:avLst>
              <a:gd name="adj" fmla="val 8163"/>
            </a:avLst>
          </a:prstGeom>
          <a:solidFill>
            <a:srgbClr val="17191F"/>
          </a:solidFill>
          <a:ln w="9525">
            <a:solidFill>
              <a:srgbClr val="343946"/>
            </a:solidFill>
            <a:prstDash val="solid"/>
          </a:ln>
        </p:spPr>
      </p:sp>
      <p:sp>
        <p:nvSpPr>
          <p:cNvPr id="8" name="Shape 6"/>
          <p:cNvSpPr/>
          <p:nvPr/>
        </p:nvSpPr>
        <p:spPr>
          <a:xfrm>
            <a:off x="3310128" y="2916936"/>
            <a:ext cx="475488" cy="475488"/>
          </a:xfrm>
          <a:prstGeom prst="ellipse">
            <a:avLst/>
          </a:prstGeom>
          <a:solidFill>
            <a:srgbClr val="F97316"/>
          </a:solidFill>
          <a:ln w="12700">
            <a:solidFill>
              <a:srgbClr val="F97316"/>
            </a:solidFill>
            <a:prstDash val="solid"/>
          </a:ln>
        </p:spPr>
      </p:sp>
      <p:pic>
        <p:nvPicPr>
          <p:cNvPr id="9" name="Image 0" descr="icons/layers-w.png">    </p:cNvPr>
          <p:cNvPicPr>
            <a:picLocks noChangeAspect="1"/>
          </p:cNvPicPr>
          <p:nvPr/>
        </p:nvPicPr>
        <p:blipFill>
          <a:blip r:embed="rId1"/>
          <a:stretch>
            <a:fillRect/>
          </a:stretch>
        </p:blipFill>
        <p:spPr>
          <a:xfrm>
            <a:off x="3426623" y="3033431"/>
            <a:ext cx="242499" cy="242499"/>
          </a:xfrm>
          <a:prstGeom prst="rect">
            <a:avLst/>
          </a:prstGeom>
        </p:spPr>
      </p:pic>
      <p:sp>
        <p:nvSpPr>
          <p:cNvPr id="10" name="Text 7"/>
          <p:cNvSpPr txBox="1"/>
          <p:nvPr/>
        </p:nvSpPr>
        <p:spPr>
          <a:xfrm>
            <a:off x="3931920" y="2852928"/>
            <a:ext cx="2468880" cy="274320"/>
          </a:xfrm>
          <a:prstGeom prst="rect">
            <a:avLst/>
          </a:prstGeom>
          <a:noFill/>
          <a:ln/>
        </p:spPr>
        <p:txBody>
          <a:bodyPr wrap="square" lIns="0" tIns="0" rIns="0" bIns="0" rtlCol="0" anchor="ctr"/>
          <a:lstStyle/>
          <a:p>
            <a:pPr indent="0" marL="0">
              <a:buNone/>
            </a:pPr>
            <a:r>
              <a:rPr lang="en-US" sz="1300" b="1" dirty="0">
                <a:solidFill>
                  <a:srgbClr val="FFA94D"/>
                </a:solidFill>
                <a:latin typeface="Calibri" pitchFamily="34" charset="0"/>
                <a:ea typeface="Calibri" pitchFamily="34" charset="-122"/>
                <a:cs typeface="Calibri" pitchFamily="34" charset="-120"/>
              </a:rPr>
              <a:t>Foundation first</a:t>
            </a:r>
            <a:endParaRPr lang="en-US" sz="1300" dirty="0"/>
          </a:p>
        </p:txBody>
      </p:sp>
      <p:sp>
        <p:nvSpPr>
          <p:cNvPr id="11" name="Text 8"/>
          <p:cNvSpPr txBox="1"/>
          <p:nvPr/>
        </p:nvSpPr>
        <p:spPr>
          <a:xfrm>
            <a:off x="3931920" y="3127248"/>
            <a:ext cx="7406640" cy="384048"/>
          </a:xfrm>
          <a:prstGeom prst="rect">
            <a:avLst/>
          </a:prstGeom>
          <a:noFill/>
          <a:ln/>
        </p:spPr>
        <p:txBody>
          <a:bodyPr wrap="square" lIns="0" tIns="0" rIns="0" bIns="0" rtlCol="0" anchor="ctr"/>
          <a:lstStyle/>
          <a:p>
            <a:pPr indent="0" marL="0">
              <a:lnSpc>
                <a:spcPts val="1500"/>
              </a:lnSpc>
              <a:buNone/>
            </a:pPr>
            <a:r>
              <a:rPr lang="en-US" sz="1150" dirty="0">
                <a:solidFill>
                  <a:srgbClr val="D2D5DD"/>
                </a:solidFill>
                <a:latin typeface="Calibri" pitchFamily="34" charset="0"/>
                <a:ea typeface="Calibri" pitchFamily="34" charset="-122"/>
                <a:cs typeface="Calibri" pitchFamily="34" charset="-120"/>
              </a:rPr>
              <a:t>One resource group, one workspace, Sentinel enabled on top — simple to govern and simple to tear down.</a:t>
            </a:r>
            <a:endParaRPr lang="en-US" sz="1150" dirty="0"/>
          </a:p>
        </p:txBody>
      </p:sp>
      <p:sp>
        <p:nvSpPr>
          <p:cNvPr id="12" name="Shape 9"/>
          <p:cNvSpPr/>
          <p:nvPr/>
        </p:nvSpPr>
        <p:spPr>
          <a:xfrm>
            <a:off x="3072384" y="3730752"/>
            <a:ext cx="8540496" cy="896112"/>
          </a:xfrm>
          <a:prstGeom prst="roundRect">
            <a:avLst>
              <a:gd name="adj" fmla="val 8163"/>
            </a:avLst>
          </a:prstGeom>
          <a:solidFill>
            <a:srgbClr val="17191F"/>
          </a:solidFill>
          <a:ln w="9525">
            <a:solidFill>
              <a:srgbClr val="343946"/>
            </a:solidFill>
            <a:prstDash val="solid"/>
          </a:ln>
        </p:spPr>
      </p:sp>
      <p:sp>
        <p:nvSpPr>
          <p:cNvPr id="13" name="Shape 10"/>
          <p:cNvSpPr/>
          <p:nvPr/>
        </p:nvSpPr>
        <p:spPr>
          <a:xfrm>
            <a:off x="3310128" y="3941064"/>
            <a:ext cx="475488" cy="475488"/>
          </a:xfrm>
          <a:prstGeom prst="ellipse">
            <a:avLst/>
          </a:prstGeom>
          <a:solidFill>
            <a:srgbClr val="F97316"/>
          </a:solidFill>
          <a:ln w="12700">
            <a:solidFill>
              <a:srgbClr val="F97316"/>
            </a:solidFill>
            <a:prstDash val="solid"/>
          </a:ln>
        </p:spPr>
      </p:sp>
      <p:pic>
        <p:nvPicPr>
          <p:cNvPr id="14" name="Image 1" descr="icons/link-w.png">    </p:cNvPr>
          <p:cNvPicPr>
            <a:picLocks noChangeAspect="1"/>
          </p:cNvPicPr>
          <p:nvPr/>
        </p:nvPicPr>
        <p:blipFill>
          <a:blip r:embed="rId2"/>
          <a:stretch>
            <a:fillRect/>
          </a:stretch>
        </p:blipFill>
        <p:spPr>
          <a:xfrm>
            <a:off x="3426623" y="4057559"/>
            <a:ext cx="242499" cy="242499"/>
          </a:xfrm>
          <a:prstGeom prst="rect">
            <a:avLst/>
          </a:prstGeom>
        </p:spPr>
      </p:pic>
      <p:sp>
        <p:nvSpPr>
          <p:cNvPr id="15" name="Text 11"/>
          <p:cNvSpPr txBox="1"/>
          <p:nvPr/>
        </p:nvSpPr>
        <p:spPr>
          <a:xfrm>
            <a:off x="3931920" y="3877056"/>
            <a:ext cx="2468880" cy="274320"/>
          </a:xfrm>
          <a:prstGeom prst="rect">
            <a:avLst/>
          </a:prstGeom>
          <a:noFill/>
          <a:ln/>
        </p:spPr>
        <p:txBody>
          <a:bodyPr wrap="square" lIns="0" tIns="0" rIns="0" bIns="0" rtlCol="0" anchor="ctr"/>
          <a:lstStyle/>
          <a:p>
            <a:pPr indent="0" marL="0">
              <a:buNone/>
            </a:pPr>
            <a:r>
              <a:rPr lang="en-US" sz="1300" b="1" dirty="0">
                <a:solidFill>
                  <a:srgbClr val="FFA94D"/>
                </a:solidFill>
                <a:latin typeface="Calibri" pitchFamily="34" charset="0"/>
                <a:ea typeface="Calibri" pitchFamily="34" charset="-122"/>
                <a:cs typeface="Calibri" pitchFamily="34" charset="-120"/>
              </a:rPr>
              <a:t>Collection by design</a:t>
            </a:r>
            <a:endParaRPr lang="en-US" sz="1300" dirty="0"/>
          </a:p>
        </p:txBody>
      </p:sp>
      <p:sp>
        <p:nvSpPr>
          <p:cNvPr id="16" name="Text 12"/>
          <p:cNvSpPr txBox="1"/>
          <p:nvPr/>
        </p:nvSpPr>
        <p:spPr>
          <a:xfrm>
            <a:off x="3931920" y="4151376"/>
            <a:ext cx="7406640" cy="384048"/>
          </a:xfrm>
          <a:prstGeom prst="rect">
            <a:avLst/>
          </a:prstGeom>
          <a:noFill/>
          <a:ln/>
        </p:spPr>
        <p:txBody>
          <a:bodyPr wrap="square" lIns="0" tIns="0" rIns="0" bIns="0" rtlCol="0" anchor="ctr"/>
          <a:lstStyle/>
          <a:p>
            <a:pPr indent="0" marL="0">
              <a:lnSpc>
                <a:spcPts val="1500"/>
              </a:lnSpc>
              <a:buNone/>
            </a:pPr>
            <a:r>
              <a:rPr lang="en-US" sz="1150" dirty="0">
                <a:solidFill>
                  <a:srgbClr val="D2D5DD"/>
                </a:solidFill>
                <a:latin typeface="Calibri" pitchFamily="34" charset="0"/>
                <a:ea typeface="Calibri" pitchFamily="34" charset="-122"/>
                <a:cs typeface="Calibri" pitchFamily="34" charset="-120"/>
              </a:rPr>
              <a:t>The Azure Monitor Agent plus targeted Data Collection Rules put deliberate limits on what is ingested.</a:t>
            </a:r>
            <a:endParaRPr lang="en-US" sz="1150" dirty="0"/>
          </a:p>
        </p:txBody>
      </p:sp>
      <p:sp>
        <p:nvSpPr>
          <p:cNvPr id="17" name="Shape 13"/>
          <p:cNvSpPr/>
          <p:nvPr/>
        </p:nvSpPr>
        <p:spPr>
          <a:xfrm>
            <a:off x="3072384" y="4754880"/>
            <a:ext cx="8540496" cy="896112"/>
          </a:xfrm>
          <a:prstGeom prst="roundRect">
            <a:avLst>
              <a:gd name="adj" fmla="val 8163"/>
            </a:avLst>
          </a:prstGeom>
          <a:solidFill>
            <a:srgbClr val="17191F"/>
          </a:solidFill>
          <a:ln w="9525">
            <a:solidFill>
              <a:srgbClr val="343946"/>
            </a:solidFill>
            <a:prstDash val="solid"/>
          </a:ln>
        </p:spPr>
      </p:sp>
      <p:sp>
        <p:nvSpPr>
          <p:cNvPr id="18" name="Shape 14"/>
          <p:cNvSpPr/>
          <p:nvPr/>
        </p:nvSpPr>
        <p:spPr>
          <a:xfrm>
            <a:off x="3310128" y="4965192"/>
            <a:ext cx="475488" cy="475488"/>
          </a:xfrm>
          <a:prstGeom prst="ellipse">
            <a:avLst/>
          </a:prstGeom>
          <a:solidFill>
            <a:srgbClr val="F97316"/>
          </a:solidFill>
          <a:ln w="12700">
            <a:solidFill>
              <a:srgbClr val="F97316"/>
            </a:solidFill>
            <a:prstDash val="solid"/>
          </a:ln>
        </p:spPr>
      </p:sp>
      <p:pic>
        <p:nvPicPr>
          <p:cNvPr id="19" name="Image 2" descr="icons/target-w.png">    </p:cNvPr>
          <p:cNvPicPr>
            <a:picLocks noChangeAspect="1"/>
          </p:cNvPicPr>
          <p:nvPr/>
        </p:nvPicPr>
        <p:blipFill>
          <a:blip r:embed="rId3"/>
          <a:stretch>
            <a:fillRect/>
          </a:stretch>
        </p:blipFill>
        <p:spPr>
          <a:xfrm>
            <a:off x="3426623" y="5081687"/>
            <a:ext cx="242499" cy="242499"/>
          </a:xfrm>
          <a:prstGeom prst="rect">
            <a:avLst/>
          </a:prstGeom>
        </p:spPr>
      </p:pic>
      <p:sp>
        <p:nvSpPr>
          <p:cNvPr id="20" name="Text 15"/>
          <p:cNvSpPr txBox="1"/>
          <p:nvPr/>
        </p:nvSpPr>
        <p:spPr>
          <a:xfrm>
            <a:off x="3931920" y="4901184"/>
            <a:ext cx="2468880" cy="274320"/>
          </a:xfrm>
          <a:prstGeom prst="rect">
            <a:avLst/>
          </a:prstGeom>
          <a:noFill/>
          <a:ln/>
        </p:spPr>
        <p:txBody>
          <a:bodyPr wrap="square" lIns="0" tIns="0" rIns="0" bIns="0" rtlCol="0" anchor="ctr"/>
          <a:lstStyle/>
          <a:p>
            <a:pPr indent="0" marL="0">
              <a:buNone/>
            </a:pPr>
            <a:r>
              <a:rPr lang="en-US" sz="1300" b="1" dirty="0">
                <a:solidFill>
                  <a:srgbClr val="FFA94D"/>
                </a:solidFill>
                <a:latin typeface="Calibri" pitchFamily="34" charset="0"/>
                <a:ea typeface="Calibri" pitchFamily="34" charset="-122"/>
                <a:cs typeface="Calibri" pitchFamily="34" charset="-120"/>
              </a:rPr>
              <a:t>Tested against a real attack</a:t>
            </a:r>
            <a:endParaRPr lang="en-US" sz="1300" dirty="0"/>
          </a:p>
        </p:txBody>
      </p:sp>
      <p:sp>
        <p:nvSpPr>
          <p:cNvPr id="21" name="Text 16"/>
          <p:cNvSpPr txBox="1"/>
          <p:nvPr/>
        </p:nvSpPr>
        <p:spPr>
          <a:xfrm>
            <a:off x="3931920" y="5175504"/>
            <a:ext cx="7406640" cy="384048"/>
          </a:xfrm>
          <a:prstGeom prst="rect">
            <a:avLst/>
          </a:prstGeom>
          <a:noFill/>
          <a:ln/>
        </p:spPr>
        <p:txBody>
          <a:bodyPr wrap="square" lIns="0" tIns="0" rIns="0" bIns="0" rtlCol="0" anchor="ctr"/>
          <a:lstStyle/>
          <a:p>
            <a:pPr indent="0" marL="0">
              <a:lnSpc>
                <a:spcPts val="1500"/>
              </a:lnSpc>
              <a:buNone/>
            </a:pPr>
            <a:r>
              <a:rPr lang="en-US" sz="1150" dirty="0">
                <a:solidFill>
                  <a:srgbClr val="D2D5DD"/>
                </a:solidFill>
                <a:latin typeface="Calibri" pitchFamily="34" charset="0"/>
                <a:ea typeface="Calibri" pitchFamily="34" charset="-122"/>
                <a:cs typeface="Calibri" pitchFamily="34" charset="-120"/>
              </a:rPr>
              <a:t>A live Hydra brute force on a target VM was captured end to end — the pipeline detects, not just collects.</a:t>
            </a:r>
            <a:endParaRPr lang="en-US" sz="1150" dirty="0"/>
          </a:p>
        </p:txBody>
      </p:sp>
      <p:sp>
        <p:nvSpPr>
          <p:cNvPr id="22" name="Text 17"/>
          <p:cNvSpPr txBox="1"/>
          <p:nvPr/>
        </p:nvSpPr>
        <p:spPr>
          <a:xfrm>
            <a:off x="3072384" y="5907024"/>
            <a:ext cx="5486400" cy="310896"/>
          </a:xfrm>
          <a:prstGeom prst="rect">
            <a:avLst/>
          </a:prstGeom>
          <a:noFill/>
          <a:ln/>
        </p:spPr>
        <p:txBody>
          <a:bodyPr wrap="square" lIns="0" tIns="0" rIns="0" bIns="0" rtlCol="0" anchor="ctr"/>
          <a:lstStyle/>
          <a:p>
            <a:pPr indent="0" marL="0">
              <a:buNone/>
            </a:pPr>
            <a:r>
              <a:rPr lang="en-US" sz="1300" b="1" spc="120" kern="0" dirty="0">
                <a:solidFill>
                  <a:srgbClr val="7E828D"/>
                </a:solidFill>
                <a:latin typeface="Calibri" pitchFamily="34" charset="0"/>
                <a:ea typeface="Calibri" pitchFamily="34" charset="-122"/>
                <a:cs typeface="Calibri" pitchFamily="34" charset="-120"/>
              </a:rPr>
              <a:t>Thank you  ·  Questions 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Security &amp; SIEM Deployment</dc:title>
  <dc:subject>PptxGenJS Presentation</dc:subject>
  <dc:creator>SOC Analyst</dc:creator>
  <cp:lastModifiedBy>SOC Analyst</cp:lastModifiedBy>
  <cp:revision>1</cp:revision>
  <dcterms:created xsi:type="dcterms:W3CDTF">2026-09-25T12:55:32Z</dcterms:created>
  <dcterms:modified xsi:type="dcterms:W3CDTF">2026-09-25T12:55:32Z</dcterms:modified>
</cp:coreProperties>
</file>